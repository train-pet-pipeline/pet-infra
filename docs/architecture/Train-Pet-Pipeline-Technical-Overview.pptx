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00000"/>
            <a:ext cx="12192000" cy="8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0000" y="2000000"/>
            <a:ext cx="8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Helvetica"/>
              </a:rPr>
              <a:t>TECHNICAL OVERVIEW · TRAIN-PET-PIPELINE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0000" y="246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智能宠物喂食器 AI 流水线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0000" y="3550000"/>
            <a:ext cx="100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C8CCD2"/>
                </a:solidFill>
                <a:latin typeface="Helvetica"/>
              </a:rPr>
              <a:t>9-repo monorepo · VLM + Audio + On-device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0000" y="505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Menlo"/>
              </a:rPr>
              <a:t>matrix 2026.10-ecosystem-cleanup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000" y="542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787882"/>
                </a:solidFill>
                <a:latin typeface="Helvetica"/>
              </a:rPr>
              <a:t>Post-Phase-10 ecosystem optimization closeout · 2026-04-23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92000" y="800000"/>
            <a:ext cx="1400000" cy="3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92000" y="900000"/>
            <a:ext cx="700000" cy="15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0000" y="7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0000" y="1150000"/>
            <a:ext cx="10500000" cy="1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1A2A44"/>
                </a:solidFill>
                <a:latin typeface="Helvetica"/>
              </a:rPr>
              <a:t>养宠家庭最大的智能化缺口：</a:t>
            </a:r>
          </a:p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1A2A44"/>
                </a:solidFill>
                <a:latin typeface="Helvetica"/>
              </a:rPr>
              <a:t>摄像头能看见，却看不懂。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6000" y="3350000"/>
            <a:ext cx="3500000" cy="2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6000" y="3350000"/>
            <a:ext cx="3500000" cy="8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6000" y="3570000"/>
            <a:ext cx="15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E05E5E"/>
                </a:solidFill>
                <a:latin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6000" y="4210000"/>
            <a:ext cx="294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监控盲区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000" y="4710000"/>
            <a:ext cx="2940000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传统 IP cam 只记录画面；是不是在吃饭 / 有没有呕吐 /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情绪是否低落，需要主人自己看回放判断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6000" y="3350000"/>
            <a:ext cx="3500000" cy="2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6000" y="3350000"/>
            <a:ext cx="3500000" cy="8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000" y="3570000"/>
            <a:ext cx="15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EDA83E"/>
                </a:solidFill>
                <a:latin typeface="Menl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000" y="4210000"/>
            <a:ext cx="294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异常事后发现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000" y="4710000"/>
            <a:ext cx="2940000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呕吐、拒食、行为异常往往延时几小时才被察觉；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急症（异物 / 中毒 / 胰腺炎）黄金窗口错失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6000" y="3350000"/>
            <a:ext cx="3500000" cy="2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6000" y="3350000"/>
            <a:ext cx="3500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6000" y="3570000"/>
            <a:ext cx="15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367BD6"/>
                </a:solidFill>
                <a:latin typeface="Menl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6000" y="4210000"/>
            <a:ext cx="294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投喂与状态脱节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000" y="4710000"/>
            <a:ext cx="2940000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现有喂食器靠定时；宠物状态（刚吐完 / 正在吃 / 外出）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无法反馈投喂策略。IoT ≠ 智能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MARKET &amp;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市场概况 · 为什么是现在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宠物经济规模 × 端侧 AI 成熟期 = 新一代智能硬件机会窗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55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800000"/>
            <a:ext cx="110000" cy="260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0000" y="2000000"/>
            <a:ext cx="510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05E5E"/>
                </a:solidFill>
                <a:latin typeface="Helvetica"/>
              </a:rPr>
              <a:t>中国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0000" y="2520000"/>
            <a:ext cx="51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C404C"/>
                </a:solidFill>
                <a:latin typeface="Helvetica"/>
              </a:rPr>
              <a:t>千亿级别 · 宠物智能硬件年增双位数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000" y="3080000"/>
            <a:ext cx="5100000" cy="1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养宠家庭渗透率 持续上升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宠物经济年规模：千亿元量级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智能宠物家居品类：年增 20 – 30%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一线城市高端用户愿付费：健康 / 行为管理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60000" y="1800000"/>
            <a:ext cx="55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60000" y="1800000"/>
            <a:ext cx="110000" cy="26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40000" y="2000000"/>
            <a:ext cx="510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6A29C"/>
                </a:solidFill>
                <a:latin typeface="Helvetica"/>
              </a:rPr>
              <a:t>海外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0000" y="2520000"/>
            <a:ext cx="51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C404C"/>
                </a:solidFill>
                <a:latin typeface="Helvetica"/>
              </a:rPr>
              <a:t>北美/欧洲成熟市场 · AI 是下一增长轴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0000" y="3080000"/>
            <a:ext cx="5100000" cy="1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北美养宠渗透率 &gt; 60%（全球最高）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人均宠物支出数倍于亚洲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Pet tech 板块获 VC 持续加注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智能摄像头 / 猫砂盆已 commodity，AI 差异化是新维度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640000"/>
            <a:ext cx="10872000" cy="1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000" y="4780000"/>
            <a:ext cx="6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Helvetica"/>
              </a:rPr>
              <a:t>WHY NOW · 三个因素第一次合流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000" y="5160000"/>
            <a:ext cx="3397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Menlo"/>
              </a:rPr>
              <a:t>1. VLM 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" y="5470000"/>
            <a:ext cx="3397333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Qwen2-VL / LLaVA 等开源 VLM 2023-24 成熟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可在端侧量化后跑行为理解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7333" y="5160000"/>
            <a:ext cx="3397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Menlo"/>
              </a:rPr>
              <a:t>2. 端侧芯片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7333" y="5470000"/>
            <a:ext cx="3397333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RK3576 / 海思 / 高通 等 NPU 量产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4-6 TOPS 满足 VLM + 音频多模态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4666" y="5160000"/>
            <a:ext cx="3397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Menlo"/>
              </a:rPr>
              <a:t>3. 消费需求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4666" y="5470000"/>
            <a:ext cx="3397333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主人要离线 / 低延迟 / 隐私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云端方案开始被拒绝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竞品定位 · 2×2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X 轴 · AI 能力深度　|　Y 轴 · 部署位置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00000" y="1850000"/>
            <a:ext cx="7400000" cy="4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87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00000" y="1850000"/>
            <a:ext cx="3000" cy="400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00000" y="3850000"/>
            <a:ext cx="7400000" cy="3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00000" y="5990000"/>
            <a:ext cx="740000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AI 能力深度  →  基础检测 · · · RFID · · · 云端分类 · · · 端侧 VLM + 多模态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000" y="1930000"/>
            <a:ext cx="18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787882"/>
                </a:solidFill>
                <a:latin typeface="Helvetica"/>
              </a:rPr>
              <a:t>[ 云端 ]  部署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000" y="5450000"/>
            <a:ext cx="18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787882"/>
                </a:solidFill>
                <a:latin typeface="Helvetica"/>
              </a:rPr>
              <a:t>[ 端侧 ]  部署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0000" y="193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787882"/>
                </a:solidFill>
                <a:latin typeface="Helvetica"/>
              </a:rPr>
              <a:t>Q1  基础 IoT / 云 · · 红海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0000" y="193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787882"/>
                </a:solidFill>
                <a:latin typeface="Helvetica"/>
              </a:rPr>
              <a:t>Q2  云端 AI · · 隐私与延迟待解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0000" y="393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787882"/>
                </a:solidFill>
                <a:latin typeface="Helvetica"/>
              </a:rPr>
              <a:t>Q3  端侧但 AI 弱 · · 空档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0000" y="393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67BD6"/>
                </a:solidFill>
                <a:latin typeface="Helvetica"/>
              </a:rPr>
              <a:t>Q4  端侧 VLM · · 我们</a:t>
            </a:r>
          </a:p>
        </p:txBody>
      </p:sp>
      <p:sp>
        <p:nvSpPr>
          <p:cNvPr id="17" name="Oval 16"/>
          <p:cNvSpPr/>
          <p:nvPr/>
        </p:nvSpPr>
        <p:spPr>
          <a:xfrm>
            <a:off x="3208000" y="249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8000" y="241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Furbo</a:t>
            </a:r>
          </a:p>
        </p:txBody>
      </p:sp>
      <p:sp>
        <p:nvSpPr>
          <p:cNvPr id="19" name="Oval 18"/>
          <p:cNvSpPr/>
          <p:nvPr/>
        </p:nvSpPr>
        <p:spPr>
          <a:xfrm>
            <a:off x="4392000" y="225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000" y="217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Petcube</a:t>
            </a:r>
          </a:p>
        </p:txBody>
      </p:sp>
      <p:sp>
        <p:nvSpPr>
          <p:cNvPr id="21" name="Oval 20"/>
          <p:cNvSpPr/>
          <p:nvPr/>
        </p:nvSpPr>
        <p:spPr>
          <a:xfrm>
            <a:off x="3430000" y="297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0000" y="289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WOpet</a:t>
            </a:r>
          </a:p>
        </p:txBody>
      </p:sp>
      <p:sp>
        <p:nvSpPr>
          <p:cNvPr id="23" name="Oval 22"/>
          <p:cNvSpPr/>
          <p:nvPr/>
        </p:nvSpPr>
        <p:spPr>
          <a:xfrm>
            <a:off x="4688000" y="281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8000" y="273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Petnet</a:t>
            </a:r>
          </a:p>
        </p:txBody>
      </p:sp>
      <p:sp>
        <p:nvSpPr>
          <p:cNvPr id="25" name="Oval 24"/>
          <p:cNvSpPr/>
          <p:nvPr/>
        </p:nvSpPr>
        <p:spPr>
          <a:xfrm>
            <a:off x="3060000" y="409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0000" y="401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Sure Petcare</a:t>
            </a:r>
          </a:p>
        </p:txBody>
      </p:sp>
      <p:sp>
        <p:nvSpPr>
          <p:cNvPr id="27" name="Oval 26"/>
          <p:cNvSpPr/>
          <p:nvPr/>
        </p:nvSpPr>
        <p:spPr>
          <a:xfrm>
            <a:off x="3356000" y="465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000" y="457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凡米</a:t>
            </a:r>
          </a:p>
        </p:txBody>
      </p:sp>
      <p:sp>
        <p:nvSpPr>
          <p:cNvPr id="29" name="Oval 28"/>
          <p:cNvSpPr/>
          <p:nvPr/>
        </p:nvSpPr>
        <p:spPr>
          <a:xfrm>
            <a:off x="3948000" y="425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58000" y="417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米家</a:t>
            </a:r>
          </a:p>
        </p:txBody>
      </p:sp>
      <p:sp>
        <p:nvSpPr>
          <p:cNvPr id="31" name="Oval 30"/>
          <p:cNvSpPr/>
          <p:nvPr/>
        </p:nvSpPr>
        <p:spPr>
          <a:xfrm>
            <a:off x="4392000" y="497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02000" y="489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CATLINK</a:t>
            </a:r>
          </a:p>
        </p:txBody>
      </p:sp>
      <p:sp>
        <p:nvSpPr>
          <p:cNvPr id="33" name="Oval 32"/>
          <p:cNvSpPr/>
          <p:nvPr/>
        </p:nvSpPr>
        <p:spPr>
          <a:xfrm>
            <a:off x="4984000" y="449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000" y="441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PETKIT 小佩</a:t>
            </a:r>
          </a:p>
        </p:txBody>
      </p:sp>
      <p:sp>
        <p:nvSpPr>
          <p:cNvPr id="35" name="Oval 34"/>
          <p:cNvSpPr/>
          <p:nvPr/>
        </p:nvSpPr>
        <p:spPr>
          <a:xfrm>
            <a:off x="8200000" y="4850000"/>
            <a:ext cx="240000" cy="24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40000" y="4790000"/>
            <a:ext cx="360000" cy="36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00000" y="4850000"/>
            <a:ext cx="240000" cy="24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90000" y="481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Train-Pet-Pipeline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FOREIGN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国外主流竞品 · 能力矩阵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5 个代表性玩家 × 6 维度 · 数据来自公开产品页 + 用户评测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6000" y="1820000"/>
            <a:ext cx="15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000" y="1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产品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6000" y="1820000"/>
            <a:ext cx="215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66000" y="18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1820000"/>
            <a:ext cx="23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000" y="18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AI 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6000" y="1820000"/>
            <a:ext cx="15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6000" y="1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端侧 / 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6000" y="1820000"/>
            <a:ext cx="165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6000" y="18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多模态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46000" y="1820000"/>
            <a:ext cx="16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000" y="18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价格带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6000" y="2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000" y="2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Furbo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6000" y="2320000"/>
            <a:ext cx="21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66000" y="23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狗主摄像头 + 零食投掷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96000" y="2320000"/>
            <a:ext cx="23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6000" y="23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 bark 检测 / 宠物识别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96000" y="2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6000" y="2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云端为主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96000" y="2320000"/>
            <a:ext cx="16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6000" y="23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零食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46000" y="2320000"/>
            <a:ext cx="16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000" y="23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¥1500 – 3000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6000" y="2820000"/>
            <a:ext cx="1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6000" y="2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Petcube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46000" y="2820000"/>
            <a:ext cx="215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66000" y="28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互动摄像头 + 激光逗猫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96000" y="2820000"/>
            <a:ext cx="23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6000" y="28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云端基础识别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96000" y="2820000"/>
            <a:ext cx="1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6000" y="2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96000" y="2820000"/>
            <a:ext cx="165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16000" y="28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双向音频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46000" y="2820000"/>
            <a:ext cx="16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000" y="28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¥1000 – 2500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6000" y="3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000" y="3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Petnet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46000" y="3320000"/>
            <a:ext cx="21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66000" y="33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智能喂食器 (初创)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96000" y="3320000"/>
            <a:ext cx="23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6000" y="33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基本 IoT + 云端调度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96000" y="3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16000" y="3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96000" y="3320000"/>
            <a:ext cx="16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16000" y="33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仅投喂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46000" y="3320000"/>
            <a:ext cx="16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6000" y="33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¥800 – 2000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6000" y="3820000"/>
            <a:ext cx="1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6000" y="3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Sure Petcare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46000" y="3820000"/>
            <a:ext cx="215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66000" y="38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Microchip 识别喂食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96000" y="3820000"/>
            <a:ext cx="23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16000" y="38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RFID 硬件识别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96000" y="3820000"/>
            <a:ext cx="1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16000" y="3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端侧 · RFID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96000" y="3820000"/>
            <a:ext cx="165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16000" y="38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仅 RFID + 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46000" y="3820000"/>
            <a:ext cx="16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66000" y="38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¥1200 – 3000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6000" y="4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6000" y="4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WOpet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46000" y="4320000"/>
            <a:ext cx="21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66000" y="43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喂食器 + 摄像头捆绑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96000" y="4320000"/>
            <a:ext cx="23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6000" y="43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基础动物检测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96000" y="4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16000" y="4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96000" y="4320000"/>
            <a:ext cx="16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16000" y="43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投喂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846000" y="4320000"/>
            <a:ext cx="16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966000" y="43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¥600 – 1500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0000" y="5858000"/>
            <a:ext cx="10872000" cy="48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0000" y="5978000"/>
            <a:ext cx="1055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共性 · AI 层级普遍停留在云端基础检测；端侧 VLM 级别行为理解 = 空白市场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CHINA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国内主流竞品 · 能力矩阵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5 个代表性玩家 × 6 维度 · 国产智能宠物硬件头部阵营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6000" y="1820000"/>
            <a:ext cx="15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000" y="1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产品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6000" y="1820000"/>
            <a:ext cx="215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66000" y="18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1820000"/>
            <a:ext cx="23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000" y="18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AI 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6000" y="1820000"/>
            <a:ext cx="15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6000" y="1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端侧 / 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6000" y="1820000"/>
            <a:ext cx="165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6000" y="18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多模态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46000" y="1820000"/>
            <a:ext cx="16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000" y="18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价格带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6000" y="2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000" y="2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PETKIT 小佩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6000" y="2320000"/>
            <a:ext cx="21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66000" y="23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全品类智能宠物硬件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96000" y="2320000"/>
            <a:ext cx="23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6000" y="23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摄像头基础识别 + 云端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96000" y="2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6000" y="2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云端为主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96000" y="2320000"/>
            <a:ext cx="16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6000" y="23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投喂 + 饮水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46000" y="2320000"/>
            <a:ext cx="16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000" y="23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¥500 – 2500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6000" y="2820000"/>
            <a:ext cx="1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6000" y="2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米家 / 小米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46000" y="2820000"/>
            <a:ext cx="215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66000" y="28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米家生态 IoT 产品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96000" y="2820000"/>
            <a:ext cx="23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6000" y="28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基础动作识别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96000" y="2820000"/>
            <a:ext cx="1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6000" y="2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96000" y="2820000"/>
            <a:ext cx="165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16000" y="28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投喂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46000" y="2820000"/>
            <a:ext cx="16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000" y="28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¥200 – 1000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6000" y="3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000" y="3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CATLINK 凯特灵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46000" y="3320000"/>
            <a:ext cx="21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66000" y="33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智能猫砂 + 投喂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96000" y="3320000"/>
            <a:ext cx="23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6000" y="33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基础检测 / 数据统计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96000" y="3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16000" y="3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96000" y="3320000"/>
            <a:ext cx="16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16000" y="33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猫砂 + 体重 + 投喂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46000" y="3320000"/>
            <a:ext cx="16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6000" y="33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¥800 – 2500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6000" y="3820000"/>
            <a:ext cx="1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6000" y="3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凡米 Fami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46000" y="3820000"/>
            <a:ext cx="215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66000" y="38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喂食器专精品牌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96000" y="3820000"/>
            <a:ext cx="23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16000" y="38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定时 + 基础识别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96000" y="3820000"/>
            <a:ext cx="1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16000" y="38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96000" y="3820000"/>
            <a:ext cx="165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16000" y="38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仅投喂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46000" y="3820000"/>
            <a:ext cx="16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66000" y="38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¥300 – 1200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6000" y="4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6000" y="4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米家生态链 / 其他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46000" y="4320000"/>
            <a:ext cx="21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66000" y="4320000"/>
            <a:ext cx="19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多个白牌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96000" y="4320000"/>
            <a:ext cx="23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6000" y="4320000"/>
            <a:ext cx="20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基础 IoT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96000" y="4320000"/>
            <a:ext cx="1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16000" y="4320000"/>
            <a:ext cx="1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96000" y="4320000"/>
            <a:ext cx="165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16000" y="4320000"/>
            <a:ext cx="141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投喂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846000" y="4320000"/>
            <a:ext cx="16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966000" y="4320000"/>
            <a:ext cx="13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¥200 – 800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0000" y="5858000"/>
            <a:ext cx="10872000" cy="48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0000" y="5978000"/>
            <a:ext cx="1055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共性 · 硬件创新领先，AI 算法栈薄弱；行为理解 / 音频事件 / 结构化报告是下一代竞争点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唯一在端侧落地 VLM-grade 行为理解 + 音频事件 + 签名 OTA 的方案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000" y="1920000"/>
            <a:ext cx="128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787882"/>
                </a:solidFill>
                <a:latin typeface="Helvetica"/>
              </a:rPr>
              <a:t>维度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2170000" y="1700000"/>
            <a:ext cx="4566000" cy="90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0000" y="1860000"/>
            <a:ext cx="4206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87882"/>
                </a:solidFill>
                <a:latin typeface="Helvetica"/>
              </a:rPr>
              <a:t>大多数竞品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0000" y="2360000"/>
            <a:ext cx="4206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基础 IoT + 云端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000" y="1700000"/>
            <a:ext cx="4566000" cy="9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46000" y="1860000"/>
            <a:ext cx="4206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67BD6"/>
                </a:solidFill>
                <a:latin typeface="Helvetica"/>
              </a:rPr>
              <a:t>Train-Pet-Pipeline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6000" y="2360000"/>
            <a:ext cx="4206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367BD6"/>
                </a:solidFill>
                <a:latin typeface="Helvetica"/>
              </a:rPr>
              <a:t>端侧 VLM + 多模态 + 签名 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" y="2860000"/>
            <a:ext cx="1200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AI 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70000" y="2840000"/>
            <a:ext cx="4566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50000" y="286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C404C"/>
                </a:solidFill>
                <a:latin typeface="Helvetica"/>
              </a:rPr>
              <a:t>云端基础动作识别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66000" y="2840000"/>
            <a:ext cx="4566000" cy="4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66000" y="2840000"/>
            <a:ext cx="60000" cy="47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46000" y="286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2A44"/>
                </a:solidFill>
                <a:latin typeface="Helvetica"/>
              </a:rPr>
              <a:t>端侧 VLM 行为理解 + 结构化 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" y="3410000"/>
            <a:ext cx="1200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多模态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70000" y="3390000"/>
            <a:ext cx="4566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0000" y="341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C404C"/>
                </a:solidFill>
                <a:latin typeface="Helvetica"/>
              </a:rPr>
              <a:t>视频为主，音频不做处理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66000" y="3390000"/>
            <a:ext cx="4566000" cy="4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66000" y="3390000"/>
            <a:ext cx="60000" cy="47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6000" y="341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2A44"/>
                </a:solidFill>
                <a:latin typeface="Helvetica"/>
              </a:rPr>
              <a:t>视频 + 音频事件 (呕吐/吃饭/饮水/…)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000" y="3960000"/>
            <a:ext cx="1200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隐私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70000" y="3940000"/>
            <a:ext cx="4566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50000" y="396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C404C"/>
                </a:solidFill>
                <a:latin typeface="Helvetica"/>
              </a:rPr>
              <a:t>视频传云；隐私合规压力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6000" y="3940000"/>
            <a:ext cx="4566000" cy="4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66000" y="3940000"/>
            <a:ext cx="60000" cy="47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46000" y="396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2A44"/>
                </a:solidFill>
                <a:latin typeface="Helvetica"/>
              </a:rPr>
              <a:t>全程端侧推理，视频不出设备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000" y="4510000"/>
            <a:ext cx="1200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延迟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70000" y="4490000"/>
            <a:ext cx="4566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0" y="451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C404C"/>
                </a:solidFill>
                <a:latin typeface="Helvetica"/>
              </a:rPr>
              <a:t>2 – 5 秒起（往返云）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66000" y="4490000"/>
            <a:ext cx="4566000" cy="4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66000" y="4490000"/>
            <a:ext cx="60000" cy="47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46000" y="451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2A44"/>
                </a:solidFill>
                <a:latin typeface="Helvetica"/>
              </a:rPr>
              <a:t>&lt; 4 秒 P95（本地）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000" y="5060000"/>
            <a:ext cx="1200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可升级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70000" y="5040000"/>
            <a:ext cx="4566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50000" y="506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C404C"/>
                </a:solidFill>
                <a:latin typeface="Helvetica"/>
              </a:rPr>
              <a:t>厂商云服务耦合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66000" y="5040000"/>
            <a:ext cx="4566000" cy="4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66000" y="5040000"/>
            <a:ext cx="60000" cy="47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46000" y="506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2A44"/>
                </a:solidFill>
                <a:latin typeface="Helvetica"/>
              </a:rPr>
              <a:t>签名 OTA + canary 灰度 + 回滚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000" y="5610000"/>
            <a:ext cx="1200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离线可用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70000" y="5590000"/>
            <a:ext cx="4566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50000" y="561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C404C"/>
                </a:solidFill>
                <a:latin typeface="Helvetica"/>
              </a:rPr>
              <a:t>断网基本失效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66000" y="5590000"/>
            <a:ext cx="4566000" cy="4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966000" y="5590000"/>
            <a:ext cx="60000" cy="47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46000" y="5610000"/>
            <a:ext cx="4206000" cy="4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2A44"/>
                </a:solidFill>
                <a:latin typeface="Helvetica"/>
              </a:rPr>
              <a:t>纯端侧能力；网络只用于 OTA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解决方案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一台端侧 AI 设备 · 三大能力柱 · 签名 OTA 闭环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1000" y="1800000"/>
            <a:ext cx="3450000" cy="1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1000" y="1800000"/>
            <a:ext cx="3450000" cy="11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1000" y="2050000"/>
            <a:ext cx="8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367BD6"/>
                </a:solidFill>
                <a:latin typeface="Helvetica"/>
              </a:rPr>
              <a:t>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1000" y="2080000"/>
            <a:ext cx="215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VLM 视觉语言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000" y="2700000"/>
            <a:ext cx="295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Qwen2-VL-2B LoRA SFT / DPO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结构化 JSON (schema_compliance 0.99)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端侧 RKLLM W4A16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1000" y="1800000"/>
            <a:ext cx="3450000" cy="1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1000" y="1800000"/>
            <a:ext cx="3450000" cy="11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1000" y="2050000"/>
            <a:ext cx="8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26A29C"/>
                </a:solidFill>
                <a:latin typeface="Helvetica"/>
              </a:rPr>
              <a:t>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1000" y="2080000"/>
            <a:ext cx="215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音频事件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1000" y="2700000"/>
            <a:ext cx="295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PANNs MobileNetV2 AudioSet CNN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5 类（呕吐 / 吃饭 / 饮水 / 环境 / 其他）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端侧 RKNN INT8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1000" y="1800000"/>
            <a:ext cx="3450000" cy="1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41000" y="1800000"/>
            <a:ext cx="3450000" cy="11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1000" y="2050000"/>
            <a:ext cx="8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DA83E"/>
                </a:solidFill>
                <a:latin typeface="Helvetica"/>
              </a:rPr>
              <a:t>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1000" y="2080000"/>
            <a:ext cx="215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签名 OTA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1000" y="2700000"/>
            <a:ext cx="295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bsdiff4 差分更新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5 状态 canary rollout + 48h 观察窗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SHA-256 manifest + optional RSA 签名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000" y="3780000"/>
            <a:ext cx="10872000" cy="1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000" y="3920000"/>
            <a:ext cx="5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Helvetica"/>
              </a:rPr>
              <a:t>HARDWARE · 设备内置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" y="4330000"/>
            <a:ext cx="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67BD6"/>
                </a:solidFill>
                <a:latin typeface="Helvetica"/>
              </a:rPr>
              <a:t>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0000" y="4340000"/>
            <a:ext cx="2138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enlo"/>
              </a:rPr>
              <a:t>RK3576 SoC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0000" y="4620000"/>
            <a:ext cx="2138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6 TOPS NPU · VLM + Audio</a:t>
            </a:r>
          </a:p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同时推理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8000" y="4330000"/>
            <a:ext cx="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67BD6"/>
                </a:solidFill>
                <a:latin typeface="Helvetica"/>
              </a:rPr>
              <a:t>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98000" y="4340000"/>
            <a:ext cx="2138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enlo"/>
              </a:rPr>
              <a:t>Camera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8000" y="4620000"/>
            <a:ext cx="2138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1080p · 广角</a:t>
            </a:r>
          </a:p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端侧流入 VLM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0" y="4330000"/>
            <a:ext cx="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67BD6"/>
                </a:solidFill>
                <a:latin typeface="Helvetica"/>
              </a:rPr>
              <a:t>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6000" y="4340000"/>
            <a:ext cx="2138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enlo"/>
              </a:rPr>
              <a:t>Microphone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6000" y="4620000"/>
            <a:ext cx="2138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高采样率 mic</a:t>
            </a:r>
          </a:p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音频事件检测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4000" y="4330000"/>
            <a:ext cx="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67BD6"/>
                </a:solidFill>
                <a:latin typeface="Helvetica"/>
              </a:rPr>
              <a:t>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4000" y="4340000"/>
            <a:ext cx="2138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enlo"/>
              </a:rPr>
              <a:t>Feeder Motor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4000" y="4620000"/>
            <a:ext cx="2138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定量投喂</a:t>
            </a:r>
          </a:p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受 VLM 决策驱动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用户旅程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从开箱到日常预警 · 5 步体验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00" y="2100000"/>
            <a:ext cx="20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00" y="2100000"/>
            <a:ext cx="2000000" cy="1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96000" y="2300000"/>
            <a:ext cx="560000" cy="56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6000" y="2300000"/>
            <a:ext cx="56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enl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000" y="3000000"/>
            <a:ext cx="18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A2A44"/>
                </a:solidFill>
                <a:latin typeface="Helvetica"/>
              </a:rPr>
              <a:t>开箱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000" y="3500000"/>
            <a:ext cx="16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扫码联 Wi-Fi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3 分钟完成绑定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96000" y="3300000"/>
            <a:ext cx="220000" cy="200000"/>
          </a:xfrm>
          <a:prstGeom prst="rightArrow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6000" y="2100000"/>
            <a:ext cx="20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6000" y="2100000"/>
            <a:ext cx="2000000" cy="1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6000" y="2300000"/>
            <a:ext cx="560000" cy="56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6000" y="2300000"/>
            <a:ext cx="56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enlo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6000" y="3000000"/>
            <a:ext cx="18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A2A44"/>
                </a:solidFill>
                <a:latin typeface="Helvetica"/>
              </a:rPr>
              <a:t>注册宠物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6000" y="3500000"/>
            <a:ext cx="16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录 5-10 秒视频绕宠物一圈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→ PetCard 生成 (pet-id)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56000" y="3300000"/>
            <a:ext cx="220000" cy="200000"/>
          </a:xfrm>
          <a:prstGeom prst="rightArrow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6000" y="2100000"/>
            <a:ext cx="20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6000" y="2100000"/>
            <a:ext cx="2000000" cy="1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6000" y="2300000"/>
            <a:ext cx="560000" cy="56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6000" y="2300000"/>
            <a:ext cx="56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enlo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6000" y="3000000"/>
            <a:ext cx="18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A2A44"/>
                </a:solidFill>
                <a:latin typeface="Helvetica"/>
              </a:rPr>
              <a:t>日常监控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6000" y="3500000"/>
            <a:ext cx="16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VLM 每帧读画面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音频 CNN 听环境声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结构化 JSON 上传 App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116000" y="3300000"/>
            <a:ext cx="220000" cy="200000"/>
          </a:xfrm>
          <a:prstGeom prst="rightArrow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56000" y="2100000"/>
            <a:ext cx="20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56000" y="2100000"/>
            <a:ext cx="2000000" cy="10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76000" y="2300000"/>
            <a:ext cx="560000" cy="56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000" y="2300000"/>
            <a:ext cx="56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enlo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6000" y="3000000"/>
            <a:ext cx="18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A2A44"/>
                </a:solidFill>
                <a:latin typeface="Helvetica"/>
              </a:rPr>
              <a:t>异常预警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56000" y="3500000"/>
            <a:ext cx="16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呕吐 / 拒食 / 行为异常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app 即时通知 + 回看视频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前 30 秒预览免费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376000" y="3300000"/>
            <a:ext cx="220000" cy="200000"/>
          </a:xfrm>
          <a:prstGeom prst="rightArrow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16000" y="2100000"/>
            <a:ext cx="20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16000" y="2100000"/>
            <a:ext cx="2000000" cy="10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336000" y="2300000"/>
            <a:ext cx="560000" cy="560000"/>
          </a:xfrm>
          <a:prstGeom prst="ellipse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6000" y="2300000"/>
            <a:ext cx="56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enlo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6000" y="3000000"/>
            <a:ext cx="18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A2A44"/>
                </a:solidFill>
                <a:latin typeface="Helvetica"/>
              </a:rPr>
              <a:t>固件升级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16000" y="3500000"/>
            <a:ext cx="16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签名 OTA canary 推送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5% → 48h 观察 → 全量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失败自动回滚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0.1 · Pipeline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数据流水线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契约 → 数据 → 标注 → 训练 → 评估 → 量化 → 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435E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6000" y="2300000"/>
            <a:ext cx="1340000" cy="8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435EB8"/>
                </a:solidFill>
                <a:latin typeface="Menlo"/>
              </a:rPr>
              <a:t>pet-schema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契约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3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9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6000" y="2300000"/>
            <a:ext cx="1340000" cy="8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985A8"/>
                </a:solidFill>
                <a:latin typeface="Menlo"/>
              </a:rPr>
              <a:t>pet-data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采集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清洗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1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4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46000" y="2300000"/>
            <a:ext cx="1340000" cy="8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4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6A29C"/>
                </a:solidFill>
                <a:latin typeface="Menlo"/>
              </a:rPr>
              <a:t>pet-annotation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4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4 范式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打标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29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2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AA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26000" y="2300000"/>
            <a:ext cx="1340000" cy="8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2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5AA35E"/>
                </a:solidFill>
                <a:latin typeface="Menlo"/>
              </a:rPr>
              <a:t>pet-train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2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SFT+DPO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+Audio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77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0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A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06000" y="2300000"/>
            <a:ext cx="1340000" cy="8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8EA43A"/>
                </a:solidFill>
                <a:latin typeface="Menlo"/>
              </a:rPr>
              <a:t>pet-eval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8 指标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+gate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25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8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8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86000" y="2300000"/>
            <a:ext cx="1340000" cy="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8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28E2E"/>
                </a:solidFill>
                <a:latin typeface="Menlo"/>
              </a:rPr>
              <a:t>pet-quantize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RKLLM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+RKNN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973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6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66000" y="2300000"/>
            <a:ext cx="1340000" cy="8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6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25E3E"/>
                </a:solidFill>
                <a:latin typeface="Menlo"/>
              </a:rPr>
              <a:t>pet-ota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canary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rollout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6000" y="1620000"/>
            <a:ext cx="2820000" cy="580000"/>
          </a:xfrm>
          <a:prstGeom prst="roundRect">
            <a:avLst>
              <a:gd name="adj" fmla="val 12000"/>
            </a:avLst>
          </a:prstGeom>
          <a:solidFill>
            <a:srgbClr val="F0F1F4"/>
          </a:solidFill>
          <a:ln w="9525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30000" bIns="30000" wrap="square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2A44"/>
                </a:solidFill>
                <a:latin typeface="Helvetica"/>
              </a:rPr>
              <a:t>pet-infra · 共享运行时 · 7 registries · orchestrator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6000" y="2200000"/>
            <a:ext cx="8000" cy="10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60000" y="3850000"/>
            <a:ext cx="10872000" cy="5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30000" bIns="30000" wrap="square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A57A8"/>
                </a:solidFill>
                <a:latin typeface="Helvetica"/>
              </a:rPr>
              <a:t>pet-id · 独立 CLI 工具 · 零 pet-* 运行时依赖 · PetCard registry + petid CLI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000" y="4600000"/>
            <a:ext cx="4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实线方块 = 流水线节点 · 虚框 = 独立工具 · pet-infra 作 runtime 贯穿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0.2 ·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最终版本表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compatibility_matrix.yaml · 2026.10-ecosystem-cleanup · 9 仓全部 tag 已推到 main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2150000" cy="38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1800000"/>
            <a:ext cx="20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Helvetica"/>
              </a:rPr>
              <a:t>仓库</a:t>
            </a:r>
          </a:p>
        </p:txBody>
      </p:sp>
      <p:sp>
        <p:nvSpPr>
          <p:cNvPr id="9" name="Rectangle 8"/>
          <p:cNvSpPr/>
          <p:nvPr/>
        </p:nvSpPr>
        <p:spPr>
          <a:xfrm>
            <a:off x="2860000" y="1800000"/>
            <a:ext cx="1300000" cy="38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0000" y="180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Helvetica"/>
              </a:rPr>
              <a:t>版本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0000" y="1800000"/>
            <a:ext cx="2250000" cy="38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0000" y="180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Helvetica"/>
              </a:rPr>
              <a:t>依赖形态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00000" y="1800000"/>
            <a:ext cx="4400000" cy="38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0000" y="180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Helvetica"/>
              </a:rPr>
              <a:t>本轮关键交付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" y="2180000"/>
            <a:ext cx="21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60000" y="2180000"/>
            <a:ext cx="13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0000" y="2180000"/>
            <a:ext cx="22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0" y="2180000"/>
            <a:ext cx="44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40000" y="2290000"/>
            <a:ext cx="160000" cy="160000"/>
          </a:xfrm>
          <a:prstGeom prst="ellipse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000" y="218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pet-schema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0000" y="218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v3.2.1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0000" y="218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链首 · 无上游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0000" y="218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5 additive: SFTSample + DPOSample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000" y="2560000"/>
            <a:ext cx="21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60000" y="2560000"/>
            <a:ext cx="13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00000" y="2560000"/>
            <a:ext cx="22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0000" y="2560000"/>
            <a:ext cx="44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40000" y="2670000"/>
            <a:ext cx="160000" cy="160000"/>
          </a:xfrm>
          <a:prstGeom prst="ellipse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000" y="256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0000" y="256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v2.6.0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00000" y="256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0000" y="256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2 compose merge + StageRunner DRY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" y="2940000"/>
            <a:ext cx="21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60000" y="2940000"/>
            <a:ext cx="13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00000" y="2940000"/>
            <a:ext cx="22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00000" y="2940000"/>
            <a:ext cx="44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40000" y="3050000"/>
            <a:ext cx="160000" cy="160000"/>
          </a:xfrm>
          <a:prstGeom prst="ellipse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000" y="294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60000" y="294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v1.3.0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0000" y="294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 + α for schema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0000" y="294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3 ingester_name / default_provenance split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0000" y="3320000"/>
            <a:ext cx="21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60000" y="3320000"/>
            <a:ext cx="13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00000" y="3320000"/>
            <a:ext cx="22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00000" y="3320000"/>
            <a:ext cx="44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40000" y="3430000"/>
            <a:ext cx="160000" cy="16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000" y="332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pet-annotation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0000" y="332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v2.1.1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00000" y="332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00000" y="332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4+5 α exporter + F11 validator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0000" y="3700000"/>
            <a:ext cx="21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60000" y="3700000"/>
            <a:ext cx="13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00000" y="3700000"/>
            <a:ext cx="22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00000" y="3700000"/>
            <a:ext cx="44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40000" y="3810000"/>
            <a:ext cx="160000" cy="160000"/>
          </a:xfrm>
          <a:prstGeom prst="ellipse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000" y="370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pet-train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60000" y="370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v2.0.2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00000" y="370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00000" y="370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5 β dual guard + JSONL consumer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0000" y="4080000"/>
            <a:ext cx="21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60000" y="4080000"/>
            <a:ext cx="13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200000" y="4080000"/>
            <a:ext cx="22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00000" y="4080000"/>
            <a:ext cx="44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40000" y="4190000"/>
            <a:ext cx="160000" cy="160000"/>
          </a:xfrm>
          <a:prstGeom prst="ellipse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0000" y="408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pet-eval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60000" y="408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v2.3.0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00000" y="408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+ runtime peer for quantize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00000" y="408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6 ~533 LOC dead-code removal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0000" y="4460000"/>
            <a:ext cx="21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60000" y="4460000"/>
            <a:ext cx="13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00000" y="4460000"/>
            <a:ext cx="22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00000" y="4460000"/>
            <a:ext cx="44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40000" y="4570000"/>
            <a:ext cx="160000" cy="160000"/>
          </a:xfrm>
          <a:prstGeom prst="ellipse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60000" y="446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pet-quantize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60000" y="446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v2.1.0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00000" y="446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 (migrated)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00000" y="446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7 7A pet-infra hardpin → peer-dep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0000" y="4840000"/>
            <a:ext cx="21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60000" y="4840000"/>
            <a:ext cx="13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200000" y="4840000"/>
            <a:ext cx="22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00000" y="4840000"/>
            <a:ext cx="44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40000" y="4950000"/>
            <a:ext cx="160000" cy="160000"/>
          </a:xfrm>
          <a:prstGeom prst="ellipse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0000" y="484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pet-ota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960000" y="484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v2.2.0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00000" y="484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 · signing=optional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00000" y="484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8 8A + 8B + no-hardcode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0000" y="5220000"/>
            <a:ext cx="21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860000" y="5220000"/>
            <a:ext cx="13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200000" y="5220000"/>
            <a:ext cx="22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500000" y="5220000"/>
            <a:ext cx="44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40000" y="5330000"/>
            <a:ext cx="160000" cy="160000"/>
          </a:xfrm>
          <a:prstGeom prst="ellipse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60000" y="522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pet-id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60000" y="522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v0.2.0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00000" y="522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独立 · 无 pet-* deps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00000" y="522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9 first CI + spec §5.2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契约与运行时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pet-schema · pet-infra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35EB8"/>
                </a:solidFill>
                <a:latin typeface="Helvetica"/>
              </a:rPr>
              <a:t>§ pet-schema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pet-schema · 契约根节点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链首零上游 · 8 仓通过 `import pet_schema` 消费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50000"/>
            <a:ext cx="2558000" cy="11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750000"/>
            <a:ext cx="80000" cy="11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1910000"/>
            <a:ext cx="2238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Pydantic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000" y="2310000"/>
            <a:ext cx="2238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1">
                <a:solidFill>
                  <a:srgbClr val="3C404C"/>
                </a:solidFill>
                <a:latin typeface="Helvetica"/>
              </a:rPr>
              <a:t>extra='forbid' 严格校验</a:t>
            </a:r>
          </a:p>
          <a:p>
            <a:pPr algn="l">
              <a:lnSpc>
                <a:spcPct val="145000"/>
              </a:lnSpc>
            </a:pPr>
            <a:r>
              <a:rPr sz="1050" b="0" i="1">
                <a:solidFill>
                  <a:srgbClr val="3C404C"/>
                </a:solidFill>
                <a:latin typeface="Helvetica"/>
              </a:rPr>
              <a:t>所有跨仓数据模型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8000" y="1750000"/>
            <a:ext cx="2558000" cy="11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8000" y="1750000"/>
            <a:ext cx="80000" cy="11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8000" y="1910000"/>
            <a:ext cx="2238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Alembic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8000" y="2310000"/>
            <a:ext cx="2238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1">
                <a:solidFill>
                  <a:srgbClr val="3C404C"/>
                </a:solidFill>
                <a:latin typeface="Helvetica"/>
              </a:rPr>
              <a:t>DB schema 演化</a:t>
            </a:r>
          </a:p>
          <a:p>
            <a:pPr algn="l">
              <a:lnSpc>
                <a:spcPct val="145000"/>
              </a:lnSpc>
            </a:pPr>
            <a:r>
              <a:rPr sz="1050" b="0" i="1">
                <a:solidFill>
                  <a:srgbClr val="3C404C"/>
                </a:solidFill>
                <a:latin typeface="Helvetica"/>
              </a:rPr>
              <a:t>历史文件 immutable，只加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" y="3050000"/>
            <a:ext cx="2558000" cy="11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0000" y="3050000"/>
            <a:ext cx="80000" cy="11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000" y="3210000"/>
            <a:ext cx="2238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JSON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000" y="3610000"/>
            <a:ext cx="2238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1">
                <a:solidFill>
                  <a:srgbClr val="3C404C"/>
                </a:solidFill>
                <a:latin typeface="Helvetica"/>
              </a:rPr>
              <a:t>运行时 VLM 输出校验</a:t>
            </a:r>
          </a:p>
          <a:p>
            <a:pPr algn="l">
              <a:lnSpc>
                <a:spcPct val="145000"/>
              </a:lnSpc>
            </a:pPr>
            <a:r>
              <a:rPr sz="1050" b="0" i="1">
                <a:solidFill>
                  <a:srgbClr val="3C404C"/>
                </a:solidFill>
                <a:latin typeface="Helvetica"/>
              </a:rPr>
              <a:t>PetFeederEvent v1.0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8000" y="3050000"/>
            <a:ext cx="2558000" cy="11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8000" y="3050000"/>
            <a:ext cx="80000" cy="110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8000" y="3210000"/>
            <a:ext cx="2238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HF datasets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8000" y="3610000"/>
            <a:ext cx="2238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1">
                <a:solidFill>
                  <a:srgbClr val="3C404C"/>
                </a:solidFill>
                <a:latin typeface="Helvetica"/>
              </a:rPr>
              <a:t>Features 适配器</a:t>
            </a:r>
          </a:p>
          <a:p>
            <a:pPr algn="l">
              <a:lnSpc>
                <a:spcPct val="145000"/>
              </a:lnSpc>
            </a:pPr>
            <a:r>
              <a:rPr sz="1050" b="0" i="1">
                <a:solidFill>
                  <a:srgbClr val="3C404C"/>
                </a:solidFill>
                <a:latin typeface="Helvetica"/>
              </a:rPr>
              <a:t>SFT / DPO JSONL 兼容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6000" y="1750000"/>
            <a:ext cx="5276000" cy="9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6000" y="1910000"/>
            <a:ext cx="5276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35EB8"/>
                </a:solidFill>
                <a:latin typeface="Helvetica"/>
              </a:rPr>
              <a:t>核心数据模型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6000" y="2390000"/>
            <a:ext cx="507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7882"/>
                </a:solidFill>
                <a:latin typeface="Helvetica"/>
              </a:rPr>
              <a:t>训练契约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6000" y="271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Sample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6000" y="297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VisionSample / AudioSample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6000" y="323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SFTSample / ShareGPTSFTSample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6000" y="349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DPOSample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6000" y="3930000"/>
            <a:ext cx="507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7882"/>
                </a:solidFill>
                <a:latin typeface="Helvetica"/>
              </a:rPr>
              <a:t>编排 · 产物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6000" y="425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ExperimentRecipe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6000" y="451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ModelCard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6000" y="477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EdgeArtifact + QuantConfig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6000" y="503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DeploymentStatus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000" y="5470000"/>
            <a:ext cx="507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7882"/>
                </a:solidFill>
                <a:latin typeface="Helvetica"/>
              </a:rPr>
              <a:t>运行时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6000" y="579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validator.validate_output()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6000" y="605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render_prompt(schema_version)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6000" y="6310000"/>
            <a:ext cx="501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2A44"/>
                </a:solidFill>
                <a:latin typeface="Menlo"/>
              </a:rPr>
              <a:t>adapters/hf_features.py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35EB8"/>
                </a:solidFill>
                <a:latin typeface="Menlo"/>
              </a:rPr>
              <a:t>pet-schema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35EB8"/>
                </a:solidFill>
                <a:latin typeface="Helvetica"/>
              </a:rPr>
              <a:t>§ pet-schema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pet-schema · 契约传播 + Alembic 演化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SCHEMA_VERSION 常量 + Alembic head 一致扩散到 8 仓下游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96000" y="1900000"/>
            <a:ext cx="3400000" cy="140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6000" y="2100000"/>
            <a:ext cx="340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nlo"/>
              </a:rPr>
              <a:t>pet-schema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6000" y="2600000"/>
            <a:ext cx="3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nlo"/>
              </a:rPr>
              <a:t>SCHEMA_VERSION = 3.2.1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6000" y="2920000"/>
            <a:ext cx="34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Helvetica"/>
              </a:rPr>
              <a:t>extra='forbid' · Alembic head: 013_schema_v3_2_1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000" y="1850000"/>
            <a:ext cx="2700000" cy="68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000" y="1850000"/>
            <a:ext cx="60000" cy="68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910000"/>
            <a:ext cx="24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000" y="2190000"/>
            <a:ext cx="24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VisionSample · AudioSample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SourceType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360000" y="2140000"/>
            <a:ext cx="996000" cy="100000"/>
          </a:xfrm>
          <a:prstGeom prst="rightArrow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0000" y="2630000"/>
            <a:ext cx="2700000" cy="68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000" y="2630000"/>
            <a:ext cx="60000" cy="68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000" y="2690000"/>
            <a:ext cx="24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pet-annotation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000" y="2970000"/>
            <a:ext cx="24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4 paradigm tables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SFTSample · DPOSample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360000" y="2920000"/>
            <a:ext cx="996000" cy="100000"/>
          </a:xfrm>
          <a:prstGeom prst="rightArrow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0000" y="3410000"/>
            <a:ext cx="2700000" cy="68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0000" y="3410000"/>
            <a:ext cx="60000" cy="68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000" y="3470000"/>
            <a:ext cx="24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pet-train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" y="3750000"/>
            <a:ext cx="24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SFT/DPO JSONL 契约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ModelCard output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360000" y="3700000"/>
            <a:ext cx="996000" cy="100000"/>
          </a:xfrm>
          <a:prstGeom prst="rightArrow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0000" y="4190000"/>
            <a:ext cx="2700000" cy="68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000" y="4190000"/>
            <a:ext cx="60000" cy="68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000" y="4250000"/>
            <a:ext cx="24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pet-eval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000" y="4530000"/>
            <a:ext cx="24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ModelCard.metrics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validate_output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360000" y="4480000"/>
            <a:ext cx="996000" cy="100000"/>
          </a:xfrm>
          <a:prstGeom prst="rightArrow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32000" y="1850000"/>
            <a:ext cx="2700000" cy="68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72000" y="1850000"/>
            <a:ext cx="60000" cy="6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92000" y="1910000"/>
            <a:ext cx="24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pet-quantize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92000" y="2190000"/>
            <a:ext cx="24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EdgeArtifact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QuantConfig · calib_dir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816000" y="2140000"/>
            <a:ext cx="996000" cy="100000"/>
          </a:xfrm>
          <a:prstGeom prst="rightArrow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32000" y="2630000"/>
            <a:ext cx="2700000" cy="68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472000" y="2630000"/>
            <a:ext cx="60000" cy="68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92000" y="2690000"/>
            <a:ext cx="24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pet-ota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92000" y="2970000"/>
            <a:ext cx="24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DeploymentStatus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ModelCard.deployment_history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7816000" y="2920000"/>
            <a:ext cx="996000" cy="100000"/>
          </a:xfrm>
          <a:prstGeom prst="rightArrow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832000" y="3410000"/>
            <a:ext cx="2700000" cy="68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72000" y="3410000"/>
            <a:ext cx="60000" cy="68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92000" y="3470000"/>
            <a:ext cx="24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pet-infra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92000" y="3750000"/>
            <a:ext cx="24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Recipe · StageRunner 基础契约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7816000" y="3700000"/>
            <a:ext cx="996000" cy="100000"/>
          </a:xfrm>
          <a:prstGeom prst="rightArrow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832000" y="4190000"/>
            <a:ext cx="2700000" cy="68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472000" y="4190000"/>
            <a:ext cx="60000" cy="680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92000" y="4250000"/>
            <a:ext cx="24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render_prompt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92000" y="4530000"/>
            <a:ext cx="24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train / infer 同源 prompt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7816000" y="4480000"/>
            <a:ext cx="996000" cy="100000"/>
          </a:xfrm>
          <a:prstGeom prst="rightArrow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35EB8"/>
                </a:solidFill>
                <a:latin typeface="Menlo"/>
              </a:rPr>
              <a:t>pet-schema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6AB8"/>
                </a:solidFill>
                <a:latin typeface="Helvetica"/>
              </a:rPr>
              <a:t>§ pet-infra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pet-infra · 核心技术栈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共享运行时 — 其他 8 仓都以 pet-infra 为 peer-dep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3477333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800000"/>
            <a:ext cx="80000" cy="16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mmengine Registry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000" y="2360000"/>
            <a:ext cx="3157333" cy="9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7 registries 基座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TRAINERS / EVALUATORS / CONVERTERS / METRICS / DATASETS / STORAGE / OTA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7333" y="1800000"/>
            <a:ext cx="3477333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7333" y="1800000"/>
            <a:ext cx="80000" cy="16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7333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Hydra + hydra-zen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7333" y="2360000"/>
            <a:ext cx="3157333" cy="9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defaults-list 组合 recipe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composable + override-friendly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4666" y="1800000"/>
            <a:ext cx="3477333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4666" y="1800000"/>
            <a:ext cx="80000" cy="16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4666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entry_points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4666" y="2360000"/>
            <a:ext cx="3157333" cy="9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plugin 发现机制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group="pet_infra.plugins"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" y="3620000"/>
            <a:ext cx="3477333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0000" y="3620000"/>
            <a:ext cx="80000" cy="160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000" y="378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networkx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000" y="4180000"/>
            <a:ext cx="3157333" cy="9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Stage DAG + topological_sort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resume-from-cache 确定性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7333" y="3620000"/>
            <a:ext cx="3477333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57333" y="3620000"/>
            <a:ext cx="80000" cy="160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7333" y="378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ClearML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7333" y="4180000"/>
            <a:ext cx="3157333" cy="9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唯一实验追踪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W&amp;B 已 Phase 4 物理移除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54666" y="3620000"/>
            <a:ext cx="3477333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4666" y="3620000"/>
            <a:ext cx="80000" cy="1600000"/>
          </a:xfrm>
          <a:prstGeom prst="rect">
            <a:avLst/>
          </a:prstGeom>
          <a:solidFill>
            <a:srgbClr val="3C4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4666" y="378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click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666" y="4180000"/>
            <a:ext cx="3157333" cy="9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CLI 子命令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pet run / replay / sweep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F6AB8"/>
                </a:solidFill>
                <a:latin typeface="Menlo"/>
              </a:rPr>
              <a:t>pet-infra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6AB8"/>
                </a:solidFill>
                <a:latin typeface="Helvetica"/>
              </a:rPr>
              <a:t>§ pet-infra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pet-infra · Recipe → ModelCard 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compose_recipe() → DAG → StageRunner loop → ModelCard + ClearML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87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2000000"/>
            <a:ext cx="1645333" cy="70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recipe.yaml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0000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Hydra defaults-list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+ overrides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25333" y="260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05333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05333" y="2000000"/>
            <a:ext cx="1645333" cy="7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5333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compose_recipe()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5333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hydra-zen 解析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+ variations 展开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70666" y="260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0666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0666" y="2000000"/>
            <a:ext cx="1645333" cy="7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0666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build_dag()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0666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networkx topological_sort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+ stage.depends_on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15999" y="260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5999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5999" y="2000000"/>
            <a:ext cx="1645333" cy="7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5999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StageRunner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5999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_load_stage_kwargs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+ registry.build(**cfg)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61332" y="260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1332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1332" y="2000000"/>
            <a:ext cx="1645333" cy="7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1332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plugin.run()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32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consumer repo 的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@register_module 实现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706665" y="260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86665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E05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86665" y="2000000"/>
            <a:ext cx="1645333" cy="7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46665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ModelCard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6665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pet-schema 契约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+ ClearMLLogger push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0000" y="3600000"/>
            <a:ext cx="10872000" cy="130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000" y="3760000"/>
            <a:ext cx="4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SIDE CHANNELS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000" y="4160000"/>
            <a:ext cx="3397333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StageCache (~/.pet-cache)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000" y="4440000"/>
            <a:ext cx="3397333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card_id = hash(recipe, stage, config_sha)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缓存命中 → 跳过执行；resume 可恢复任意 stage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37333" y="4160000"/>
            <a:ext cx="3397333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ClearMLLogger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37333" y="4440000"/>
            <a:ext cx="3397333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每 stage start/end 自动 push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metrics + ModelCard 对齐可 replay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54666" y="4160000"/>
            <a:ext cx="3397333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Replay (pet run --replay)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54666" y="4440000"/>
            <a:ext cx="3397333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从历史 ModelCard 反演 config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确定性重跑训练 run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F6AB8"/>
                </a:solidFill>
                <a:latin typeface="Menlo"/>
              </a:rPr>
              <a:t>pet-infra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6AB8"/>
                </a:solidFill>
                <a:latin typeface="Helvetica"/>
              </a:rPr>
              <a:t>§ pet-infra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pet-infra · 7 Registries · 插件发现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每仓通过 entry_points 注册；orchestrator 按 registry.get(type) 构造插件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6000" y="1800000"/>
            <a:ext cx="2720000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5AA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6000" y="1800000"/>
            <a:ext cx="2720000" cy="7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000" y="1960000"/>
            <a:ext cx="272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TRAINERS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000" y="2400000"/>
            <a:ext cx="272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owner · pet-train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000" y="2700000"/>
            <a:ext cx="24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950" b="0" i="0">
                <a:solidFill>
                  <a:srgbClr val="3C404C"/>
                </a:solidFill>
                <a:latin typeface="Helvetica"/>
              </a:rPr>
              <a:t>llamafactory_sft · llamafactory_dpo · tiny_test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000" y="1800000"/>
            <a:ext cx="2720000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8EA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6000" y="1800000"/>
            <a:ext cx="2720000" cy="7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76000" y="1960000"/>
            <a:ext cx="272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EVALUATORS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6000" y="2400000"/>
            <a:ext cx="272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owner · pet-eval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6000" y="2700000"/>
            <a:ext cx="24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950" b="0" i="0">
                <a:solidFill>
                  <a:srgbClr val="3C404C"/>
                </a:solidFill>
                <a:latin typeface="Helvetica"/>
              </a:rPr>
              <a:t>vlm · audio · quantized_vlm + 3 fusion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000" y="1800000"/>
            <a:ext cx="2720000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8EA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000" y="1800000"/>
            <a:ext cx="2720000" cy="7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6000" y="1960000"/>
            <a:ext cx="272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6000" y="2400000"/>
            <a:ext cx="272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owner · pet-eval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6000" y="2700000"/>
            <a:ext cx="24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950" b="0" i="0">
                <a:solidFill>
                  <a:srgbClr val="3C404C"/>
                </a:solidFill>
                <a:latin typeface="Helvetica"/>
              </a:rPr>
              <a:t>schema / anomaly / mood / narrative / latency / audio / kl / calibration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16000" y="1800000"/>
            <a:ext cx="2720000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28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16000" y="1800000"/>
            <a:ext cx="2720000" cy="7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6000" y="1960000"/>
            <a:ext cx="272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CONVERTERS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000" y="2400000"/>
            <a:ext cx="272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owner · pet-quantize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6000" y="2700000"/>
            <a:ext cx="24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950" b="0" i="0">
                <a:solidFill>
                  <a:srgbClr val="3C404C"/>
                </a:solidFill>
                <a:latin typeface="Helvetica"/>
              </a:rPr>
              <a:t>noop · vlm_rkllm_w4a16 · audio_rknn_fp16 · vision_rknn_fp16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16000" y="3560000"/>
            <a:ext cx="2720000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9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16000" y="3560000"/>
            <a:ext cx="2720000" cy="7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6000" y="3720000"/>
            <a:ext cx="272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DATASETS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16000" y="4160000"/>
            <a:ext cx="272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owner · pet-data · pet-quantize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76000" y="4460000"/>
            <a:ext cx="24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950" b="0" i="0">
                <a:solidFill>
                  <a:srgbClr val="3C404C"/>
                </a:solidFill>
                <a:latin typeface="Helvetica"/>
              </a:rPr>
              <a:t>vlm / vision / audio calibration_subset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000" y="3560000"/>
            <a:ext cx="2720000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36000" y="3560000"/>
            <a:ext cx="2720000" cy="7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36000" y="3720000"/>
            <a:ext cx="272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STORAGE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36000" y="4160000"/>
            <a:ext cx="272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owner · pet-infra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96000" y="4460000"/>
            <a:ext cx="24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950" b="0" i="0">
                <a:solidFill>
                  <a:srgbClr val="3C404C"/>
                </a:solidFill>
                <a:latin typeface="Helvetica"/>
              </a:rPr>
              <a:t>local · s3 · http · file  (STORAGE.build(uri))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56000" y="3560000"/>
            <a:ext cx="2720000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25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56000" y="3560000"/>
            <a:ext cx="2720000" cy="7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56000" y="3720000"/>
            <a:ext cx="272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OTA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56000" y="4160000"/>
            <a:ext cx="272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owner · pet-ota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6000" y="4460000"/>
            <a:ext cx="24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950" b="0" i="0">
                <a:solidFill>
                  <a:srgbClr val="3C404C"/>
                </a:solidFill>
                <a:latin typeface="Helvetica"/>
              </a:rPr>
              <a:t>local_backend · s3_backend · http_backend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F6AB8"/>
                </a:solidFill>
                <a:latin typeface="Menlo"/>
              </a:rPr>
              <a:t>pet-infra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数据流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pet-data · pet-annotation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985A8"/>
                </a:solidFill>
                <a:latin typeface="Helvetica"/>
              </a:rPr>
              <a:t>§ pet-data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pet-data · 数据采集 + 清洗技术栈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7 Ingester · FFmpeg 解帧 · dHash 去重 · blur/brightness 质量闸 · SQLite + Alembic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3477333" cy="1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800000"/>
            <a:ext cx="80000" cy="15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FFmpeg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000" y="2360000"/>
            <a:ext cx="3157333" cy="8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视频解帧 · 提取关键帧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1080p @ 可配置 FPS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7333" y="1800000"/>
            <a:ext cx="3477333" cy="1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7333" y="1800000"/>
            <a:ext cx="80000" cy="15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7333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dHash (pHash)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7333" y="2360000"/>
            <a:ext cx="3157333" cy="8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感知哈希去重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相似度阈值 + 汉明距离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4666" y="1800000"/>
            <a:ext cx="3477333" cy="1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4666" y="1800000"/>
            <a:ext cx="80000" cy="15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4666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PIL · OpenCV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4666" y="2360000"/>
            <a:ext cx="3157333" cy="8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blur 检测 + brightness 直方图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QualityFilter 门槛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" y="3520000"/>
            <a:ext cx="3477333" cy="1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0000" y="3520000"/>
            <a:ext cx="80000" cy="150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000" y="368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7 Ingester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000" y="4080000"/>
            <a:ext cx="3157333" cy="8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YouTubeIngester · CommunityIngester · Selfshot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Mock · Dryrun · 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7333" y="3520000"/>
            <a:ext cx="3477333" cy="1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57333" y="3520000"/>
            <a:ext cx="80000" cy="150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7333" y="368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SQLite + Alembic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7333" y="4080000"/>
            <a:ext cx="3157333" cy="8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frames + audio_samples 两表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004 migration · 历史 immutable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54666" y="3520000"/>
            <a:ext cx="3477333" cy="1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4666" y="3520000"/>
            <a:ext cx="80000" cy="1500000"/>
          </a:xfrm>
          <a:prstGeom prst="rect">
            <a:avLst/>
          </a:prstGeom>
          <a:solidFill>
            <a:srgbClr val="3C4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4666" y="368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DATASETS plugin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666" y="4080000"/>
            <a:ext cx="3157333" cy="8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VisionSample / AudioSample export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通过 pet-infra registry 被下游消费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985A8"/>
                </a:solidFill>
                <a:latin typeface="Menlo"/>
              </a:rPr>
              <a:t>pet-data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985A8"/>
                </a:solidFill>
                <a:latin typeface="Helvetica"/>
              </a:rPr>
              <a:t>§ pet-data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pet-data · Ingest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从原始 URL 到 annotation-ready Sample · 每 stage 可独立扩展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2100000"/>
            <a:ext cx="1645333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2100000"/>
            <a:ext cx="1645333" cy="7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23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Ingester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0000" y="2780000"/>
            <a:ext cx="1405333" cy="7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YouTube / Community / ...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URL → 本地 mp4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25333" y="275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05333" y="2100000"/>
            <a:ext cx="1645333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05333" y="2100000"/>
            <a:ext cx="1645333" cy="7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5333" y="23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Frame Extract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5333" y="2780000"/>
            <a:ext cx="1405333" cy="7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FFmpeg 解帧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提取至 frames/*.jpg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70666" y="275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0666" y="2100000"/>
            <a:ext cx="1645333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0666" y="2100000"/>
            <a:ext cx="1645333" cy="7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0666" y="23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Dedup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0666" y="2780000"/>
            <a:ext cx="1405333" cy="7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dHash 感知哈希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相似度 ≤ 阈值则去重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15999" y="275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5999" y="2100000"/>
            <a:ext cx="1645333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9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5999" y="2100000"/>
            <a:ext cx="1645333" cy="7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5999" y="23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Quality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5999" y="2780000"/>
            <a:ext cx="1405333" cy="7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blur 方差 ≥ 下界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brightness 分布合格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61332" y="275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1332" y="2100000"/>
            <a:ext cx="1645333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E05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1332" y="2100000"/>
            <a:ext cx="1645333" cy="7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1332" y="23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Anomaly Score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32" y="2780000"/>
            <a:ext cx="1405333" cy="7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弱监督打分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标注任务优先级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706665" y="275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86665" y="2100000"/>
            <a:ext cx="1645333" cy="15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3C40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86665" y="2100000"/>
            <a:ext cx="1645333" cy="70000"/>
          </a:xfrm>
          <a:prstGeom prst="rect">
            <a:avLst/>
          </a:prstGeom>
          <a:solidFill>
            <a:srgbClr val="3C4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46665" y="23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SQLite Write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6665" y="2780000"/>
            <a:ext cx="1405333" cy="7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frames 表 + Alembic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annotation_status='pending'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0000" y="3800000"/>
            <a:ext cx="10872000" cy="100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000" y="3980000"/>
            <a:ext cx="10552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下游消费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000" y="4290000"/>
            <a:ext cx="10552000" cy="4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3C404C"/>
                </a:solidFill>
                <a:latin typeface="Helvetica"/>
              </a:rPr>
              <a:t>pet-annotation 只读 frames 表（跨仓只读 URI 模式）· pet-train DATASETS plugin 读 VisionSample / AudioSample · dedup 铁律：禁 skip 旗标（feedback_no_manual_workaround）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985A8"/>
                </a:solidFill>
                <a:latin typeface="Menlo"/>
              </a:rPr>
              <a:t>pet-data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6A29C"/>
                </a:solidFill>
                <a:latin typeface="Helvetica"/>
              </a:rPr>
              <a:t>§ pet-annotation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pet-annotation · 4 范式打标架构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LLM · classifier · rule · human 并行独立存 —— 不跨 annotator reconcile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6000" y="1850000"/>
            <a:ext cx="2750000" cy="27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6000" y="1850000"/>
            <a:ext cx="2750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000" y="2010000"/>
            <a:ext cx="275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67BD6"/>
                </a:solidFill>
                <a:latin typeface="Helvetica"/>
              </a:rPr>
              <a:t>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000" y="2490000"/>
            <a:ext cx="2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787882"/>
                </a:solidFill>
                <a:latin typeface="Helvetica"/>
              </a:rPr>
              <a:t>OpenAI-compatible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000" y="2950000"/>
            <a:ext cx="2430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Qwen2-VL / GPT-4o</a:t>
            </a:r>
          </a:p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结构化 JSON prompt</a:t>
            </a:r>
          </a:p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render_prompt 同源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6000" y="4050000"/>
            <a:ext cx="2150000" cy="380000"/>
          </a:xfrm>
          <a:prstGeom prst="rect">
            <a:avLst/>
          </a:prstGeom>
          <a:solidFill>
            <a:srgbClr val="F0F1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000" y="4090000"/>
            <a:ext cx="27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LLMAnnotation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000" y="1850000"/>
            <a:ext cx="2750000" cy="27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000" y="1850000"/>
            <a:ext cx="2750000" cy="8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000" y="2010000"/>
            <a:ext cx="275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6A29C"/>
                </a:solidFill>
                <a:latin typeface="Helvetica"/>
              </a:rPr>
              <a:t>classifier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000" y="2490000"/>
            <a:ext cx="2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787882"/>
                </a:solidFill>
                <a:latin typeface="Helvetica"/>
              </a:rPr>
              <a:t>PyTorch fine-tuned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6000" y="2950000"/>
            <a:ext cx="2430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小模型监督分类</a:t>
            </a:r>
          </a:p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hot-swap 可替换</a:t>
            </a:r>
          </a:p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batch inference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6000" y="4050000"/>
            <a:ext cx="2150000" cy="380000"/>
          </a:xfrm>
          <a:prstGeom prst="rect">
            <a:avLst/>
          </a:prstGeom>
          <a:solidFill>
            <a:srgbClr val="F0F1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000" y="4090000"/>
            <a:ext cx="27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ClassifierAnnotation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6000" y="1850000"/>
            <a:ext cx="2750000" cy="27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6000" y="1850000"/>
            <a:ext cx="2750000" cy="8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6000" y="2010000"/>
            <a:ext cx="275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EDA83E"/>
                </a:solidFill>
                <a:latin typeface="Helvetica"/>
              </a:rPr>
              <a:t>rule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6000" y="2490000"/>
            <a:ext cx="2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787882"/>
                </a:solidFill>
                <a:latin typeface="Helvetica"/>
              </a:rPr>
              <a:t>programmatic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6000" y="2950000"/>
            <a:ext cx="2430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确定性规则</a:t>
            </a:r>
          </a:p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heuristic 基线</a:t>
            </a:r>
          </a:p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boxed 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6000" y="4050000"/>
            <a:ext cx="2150000" cy="380000"/>
          </a:xfrm>
          <a:prstGeom prst="rect">
            <a:avLst/>
          </a:prstGeom>
          <a:solidFill>
            <a:srgbClr val="F0F1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6000" y="4090000"/>
            <a:ext cx="27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RuleAnnotation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6000" y="1850000"/>
            <a:ext cx="2750000" cy="27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E05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6000" y="1850000"/>
            <a:ext cx="2750000" cy="8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6000" y="2010000"/>
            <a:ext cx="275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E05E5E"/>
                </a:solidFill>
                <a:latin typeface="Helvetica"/>
              </a:rPr>
              <a:t>human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6000" y="2490000"/>
            <a:ext cx="2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787882"/>
                </a:solidFill>
                <a:latin typeface="Helvetica"/>
              </a:rPr>
              <a:t>Label Studio 1.23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6000" y="2950000"/>
            <a:ext cx="2430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session auth</a:t>
            </a:r>
          </a:p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import / export</a:t>
            </a:r>
          </a:p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1A2A44"/>
                </a:solidFill>
                <a:latin typeface="Helvetica"/>
              </a:rPr>
              <a:t>DPO pair 构造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46000" y="4050000"/>
            <a:ext cx="2150000" cy="380000"/>
          </a:xfrm>
          <a:prstGeom prst="rect">
            <a:avLst/>
          </a:prstGeom>
          <a:solidFill>
            <a:srgbClr val="F0F1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6000" y="4090000"/>
            <a:ext cx="27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HumanAnnotation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000" y="4950000"/>
            <a:ext cx="1087200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787882"/>
                </a:solidFill>
                <a:latin typeface="Helvetica"/>
              </a:rPr>
              <a:t>每 annotator 写各自表（D4 决策 · 不做 majority-vote reconcile）· AnnotationOrchestrator 并发调度 (target × annotator)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6A29C"/>
                </a:solidFill>
                <a:latin typeface="Menlo"/>
              </a:rPr>
              <a:t>pet-annotation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6A29C"/>
                </a:solidFill>
                <a:latin typeface="Helvetica"/>
              </a:rPr>
              <a:t>§ pet-annotation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pet-annotation · Orchestrator + SFT/DPO Exporter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并发 fan-out → 4 独立表 → LLaMA-Factory JSONL (α 方向，spec §5.3)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2100000"/>
            <a:ext cx="1900000" cy="28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000" y="2460000"/>
            <a:ext cx="19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Menlo"/>
              </a:rPr>
              <a:t>target_id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0000" y="3100000"/>
            <a:ext cx="166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 i="1">
                <a:solidFill>
                  <a:srgbClr val="C8CCD2"/>
                </a:solidFill>
                <a:latin typeface="Helvetica"/>
              </a:rPr>
              <a:t>从 pet-data frames</a:t>
            </a:r>
          </a:p>
          <a:p>
            <a:pPr algn="ctr">
              <a:lnSpc>
                <a:spcPct val="150000"/>
              </a:lnSpc>
            </a:pPr>
            <a:r>
              <a:rPr sz="1000" b="0" i="1">
                <a:solidFill>
                  <a:srgbClr val="C8CCD2"/>
                </a:solidFill>
                <a:latin typeface="Helvetica"/>
              </a:rPr>
              <a:t>(pending targets)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0000" y="2100000"/>
            <a:ext cx="2400000" cy="28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0000" y="2460000"/>
            <a:ext cx="24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nlo"/>
              </a:rPr>
              <a:t>AnnotationOrchestrator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0000" y="3100000"/>
            <a:ext cx="2160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 i="1">
                <a:solidFill>
                  <a:srgbClr val="FFFFFF"/>
                </a:solidFill>
                <a:latin typeface="Helvetica"/>
              </a:rPr>
              <a:t>并发 (target × annotator)</a:t>
            </a:r>
          </a:p>
          <a:p>
            <a:pPr algn="ctr">
              <a:lnSpc>
                <a:spcPct val="150000"/>
              </a:lnSpc>
            </a:pPr>
            <a:r>
              <a:rPr sz="1100" b="0" i="1">
                <a:solidFill>
                  <a:srgbClr val="FFFFFF"/>
                </a:solidFill>
                <a:latin typeface="Helvetica"/>
              </a:rPr>
              <a:t>组合调度</a:t>
            </a:r>
          </a:p>
          <a:p>
            <a:pPr algn="ctr">
              <a:lnSpc>
                <a:spcPct val="150000"/>
              </a:lnSpc>
            </a:pPr>
            <a:r>
              <a:rPr sz="1100" b="0" i="1">
                <a:solidFill>
                  <a:srgbClr val="FFFFFF"/>
                </a:solidFill>
                <a:latin typeface="Helvetica"/>
              </a:rPr>
              <a:t>每 annotator 独立写表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80000" y="3400000"/>
            <a:ext cx="14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00000" y="225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00000" y="2250000"/>
            <a:ext cx="70000" cy="52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40000" y="2310000"/>
            <a:ext cx="172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0000" y="2530000"/>
            <a:ext cx="172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Menlo"/>
              </a:rPr>
              <a:t>LLMAnnotation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0000" y="2506000"/>
            <a:ext cx="260000" cy="8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00000" y="291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00000" y="2910000"/>
            <a:ext cx="70000" cy="52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40000" y="2970000"/>
            <a:ext cx="172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classifier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0000" y="3190000"/>
            <a:ext cx="172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Menlo"/>
              </a:rPr>
              <a:t>ClassifierAnnotation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0000" y="3166000"/>
            <a:ext cx="260000" cy="8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00000" y="357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0" y="3570000"/>
            <a:ext cx="70000" cy="52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40000" y="3630000"/>
            <a:ext cx="172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rule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40000" y="3850000"/>
            <a:ext cx="172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Menlo"/>
              </a:rPr>
              <a:t>RuleAnnotation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40000" y="3826000"/>
            <a:ext cx="260000" cy="8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00000" y="423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5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00000" y="4230000"/>
            <a:ext cx="70000" cy="52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40000" y="4290000"/>
            <a:ext cx="172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human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40000" y="4510000"/>
            <a:ext cx="172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Menlo"/>
              </a:rPr>
              <a:t>HumanAnnotation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40000" y="4486000"/>
            <a:ext cx="260000" cy="8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00000" y="2506000"/>
            <a:ext cx="200000" cy="8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00000" y="3166000"/>
            <a:ext cx="200000" cy="8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00000" y="3826000"/>
            <a:ext cx="200000" cy="8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00000" y="4486000"/>
            <a:ext cx="200000" cy="8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00000" y="2340000"/>
            <a:ext cx="4032000" cy="21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00000" y="2340000"/>
            <a:ext cx="4032000" cy="7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00000" y="2500000"/>
            <a:ext cx="403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sft_dpo.py exporter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0000" y="2980000"/>
            <a:ext cx="371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 i="0">
                <a:solidFill>
                  <a:srgbClr val="3C404C"/>
                </a:solidFill>
                <a:latin typeface="Menlo"/>
              </a:rPr>
              <a:t>to_sft_samples()  →  SFTSample JSONL</a:t>
            </a:r>
          </a:p>
          <a:p>
            <a:pPr algn="l">
              <a:lnSpc>
                <a:spcPct val="160000"/>
              </a:lnSpc>
            </a:pPr>
            <a:r>
              <a:rPr sz="1050" b="0" i="0">
                <a:solidFill>
                  <a:srgbClr val="3C404C"/>
                </a:solidFill>
                <a:latin typeface="Menlo"/>
              </a:rPr>
              <a:t>to_dpo_pairs()    →  DPOSample JSONL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60000" y="3760000"/>
            <a:ext cx="3712000" cy="58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80000" y="3820000"/>
            <a:ext cx="347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F11 producer-side validator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80000" y="4100000"/>
            <a:ext cx="3472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Menlo"/>
              </a:rPr>
              <a:t>DPOSample.model_validate() per row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00000" y="4620000"/>
            <a:ext cx="4032000" cy="46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00000" y="4730000"/>
            <a:ext cx="4032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enlo"/>
              </a:rPr>
              <a:t>→ pet-train consumes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6A29C"/>
                </a:solidFill>
                <a:latin typeface="Menlo"/>
              </a:rPr>
              <a:t>pet-annotation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训练与评估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pet-train · pet-eval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A35E"/>
                </a:solidFill>
                <a:latin typeface="Helvetica"/>
              </a:rPr>
              <a:t>§ pet-train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pet-train · 核心技术栈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LLaMA-Factory vendored · PEFT LoRA · DPO · PANNs · F11 consumer validator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800000"/>
            <a:ext cx="80000" cy="155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LLaMA-Factory v0.9.4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000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Apache-2.0 vendored (plain dir)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run_sft / run_dpo workflow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7333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7333" y="1800000"/>
            <a:ext cx="80000" cy="155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7333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PEFT LoRA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7333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低秩适配微调 (r / alpha / lr)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HF peft + Transformers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4666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4666" y="1800000"/>
            <a:ext cx="80000" cy="155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4666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DPO · pref_beta=0.1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4666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sft_adapter_path 为 base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从 pet-annotation DPO pair 训练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0000" y="3570000"/>
            <a:ext cx="80000" cy="155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000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PANNs MobileNetV2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000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AudioSet 527 classes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mel-spectrogram zero-shot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7333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57333" y="3570000"/>
            <a:ext cx="80000" cy="155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7333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Lazy run_sft import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7333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module-load 不拉 LLaMA-Factory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避免 transformers 脆弱上游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54666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4666" y="3570000"/>
            <a:ext cx="80000" cy="1550000"/>
          </a:xfrm>
          <a:prstGeom prst="rect">
            <a:avLst/>
          </a:prstGeom>
          <a:solidFill>
            <a:srgbClr val="3C4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4666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F11 JSONL validator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666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validate_sft_jsonl / validate_dpo_jsonl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训练前严校 (双端都验)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A35E"/>
                </a:solidFill>
                <a:latin typeface="Menlo"/>
              </a:rPr>
              <a:t>pet-train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A35E"/>
                </a:solidFill>
                <a:latin typeface="Helvetica"/>
              </a:rPr>
              <a:t>§ pet-train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pet-train · SFT + DPO 训练流水线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共享 LoRA + F11 validator · DPO 以 SFT adapter 为 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900000"/>
            <a:ext cx="1100000" cy="12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000" y="1900000"/>
            <a:ext cx="1100000" cy="12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SFT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0000" y="1900000"/>
            <a:ext cx="18024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60000" y="1900000"/>
            <a:ext cx="1802400" cy="6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60000" y="2080000"/>
            <a:ext cx="1802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SFT JSONL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0000" y="2500000"/>
            <a:ext cx="1602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ShareGPT format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from pet-annotation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782400" y="2420000"/>
            <a:ext cx="10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02400" y="1900000"/>
            <a:ext cx="18024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02400" y="1900000"/>
            <a:ext cx="1802400" cy="6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2400" y="2080000"/>
            <a:ext cx="1802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F11 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2400" y="2500000"/>
            <a:ext cx="1602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validate_sft_jsonl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早失败 file:line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724800" y="2420000"/>
            <a:ext cx="10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44800" y="1900000"/>
            <a:ext cx="18024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44800" y="1900000"/>
            <a:ext cx="1802400" cy="6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44800" y="2080000"/>
            <a:ext cx="1802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run_sft(**cfg)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4800" y="2500000"/>
            <a:ext cx="1602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lora_r / alpha / lr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from params.yaml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667200" y="2420000"/>
            <a:ext cx="10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87200" y="1900000"/>
            <a:ext cx="18024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87200" y="1900000"/>
            <a:ext cx="1802400" cy="6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87200" y="2080000"/>
            <a:ext cx="1802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LoRA adapter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7200" y="2500000"/>
            <a:ext cx="1602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output_dir/adapter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PEFT safetensors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609600" y="2420000"/>
            <a:ext cx="10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29600" y="1900000"/>
            <a:ext cx="18024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29600" y="1900000"/>
            <a:ext cx="1802400" cy="6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9600" y="2080000"/>
            <a:ext cx="1802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ModelCard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600" y="2500000"/>
            <a:ext cx="1602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checkpoint_uri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+ metrics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" y="3400000"/>
            <a:ext cx="1100000" cy="12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" y="3400000"/>
            <a:ext cx="1100000" cy="12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DPO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60000" y="3400000"/>
            <a:ext cx="18024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60000" y="3400000"/>
            <a:ext cx="1802400" cy="6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0000" y="3580000"/>
            <a:ext cx="1802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DPO JSONL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60000" y="4000000"/>
            <a:ext cx="1602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DPOSample pairs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chosen/rejected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782400" y="3920000"/>
            <a:ext cx="10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02400" y="3400000"/>
            <a:ext cx="18024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02400" y="3400000"/>
            <a:ext cx="1802400" cy="6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02400" y="3580000"/>
            <a:ext cx="1802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F11 validator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02400" y="4000000"/>
            <a:ext cx="1602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validate_dpo_jsonl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pref pair schema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5724800" y="3920000"/>
            <a:ext cx="10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844800" y="3400000"/>
            <a:ext cx="18024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44800" y="3400000"/>
            <a:ext cx="1802400" cy="6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44800" y="3580000"/>
            <a:ext cx="1802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run_dpo(**cfg)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4800" y="4000000"/>
            <a:ext cx="1602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pref_beta=0.1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sft_adapter_path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67200" y="3920000"/>
            <a:ext cx="10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87200" y="3400000"/>
            <a:ext cx="18024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87200" y="3400000"/>
            <a:ext cx="1802400" cy="6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87200" y="3580000"/>
            <a:ext cx="1802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DPO adapter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87200" y="4000000"/>
            <a:ext cx="1602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基于 SFT 继续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对齐 preference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9609600" y="3920000"/>
            <a:ext cx="10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729600" y="3400000"/>
            <a:ext cx="18024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29600" y="3400000"/>
            <a:ext cx="1802400" cy="6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29600" y="3580000"/>
            <a:ext cx="1802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Menlo"/>
              </a:rPr>
              <a:t>ModelCard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9600" y="4000000"/>
            <a:ext cx="1602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checkpoint_uri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+ metrics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0000" y="4880000"/>
            <a:ext cx="10872000" cy="45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0000" y="4980000"/>
            <a:ext cx="10552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tiny_test trainer · CPU-only smoke &lt;2min · 独立 plugin · PR-gate 不需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A35E"/>
                </a:solidFill>
                <a:latin typeface="Menlo"/>
              </a:rPr>
              <a:t>pet-train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A43A"/>
                </a:solidFill>
                <a:latin typeface="Helvetica"/>
              </a:rPr>
              <a:t>§ pet-eval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pet-eval · 8 Metrics + 6 Evaluators 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@METRICS / @EVALUATORS 装饰注册 · rule-based fusion only · apply_gate 决策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5286000" cy="9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000" y="1960000"/>
            <a:ext cx="5286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8EA43A"/>
                </a:solidFill>
                <a:latin typeface="Helvetica"/>
              </a:rPr>
              <a:t>@METRICS · 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420000"/>
            <a:ext cx="2483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2470000"/>
            <a:ext cx="2343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schema_compliance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670000"/>
            <a:ext cx="234300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787882"/>
                </a:solidFill>
                <a:latin typeface="Helvetica"/>
              </a:rPr>
              <a:t>compliance_rate + distribution_sum_error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03000" y="2420000"/>
            <a:ext cx="2483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000" y="2470000"/>
            <a:ext cx="2343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anomaly_recall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000" y="2670000"/>
            <a:ext cx="234300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787882"/>
                </a:solidFill>
                <a:latin typeface="Helvetica"/>
              </a:rPr>
              <a:t>TPR + FPR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2860000"/>
            <a:ext cx="2483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2910000"/>
            <a:ext cx="2343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mood_correlation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000" y="3110000"/>
            <a:ext cx="234300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787882"/>
                </a:solidFill>
                <a:latin typeface="Helvetica"/>
              </a:rPr>
              <a:t>Spearman × 3 dim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03000" y="2860000"/>
            <a:ext cx="2483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000" y="2910000"/>
            <a:ext cx="2343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narrative_quality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000" y="3110000"/>
            <a:ext cx="234300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787882"/>
                </a:solidFill>
                <a:latin typeface="Helvetica"/>
              </a:rPr>
              <a:t>BERTScore F1 (Chinese)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0000" y="3300000"/>
            <a:ext cx="2483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" y="3350000"/>
            <a:ext cx="2343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latency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000" y="3550000"/>
            <a:ext cx="234300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787882"/>
                </a:solidFill>
                <a:latin typeface="Helvetica"/>
              </a:rPr>
              <a:t>P50 / P95 / P99 interp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03000" y="3300000"/>
            <a:ext cx="2483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000" y="3350000"/>
            <a:ext cx="2343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audio_accuracy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000" y="3550000"/>
            <a:ext cx="234300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787882"/>
                </a:solidFill>
                <a:latin typeface="Helvetica"/>
              </a:rPr>
              <a:t>overall + vomit_recall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0000" y="3740000"/>
            <a:ext cx="2483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" y="3790000"/>
            <a:ext cx="2343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kl_quantization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000" y="3990000"/>
            <a:ext cx="234300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787882"/>
                </a:solidFill>
                <a:latin typeface="Helvetica"/>
              </a:rPr>
              <a:t>fp16 ↔ quant distribution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03000" y="3740000"/>
            <a:ext cx="2483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000" y="3790000"/>
            <a:ext cx="2343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calibration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000" y="3990000"/>
            <a:ext cx="2343000" cy="1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787882"/>
                </a:solidFill>
                <a:latin typeface="Helvetica"/>
              </a:rPr>
              <a:t>ECE · informational only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46000" y="1800000"/>
            <a:ext cx="5286000" cy="9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6000" y="1960000"/>
            <a:ext cx="5286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8EA43A"/>
                </a:solidFill>
                <a:latin typeface="Helvetica"/>
              </a:rPr>
              <a:t>@EVALUATORS ·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6000" y="2390000"/>
            <a:ext cx="5286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787882"/>
                </a:solidFill>
                <a:latin typeface="Helvetica"/>
              </a:rPr>
              <a:t>PRIMARY (3)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6000" y="2640000"/>
            <a:ext cx="4966000" cy="7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6000" y="2710000"/>
            <a:ext cx="480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vlm_evaluator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86000" y="2980000"/>
            <a:ext cx="4806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Qwen2-VL + PEFT LoRA merge</a:t>
            </a:r>
          </a:p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→ gold set inference → metrics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6000" y="3460000"/>
            <a:ext cx="4966000" cy="7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86000" y="3530000"/>
            <a:ext cx="480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audio_evaluator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86000" y="3800000"/>
            <a:ext cx="4806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→ pet_train.audio.inference</a:t>
            </a:r>
          </a:p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(跨仓 runtime)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6000" y="4280000"/>
            <a:ext cx="4966000" cy="7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6000" y="4350000"/>
            <a:ext cx="4806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quantized_vlm_evaluator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86000" y="4620000"/>
            <a:ext cx="4806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→ pet_quantize.rkllm_runner</a:t>
            </a:r>
          </a:p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(跨仓 runtime, lazy)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6000" y="5130000"/>
            <a:ext cx="5286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787882"/>
                </a:solidFill>
                <a:latin typeface="Helvetica"/>
              </a:rPr>
              <a:t>FUSION · rule-based (3) · no learned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6000" y="5380000"/>
            <a:ext cx="1615333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6000" y="5420000"/>
            <a:ext cx="1495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2A44"/>
                </a:solidFill>
                <a:latin typeface="Menlo"/>
              </a:rPr>
              <a:t>single_modal_fusion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66000" y="5580000"/>
            <a:ext cx="1495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787882"/>
                </a:solidFill>
                <a:latin typeface="Helvetica"/>
              </a:rPr>
              <a:t>pass-through scores[modality]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81333" y="5380000"/>
            <a:ext cx="1615333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41333" y="5420000"/>
            <a:ext cx="1495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2A44"/>
                </a:solidFill>
                <a:latin typeface="Menlo"/>
              </a:rPr>
              <a:t>and_gate_fusion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41333" y="5580000"/>
            <a:ext cx="1495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787882"/>
                </a:solidFill>
                <a:latin typeface="Helvetica"/>
              </a:rPr>
              <a:t>all ≥ threshold → min else 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56666" y="5380000"/>
            <a:ext cx="1615333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16666" y="5420000"/>
            <a:ext cx="1495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2A44"/>
                </a:solidFill>
                <a:latin typeface="Menlo"/>
              </a:rPr>
              <a:t>weighted_fusion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16666" y="5580000"/>
            <a:ext cx="1495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787882"/>
                </a:solidFill>
                <a:latin typeface="Helvetica"/>
              </a:rPr>
              <a:t>normalized weighted sum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EA43A"/>
                </a:solidFill>
                <a:latin typeface="Menlo"/>
              </a:rPr>
              <a:t>pet-eval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A43A"/>
                </a:solidFill>
                <a:latin typeface="Helvetica"/>
              </a:rPr>
              <a:t>§ pet-eval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pet-eval · 推理 → 指标 → Gate 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ModelCard in · ModelCard out (gate_status: passed / failed · reason)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87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2000000"/>
            <a:ext cx="1645333" cy="70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input ModelCard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0000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checkpoint_uri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(from pet-train)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25333" y="260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05333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05333" y="2000000"/>
            <a:ext cx="1645333" cy="7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5333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run_inference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5333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HF + PEFT merge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gold_set JSONL → outputs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70666" y="260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0666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0666" y="2000000"/>
            <a:ext cx="1645333" cy="7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0666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_compute_metrics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0666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8 registered metrics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warn-and-skip on sig mismatch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15999" y="260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5999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5999" y="2000000"/>
            <a:ext cx="1645333" cy="7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5999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apply_gate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5999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min_&lt;m&gt; / max_&lt;m&gt;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thresholds → pass/fail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61332" y="260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1332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8EA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1332" y="2000000"/>
            <a:ext cx="1645333" cy="7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1332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FusionEvaluator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32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rule-based 3 策略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可选 (若 recipe 声明)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706665" y="2600000"/>
            <a:ext cx="16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86665" y="2000000"/>
            <a:ext cx="1645333" cy="1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E05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86665" y="2000000"/>
            <a:ext cx="1645333" cy="7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46665" y="2200000"/>
            <a:ext cx="1525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4"/>
                </a:solidFill>
                <a:latin typeface="Menlo"/>
              </a:rPr>
              <a:t>output ModelCard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6665" y="2680000"/>
            <a:ext cx="1405333" cy="6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+ metrics dict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+ gate_status + reason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0000" y="3600000"/>
            <a:ext cx="10872000" cy="130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000" y="3760000"/>
            <a:ext cx="5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设计要点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000" y="4180000"/>
            <a:ext cx="3397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_FALLBACK_OUTPUT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000" y="4460000"/>
            <a:ext cx="3397333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VLM 重试失败后的安全 JSON sentinel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防止 metric 分母错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37333" y="4180000"/>
            <a:ext cx="3397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prompt_source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37333" y="4460000"/>
            <a:ext cx="3397333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gold_set | pet_schema 双轨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sft_v2 / sft_v3+ 都可评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54666" y="4180000"/>
            <a:ext cx="3397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跨仓 lazy import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54666" y="4460000"/>
            <a:ext cx="3397333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pet_train.audio · pet_quantize.rkllm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module-load 不拉 SDK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EA43A"/>
                </a:solidFill>
                <a:latin typeface="Menlo"/>
              </a:rPr>
              <a:t>pet-eval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端侧与发布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pet-quantize · pet-ota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8E2E"/>
                </a:solidFill>
                <a:latin typeface="Helvetica"/>
              </a:rPr>
              <a:t>§ pet-quantize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pet-quantize · 核心技术栈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Rockchip RKNN / RKLLM SDK + torch.onnx + ADB + 签名打包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800000"/>
            <a:ext cx="80000" cy="155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rkllm-toolkit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000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VLM → RKLLM W4A16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PANDAS calibration batch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7333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7333" y="1800000"/>
            <a:ext cx="80000" cy="155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7333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rknn-toolkit2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7333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ViT → RKNN FP16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Audio CNN → RKNN FP16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4666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4666" y="1800000"/>
            <a:ext cx="80000" cy="155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4666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torch.onnx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4666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vision encoder 导出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中间格式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0000" y="3570000"/>
            <a:ext cx="80000" cy="155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000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ADB bridge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000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on-device execution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target='rk3576' + device_id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7333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57333" y="3570000"/>
            <a:ext cx="80000" cy="155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7333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Content-address cache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7333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sha256(modality|uri|n)[:16]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orchestrator resume-from-cache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54666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4666" y="3570000"/>
            <a:ext cx="80000" cy="1550000"/>
          </a:xfrm>
          <a:prstGeom prst="rect">
            <a:avLst/>
          </a:prstGeom>
          <a:solidFill>
            <a:srgbClr val="3C4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4666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SDK-gated cluster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666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PET_ALLOW_MISSING_SDK=1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按 SDK 分组精细降级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8E2E"/>
                </a:solidFill>
                <a:latin typeface="Menlo"/>
              </a:rPr>
              <a:t>pet-quantize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8E2E"/>
                </a:solidFill>
                <a:latin typeface="Helvetica"/>
              </a:rPr>
              <a:t>§ pet-quantize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pet-quantize · Convert → EdgeArtifact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ModelCard 分三簇按需转换 · 缺 SDK 时 cluster-level 精细降级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3205000"/>
            <a:ext cx="2000000" cy="10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000" y="3385000"/>
            <a:ext cx="2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nlo"/>
              </a:rPr>
              <a:t>ModelCard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" y="3785000"/>
            <a:ext cx="20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 i="1">
                <a:solidFill>
                  <a:srgbClr val="C8CCD2"/>
                </a:solidFill>
                <a:latin typeface="Helvetica"/>
              </a:rPr>
              <a:t>checkpoint_uri</a:t>
            </a:r>
          </a:p>
          <a:p>
            <a:pPr algn="ctr">
              <a:lnSpc>
                <a:spcPct val="135000"/>
              </a:lnSpc>
            </a:pPr>
            <a:r>
              <a:rPr sz="950" b="0" i="1">
                <a:solidFill>
                  <a:srgbClr val="C8CCD2"/>
                </a:solidFill>
                <a:latin typeface="Helvetica"/>
              </a:rPr>
              <a:t>+ calibration_batch_uri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0000" y="1950000"/>
            <a:ext cx="3200000" cy="10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87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60000" y="1950000"/>
            <a:ext cx="3200000" cy="70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0000" y="2130000"/>
            <a:ext cx="32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Always-available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0000" y="2570000"/>
            <a:ext cx="2880000" cy="3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noop_converter · 零 SDK · CI smoke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60000" y="2471000"/>
            <a:ext cx="600000" cy="8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60000" y="2471000"/>
            <a:ext cx="600000" cy="8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60000" y="3180000"/>
            <a:ext cx="3200000" cy="10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60000" y="3180000"/>
            <a:ext cx="3200000" cy="7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0000" y="3360000"/>
            <a:ext cx="32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rknn cluster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0000" y="3800000"/>
            <a:ext cx="2880000" cy="3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audio_rknn_fp16 · vision_rknn_fp16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+ calibration DATASETS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60000" y="3701000"/>
            <a:ext cx="600000" cy="8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0000" y="3701000"/>
            <a:ext cx="600000" cy="8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60000" y="4410000"/>
            <a:ext cx="3200000" cy="10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E05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0000" y="4410000"/>
            <a:ext cx="3200000" cy="7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60000" y="4590000"/>
            <a:ext cx="32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rkllm cluster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0000" y="5030000"/>
            <a:ext cx="2880000" cy="3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vlm_rkllm_w4a16 · + vlm_calibration_subset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60000" y="4931000"/>
            <a:ext cx="600000" cy="8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60000" y="4931000"/>
            <a:ext cx="600000" cy="8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60000" y="3205000"/>
            <a:ext cx="2200000" cy="100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0000" y="3385000"/>
            <a:ext cx="22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nlo"/>
              </a:rPr>
              <a:t>EdgeArtifact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60000" y="3785000"/>
            <a:ext cx="22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 i="1">
                <a:solidFill>
                  <a:srgbClr val="FFFFFF"/>
                </a:solidFill>
                <a:latin typeface="Helvetica"/>
              </a:rPr>
              <a:t>.rknn / .rkllm</a:t>
            </a:r>
          </a:p>
          <a:p>
            <a:pPr algn="ctr">
              <a:lnSpc>
                <a:spcPct val="135000"/>
              </a:lnSpc>
            </a:pPr>
            <a:r>
              <a:rPr sz="950" b="0" i="1">
                <a:solidFill>
                  <a:srgbClr val="FFFFFF"/>
                </a:solidFill>
                <a:latin typeface="Helvetica"/>
              </a:rPr>
              <a:t>SHA-256 + RSA sign (optional)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000" y="6038000"/>
            <a:ext cx="1087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缺 SDK 时 cluster-level 精细降级：always-available 永远可用；rknn / rkllm 仅失败的那簇跳过（logger.warning + skip），其他正常运行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8E2E"/>
                </a:solidFill>
                <a:latin typeface="Menlo"/>
              </a:rPr>
              <a:t>pet-quantize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8E2E"/>
                </a:solidFill>
                <a:latin typeface="Helvetica"/>
              </a:rPr>
              <a:t>§ pet-quantize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pet-quantize · Dual-mode Runner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同一类 · 两种初始化 · 被 pet-eval 跨仓引用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0000" y="1800000"/>
            <a:ext cx="5126000" cy="3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0000" y="1800000"/>
            <a:ext cx="5126000" cy="1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000" y="2000000"/>
            <a:ext cx="5126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A2A44"/>
                </a:solidFill>
                <a:latin typeface="Helvetica"/>
              </a:rPr>
              <a:t>PC 模拟模式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0000" y="2550000"/>
            <a:ext cx="5126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367BD6"/>
                </a:solidFill>
                <a:latin typeface="Helvetica"/>
              </a:rPr>
              <a:t>dev / CI · 无硬件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00000" y="3000000"/>
            <a:ext cx="4566000" cy="140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0000" y="3120000"/>
            <a:ext cx="4366000" cy="1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RKLLMRunner(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    model_path=uri,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    target=None,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    device_id=None,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00" y="4300000"/>
            <a:ext cx="4566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PC 端 Python 模拟</a:t>
            </a:r>
          </a:p>
          <a:p>
            <a:pPr algn="ctr">
              <a:lnSpc>
                <a:spcPct val="15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用于 orchestrator / pet-eval</a:t>
            </a:r>
          </a:p>
          <a:p>
            <a:pPr algn="ctr">
              <a:lnSpc>
                <a:spcPct val="15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本地联调 · 不需要 rk3576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6000" y="1800000"/>
            <a:ext cx="5126000" cy="340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6000" y="1800000"/>
            <a:ext cx="5126000" cy="1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6000" y="2000000"/>
            <a:ext cx="5126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A2A44"/>
                </a:solidFill>
                <a:latin typeface="Helvetica"/>
              </a:rPr>
              <a:t>端侧 ADB 模式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6000" y="2550000"/>
            <a:ext cx="5126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EDA83E"/>
                </a:solidFill>
                <a:latin typeface="Helvetica"/>
              </a:rPr>
              <a:t>prod · on-device rk3576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6000" y="3000000"/>
            <a:ext cx="4566000" cy="140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6000" y="3120000"/>
            <a:ext cx="4366000" cy="1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RKLLMRunner(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    model_path=uri,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    target="rk3576",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    device_id="ADB_SERIAL",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6000" y="4300000"/>
            <a:ext cx="4566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通过 ADB 桥接真机</a:t>
            </a:r>
          </a:p>
          <a:p>
            <a:pPr algn="ctr">
              <a:lnSpc>
                <a:spcPct val="15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代码不变 · flip 参数即可切换</a:t>
            </a:r>
          </a:p>
          <a:p>
            <a:pPr algn="ctr">
              <a:lnSpc>
                <a:spcPct val="15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Phase 5 硬件接入触发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" y="6038000"/>
            <a:ext cx="1087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pet-eval QuantizedVlmEvaluator 通过 lazy `from pet_quantize.inference.rkllm_runner import RKLLMRunner` 跨仓引用；硬件到位前即可本地跑通全路径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8E2E"/>
                </a:solidFill>
                <a:latin typeface="Menlo"/>
              </a:rPr>
              <a:t>pet-quantize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5E3E"/>
                </a:solidFill>
                <a:latin typeface="Helvetica"/>
              </a:rPr>
              <a:t>§ pet-ota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pet-ota · 发布 + Canary Rollout 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bsdiff4 差分 · boto3/requests 多 backend · durable state · 可选 RSA 签名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800000"/>
            <a:ext cx="80000" cy="155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bsdiff4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000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二进制 delta 差分更新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@retry(3) tenacity 大文件 IO 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7333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7333" y="1800000"/>
            <a:ext cx="80000" cy="155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7333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boto3 +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7333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S3 backend 发布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URI scheme dispatch (file/s3/http)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4666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4666" y="1800000"/>
            <a:ext cx="80000" cy="155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4666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requests 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4666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HTTP backend · bearer/basic/no-auth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自托管服务器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0000" y="3570000"/>
            <a:ext cx="80000" cy="155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000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SHA-256 manifest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000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每 tarball 校验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upload 前必过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7333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57333" y="3570000"/>
            <a:ext cx="80000" cy="155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7333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RSA signing (lazy)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7333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from pet_quantize.packaging.verify_package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soft-fail on ImportError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54666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4666" y="3570000"/>
            <a:ext cx="80000" cy="1550000"/>
          </a:xfrm>
          <a:prstGeom prst="rect">
            <a:avLst/>
          </a:prstGeom>
          <a:solidFill>
            <a:srgbClr val="3C4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4666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Durable FSM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666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deployments/&lt;id&gt;.json 续跑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48h observation 崩溃可恢复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5E3E"/>
                </a:solidFill>
                <a:latin typeface="Menlo"/>
              </a:rPr>
              <a:t>pet-ota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5E3E"/>
                </a:solidFill>
                <a:latin typeface="Helvetica"/>
              </a:rPr>
              <a:t>§ pet-ota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pet-ota · Canary Rollout 5-state FSM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Happy path 5 step · 任何 step 失败 → ROLLING_BACK → ROLLED_BACK · resume-from-state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6000" y="1900000"/>
            <a:ext cx="1880000" cy="1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6000" y="1900000"/>
            <a:ext cx="1880000" cy="7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6000" y="2060000"/>
            <a:ext cx="188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GATE_CHECK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6000" y="2500000"/>
            <a:ext cx="172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5 checks from params</a:t>
            </a:r>
          </a:p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min_dpo / min_days / ...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16000" y="2370000"/>
            <a:ext cx="100000" cy="160000"/>
          </a:xfrm>
          <a:prstGeom prst="rightArrow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36000" y="1900000"/>
            <a:ext cx="1880000" cy="1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36000" y="1900000"/>
            <a:ext cx="1880000" cy="7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000" y="2060000"/>
            <a:ext cx="188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CANARY_DEPLOYING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6000" y="2500000"/>
            <a:ext cx="172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canary_percentage=5%</a:t>
            </a:r>
          </a:p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首批部署 canary group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36000" y="2370000"/>
            <a:ext cx="100000" cy="160000"/>
          </a:xfrm>
          <a:prstGeom prst="rightArrow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56000" y="1900000"/>
            <a:ext cx="1880000" cy="1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56000" y="1900000"/>
            <a:ext cx="1880000" cy="7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6000" y="2060000"/>
            <a:ext cx="188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CANARY_OBSERVING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6000" y="2500000"/>
            <a:ext cx="172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observe=48h</a:t>
            </a:r>
          </a:p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failure_rate 监控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56000" y="2370000"/>
            <a:ext cx="100000" cy="160000"/>
          </a:xfrm>
          <a:prstGeom prst="rightArrow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76000" y="1900000"/>
            <a:ext cx="1880000" cy="1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76000" y="1900000"/>
            <a:ext cx="1880000" cy="7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6000" y="2060000"/>
            <a:ext cx="188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FULL_DEPLOYING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6000" y="2500000"/>
            <a:ext cx="172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全量 rollout</a:t>
            </a:r>
          </a:p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剩余 95% devices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076000" y="2370000"/>
            <a:ext cx="100000" cy="160000"/>
          </a:xfrm>
          <a:prstGeom prst="rightArrow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96000" y="1900000"/>
            <a:ext cx="1880000" cy="1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96000" y="1900000"/>
            <a:ext cx="1880000" cy="7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96000" y="2060000"/>
            <a:ext cx="188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DONE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76000" y="2500000"/>
            <a:ext cx="172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rollout 完成</a:t>
            </a:r>
          </a:p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model in production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76000" y="4000000"/>
            <a:ext cx="1880000" cy="1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05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76000" y="4000000"/>
            <a:ext cx="1880000" cy="7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76000" y="4160000"/>
            <a:ext cx="188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ROLLING_BACK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56000" y="4600000"/>
            <a:ext cx="172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backend.abort()</a:t>
            </a:r>
          </a:p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rollback_timeout=5min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96000" y="4000000"/>
            <a:ext cx="1880000" cy="1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787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96000" y="4000000"/>
            <a:ext cx="1880000" cy="70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96000" y="4160000"/>
            <a:ext cx="188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ROLLED_BACK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6000" y="4600000"/>
            <a:ext cx="17200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status updated</a:t>
            </a:r>
          </a:p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alert emitted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71000" y="3040000"/>
            <a:ext cx="10000" cy="92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4041000" y="3960000"/>
            <a:ext cx="70000" cy="60000"/>
          </a:xfrm>
          <a:prstGeom prst="downArrow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1000" y="3040000"/>
            <a:ext cx="10000" cy="92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wn Arrow 41"/>
          <p:cNvSpPr/>
          <p:nvPr/>
        </p:nvSpPr>
        <p:spPr>
          <a:xfrm>
            <a:off x="6061000" y="3960000"/>
            <a:ext cx="70000" cy="60000"/>
          </a:xfrm>
          <a:prstGeom prst="downArrow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11000" y="3040000"/>
            <a:ext cx="10000" cy="92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own Arrow 43"/>
          <p:cNvSpPr/>
          <p:nvPr/>
        </p:nvSpPr>
        <p:spPr>
          <a:xfrm>
            <a:off x="8081000" y="3960000"/>
            <a:ext cx="70000" cy="60000"/>
          </a:xfrm>
          <a:prstGeom prst="downArrow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60000" y="6038000"/>
            <a:ext cx="10872000" cy="38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000" y="6098000"/>
            <a:ext cx="1055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3C404C"/>
                </a:solidFill>
                <a:latin typeface="Helvetica"/>
              </a:rPr>
              <a:t>Resume-from-state · 任一中断状态（canary_deploying / canary_observing / full_deploying）都会从 deployments/&lt;id&gt;.json 续跑 · crash / restart 不丢进度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5E3E"/>
                </a:solidFill>
                <a:latin typeface="Menlo"/>
              </a:rPr>
              <a:t>pet-ota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独立工具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pet-id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A57A8"/>
                </a:solidFill>
                <a:latin typeface="Helvetica"/>
              </a:rPr>
              <a:t>§ pet-id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pet-id · 独立 CLI 工具 · 核心技术栈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spec §5.2 零 pet-* 运行时依赖 · 仅通过 matrix row 做版本对齐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800000"/>
            <a:ext cx="80000" cy="155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ultralytics YOLOv10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000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pet detector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COCO 15=cat, 16=dog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7333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7333" y="1800000"/>
            <a:ext cx="80000" cy="155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7333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torchreid OSNet x0_25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7333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ReID embedding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512 dim + L2 normalize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4666" y="180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4666" y="1800000"/>
            <a:ext cx="80000" cy="155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4666" y="196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sha256(L2-norm f32)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4666" y="236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content-addressable pet_id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跨 host 跨 dtype 确定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0000" y="3570000"/>
            <a:ext cx="80000" cy="155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000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Pydantic PetCard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000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独立数据模型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不在 pet-schema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7333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57333" y="3570000"/>
            <a:ext cx="80000" cy="155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7333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mmpose (optional)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7333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[pose] extras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AP-10K keypoints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54666" y="3570000"/>
            <a:ext cx="3477333" cy="15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4666" y="3570000"/>
            <a:ext cx="80000" cy="1550000"/>
          </a:xfrm>
          <a:prstGeom prst="rect">
            <a:avLst/>
          </a:prstGeom>
          <a:solidFill>
            <a:srgbClr val="3C4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4666" y="3730000"/>
            <a:ext cx="3157333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4"/>
                </a:solidFill>
                <a:latin typeface="Menlo"/>
              </a:rPr>
              <a:t>transformers Qwen2-VL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666" y="4130000"/>
            <a:ext cx="3157333" cy="9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[narrative] extras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behavior 描述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A57A8"/>
                </a:solidFill>
                <a:latin typeface="Menlo"/>
              </a:rPr>
              <a:t>pet-id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A57A8"/>
                </a:solidFill>
                <a:latin typeface="Helvetica"/>
              </a:rPr>
              <a:t>§ pet-id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pet-id · Register + Identify 双泳道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两条独立流程 · 共享 detector / embedder / 磁盘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900000"/>
            <a:ext cx="1200000" cy="17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000" y="218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Register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" y="27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Helvetica"/>
              </a:rPr>
              <a:t>petid register </a:t>
            </a:r>
          </a:p>
          <a:p>
            <a:pPr algn="ctr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Helvetica"/>
              </a:rPr>
              <a:t>&lt;photo / dir / video&gt;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1900000"/>
            <a:ext cx="1798400" cy="1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1900000"/>
            <a:ext cx="1798400" cy="6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0000" y="2080000"/>
            <a:ext cx="1798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YOLOv10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0000" y="2500000"/>
            <a:ext cx="1678400" cy="1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detect pet bbox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78400" y="2670000"/>
            <a:ext cx="8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8400" y="1900000"/>
            <a:ext cx="1798400" cy="1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78400" y="1900000"/>
            <a:ext cx="1798400" cy="6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8400" y="2080000"/>
            <a:ext cx="1798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crop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8400" y="2500000"/>
            <a:ext cx="1678400" cy="1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largest bbox area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796800" y="2670000"/>
            <a:ext cx="8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96800" y="1900000"/>
            <a:ext cx="1798400" cy="1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96800" y="1900000"/>
            <a:ext cx="1798400" cy="6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6800" y="2080000"/>
            <a:ext cx="1798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OSNet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6800" y="2500000"/>
            <a:ext cx="1678400" cy="1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embed → 512 dim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715200" y="2670000"/>
            <a:ext cx="8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15200" y="1900000"/>
            <a:ext cx="1798400" cy="1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15200" y="1900000"/>
            <a:ext cx="1798400" cy="6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5200" y="2080000"/>
            <a:ext cx="1798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L2 norm + sha256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75200" y="2500000"/>
            <a:ext cx="1678400" cy="1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pet_id[:8]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633600" y="2670000"/>
            <a:ext cx="8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3600" y="1900000"/>
            <a:ext cx="1798400" cy="1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33600" y="1900000"/>
            <a:ext cx="1798400" cy="6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33600" y="2080000"/>
            <a:ext cx="1798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library.save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600" y="2500000"/>
            <a:ext cx="1678400" cy="1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PetCard +</a:t>
            </a:r>
          </a:p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crop + .npy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0000" y="4000000"/>
            <a:ext cx="1200000" cy="17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000" y="428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Identify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000" y="48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Helvetica"/>
              </a:rPr>
              <a:t>petid identify </a:t>
            </a:r>
          </a:p>
          <a:p>
            <a:pPr algn="ctr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Helvetica"/>
              </a:rPr>
              <a:t>&lt;query.jpg&gt;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60000" y="4000000"/>
            <a:ext cx="1798400" cy="1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60000" y="4000000"/>
            <a:ext cx="1798400" cy="6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60000" y="4180000"/>
            <a:ext cx="1798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YOLOv10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20000" y="4600000"/>
            <a:ext cx="1678400" cy="1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detect all bbox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878400" y="4770000"/>
            <a:ext cx="8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78400" y="4000000"/>
            <a:ext cx="1798400" cy="1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78400" y="4000000"/>
            <a:ext cx="1798400" cy="6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8400" y="4180000"/>
            <a:ext cx="1798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crop each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38400" y="4600000"/>
            <a:ext cx="1678400" cy="1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per-detection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796800" y="4770000"/>
            <a:ext cx="8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896800" y="4000000"/>
            <a:ext cx="1798400" cy="1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96800" y="4000000"/>
            <a:ext cx="1798400" cy="6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96800" y="4180000"/>
            <a:ext cx="1798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OSNet embed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56800" y="4600000"/>
            <a:ext cx="1678400" cy="1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query vector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7715200" y="4770000"/>
            <a:ext cx="8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815200" y="4000000"/>
            <a:ext cx="1798400" cy="1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815200" y="4000000"/>
            <a:ext cx="1798400" cy="6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5200" y="4180000"/>
            <a:ext cx="1798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library.identify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5200" y="4600000"/>
            <a:ext cx="1678400" cy="1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cosine max</a:t>
            </a:r>
          </a:p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≥ threshold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9633600" y="4770000"/>
            <a:ext cx="80000" cy="16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33600" y="4000000"/>
            <a:ext cx="1798400" cy="1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A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733600" y="4000000"/>
            <a:ext cx="1798400" cy="6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33600" y="4180000"/>
            <a:ext cx="1798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→ result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93600" y="4600000"/>
            <a:ext cx="1678400" cy="1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50" b="0" i="0">
                <a:solidFill>
                  <a:srgbClr val="787882"/>
                </a:solidFill>
                <a:latin typeface="Helvetica"/>
              </a:rPr>
              <a:t>{pet_id, name, score}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0000" y="6388000"/>
            <a:ext cx="50000" cy="26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0000" y="6398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A57A8"/>
                </a:solidFill>
                <a:latin typeface="Menlo"/>
              </a:rPr>
              <a:t>pet-id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00000" y="6418000"/>
            <a:ext cx="919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Helvetica"/>
              </a:rPr>
              <a:t>§ 生态闭环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生态全景 · 技术联通图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pet-schema 契约 + pet-infra 运行时 + 7 流水线仓 + 1 独立工具 · 一图看全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6000" y="1900000"/>
            <a:ext cx="1540000" cy="12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435E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6000" y="1900000"/>
            <a:ext cx="1540000" cy="7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000" y="2070000"/>
            <a:ext cx="15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435EB8"/>
                </a:solidFill>
                <a:latin typeface="Menlo"/>
              </a:rPr>
              <a:t>pet-schema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000" y="2500000"/>
            <a:ext cx="142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3C404C"/>
                </a:solidFill>
                <a:latin typeface="Helvetica"/>
              </a:rPr>
              <a:t>Pydantic / Alembic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896000" y="2455000"/>
            <a:ext cx="100000" cy="14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06000" y="1900000"/>
            <a:ext cx="1540000" cy="12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9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06000" y="1900000"/>
            <a:ext cx="1540000" cy="7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06000" y="2070000"/>
            <a:ext cx="15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985A8"/>
                </a:solidFill>
                <a:latin typeface="Menlo"/>
              </a:rPr>
              <a:t>pet-data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000" y="2500000"/>
            <a:ext cx="142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3C404C"/>
                </a:solidFill>
                <a:latin typeface="Helvetica"/>
              </a:rPr>
              <a:t>FFmpeg / SQLite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556000" y="2455000"/>
            <a:ext cx="100000" cy="14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66000" y="1900000"/>
            <a:ext cx="1540000" cy="12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66000" y="1900000"/>
            <a:ext cx="1540000" cy="7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6000" y="2070000"/>
            <a:ext cx="15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6A29C"/>
                </a:solidFill>
                <a:latin typeface="Menlo"/>
              </a:rPr>
              <a:t>pet-annotation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6000" y="2500000"/>
            <a:ext cx="142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3C404C"/>
                </a:solidFill>
                <a:latin typeface="Helvetica"/>
              </a:rPr>
              <a:t>4 paradigm / Label Studio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216000" y="2455000"/>
            <a:ext cx="100000" cy="14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26000" y="1900000"/>
            <a:ext cx="1540000" cy="12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5AA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6000" y="1900000"/>
            <a:ext cx="1540000" cy="7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26000" y="2070000"/>
            <a:ext cx="15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5AA35E"/>
                </a:solidFill>
                <a:latin typeface="Menlo"/>
              </a:rPr>
              <a:t>pet-train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6000" y="2500000"/>
            <a:ext cx="142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3C404C"/>
                </a:solidFill>
                <a:latin typeface="Helvetica"/>
              </a:rPr>
              <a:t>LLaMA-Factory / PEFT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876000" y="2455000"/>
            <a:ext cx="100000" cy="14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86000" y="1900000"/>
            <a:ext cx="1540000" cy="12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8EA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86000" y="1900000"/>
            <a:ext cx="1540000" cy="7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86000" y="2070000"/>
            <a:ext cx="15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8EA43A"/>
                </a:solidFill>
                <a:latin typeface="Menlo"/>
              </a:rPr>
              <a:t>pet-eval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6000" y="2500000"/>
            <a:ext cx="142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3C404C"/>
                </a:solidFill>
                <a:latin typeface="Helvetica"/>
              </a:rPr>
              <a:t>HF / BERTScore / gate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536000" y="2455000"/>
            <a:ext cx="100000" cy="14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646000" y="1900000"/>
            <a:ext cx="1540000" cy="12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28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46000" y="1900000"/>
            <a:ext cx="1540000" cy="7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46000" y="2070000"/>
            <a:ext cx="15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28E2E"/>
                </a:solidFill>
                <a:latin typeface="Menlo"/>
              </a:rPr>
              <a:t>pet-quantize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06000" y="2500000"/>
            <a:ext cx="142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3C404C"/>
                </a:solidFill>
                <a:latin typeface="Helvetica"/>
              </a:rPr>
              <a:t>RKLLM / RKNN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0196000" y="2455000"/>
            <a:ext cx="100000" cy="14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06000" y="1900000"/>
            <a:ext cx="1540000" cy="12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25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306000" y="1900000"/>
            <a:ext cx="1540000" cy="7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06000" y="2070000"/>
            <a:ext cx="15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25E3E"/>
                </a:solidFill>
                <a:latin typeface="Menlo"/>
              </a:rPr>
              <a:t>pet-ota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6000" y="2500000"/>
            <a:ext cx="142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3C404C"/>
                </a:solidFill>
                <a:latin typeface="Helvetica"/>
              </a:rPr>
              <a:t>bsdiff4 / canary FSM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000" y="3410000"/>
            <a:ext cx="11500000" cy="55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6000" y="3500000"/>
            <a:ext cx="115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nlo"/>
              </a:rPr>
              <a:t>pet-infra · shared runtime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6000" y="3760000"/>
            <a:ext cx="115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C8CCD2"/>
                </a:solidFill>
                <a:latin typeface="Helvetica"/>
              </a:rPr>
              <a:t>mmengine Registry · Hydra compose · networkx DAG · ClearML · entry_points 发现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11000" y="3150000"/>
            <a:ext cx="10000" cy="26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71000" y="3150000"/>
            <a:ext cx="10000" cy="26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431000" y="3150000"/>
            <a:ext cx="10000" cy="26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91000" y="3150000"/>
            <a:ext cx="10000" cy="26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51000" y="3150000"/>
            <a:ext cx="10000" cy="26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411000" y="3150000"/>
            <a:ext cx="10000" cy="26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071000" y="3150000"/>
            <a:ext cx="10000" cy="26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6000" y="4130000"/>
            <a:ext cx="3600000" cy="54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96000" y="4130000"/>
            <a:ext cx="80000" cy="54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56000" y="4210000"/>
            <a:ext cx="32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7A57A8"/>
                </a:solidFill>
                <a:latin typeface="Menlo"/>
              </a:rPr>
              <a:t>pet-id · 独立 CLI 工具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56000" y="4410000"/>
            <a:ext cx="328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3C404C"/>
                </a:solidFill>
                <a:latin typeface="Helvetica"/>
              </a:rPr>
              <a:t>YOLOv10 · torchreid OSNet · sha256 content-address · 零 pet-* 运行时依赖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000" y="6258000"/>
            <a:ext cx="1087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箭头 = ModelCard 契约逐级传递 · 垂直连线 = pet-infra runtime 贯穿 7 仓 · 下沿独立 chip = pet-id（不参与 pipeline 主链，仅 matrix 登记）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Helvetica"/>
              </a:rPr>
              <a:t>§ 生态原则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设计哲学 · 为什么这套架构能闭环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5 条共通原则 · 覆盖依赖 / 发现 / 确定性 / 硬件 / 契约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900000"/>
            <a:ext cx="2014400" cy="3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900000"/>
            <a:ext cx="2014400" cy="1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0000" y="2120000"/>
            <a:ext cx="16144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367BD6"/>
                </a:solidFill>
                <a:latin typeface="Menl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000" y="2720000"/>
            <a:ext cx="1614400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A2A44"/>
                </a:solidFill>
                <a:latin typeface="Helvetica"/>
              </a:rPr>
              <a:t>契约单一真理源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0000" y="3340000"/>
            <a:ext cx="16144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i="1">
                <a:solidFill>
                  <a:srgbClr val="367BD6"/>
                </a:solidFill>
                <a:latin typeface="Menlo"/>
              </a:rPr>
              <a:t>pet-schema (Pydantic + Alembic)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0000" y="3900000"/>
            <a:ext cx="1614400" cy="1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所有跨仓类型住在一个仓；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8 仓 import pet_schema 即得；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链首零上游 → 不会版本协商地狱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74400" y="1900000"/>
            <a:ext cx="2014400" cy="3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74400" y="1900000"/>
            <a:ext cx="2014400" cy="1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74400" y="2120000"/>
            <a:ext cx="16144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6A29C"/>
                </a:solidFill>
                <a:latin typeface="Menl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4400" y="2720000"/>
            <a:ext cx="1614400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A2A44"/>
                </a:solidFill>
                <a:latin typeface="Helvetica"/>
              </a:rPr>
              <a:t>β peer-dep 依赖松耦合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4400" y="3340000"/>
            <a:ext cx="16144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i="1">
                <a:solidFill>
                  <a:srgbClr val="26A29C"/>
                </a:solidFill>
                <a:latin typeface="Menlo"/>
              </a:rPr>
              <a:t>pet-infra runtime 贯穿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4400" y="3900000"/>
            <a:ext cx="1614400" cy="1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不放 pyproject.dependencies；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CI step 1 显式装 matrix pin；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一处 bump 不扩散 7 个下游 diff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8800" y="1900000"/>
            <a:ext cx="2014400" cy="3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8800" y="1900000"/>
            <a:ext cx="2014400" cy="1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8800" y="2120000"/>
            <a:ext cx="16144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A83E"/>
                </a:solidFill>
                <a:latin typeface="Menl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8800" y="2720000"/>
            <a:ext cx="1614400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A2A44"/>
                </a:solidFill>
                <a:latin typeface="Helvetica"/>
              </a:rPr>
              <a:t>Registry + @register_module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8800" y="3340000"/>
            <a:ext cx="16144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i="1">
                <a:solidFill>
                  <a:srgbClr val="EDA83E"/>
                </a:solidFill>
                <a:latin typeface="Menlo"/>
              </a:rPr>
              <a:t>7 registries + entry_points 发现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8800" y="3900000"/>
            <a:ext cx="1614400" cy="1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每仓 plugin 装即注册；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orchestrator registry.build(type);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新增 plugin 无需改 pet-infra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3200" y="1900000"/>
            <a:ext cx="2014400" cy="3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03200" y="1900000"/>
            <a:ext cx="2014400" cy="10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3200" y="2120000"/>
            <a:ext cx="16144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28E2E"/>
                </a:solidFill>
                <a:latin typeface="Menlo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3200" y="2720000"/>
            <a:ext cx="1614400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A2A44"/>
                </a:solidFill>
                <a:latin typeface="Helvetica"/>
              </a:rPr>
              <a:t>内容寻址确定性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3200" y="3340000"/>
            <a:ext cx="16144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i="1">
                <a:solidFill>
                  <a:srgbClr val="C28E2E"/>
                </a:solidFill>
                <a:latin typeface="Menlo"/>
              </a:rPr>
              <a:t>sha256(config) · sha256(embedding)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3200" y="3900000"/>
            <a:ext cx="1614400" cy="1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stage_config_sha / card_id / pet_id；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跨 host 跨 dtype 同输入 → 同输出；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resume-from-cache + migration-safe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17600" y="1900000"/>
            <a:ext cx="2014400" cy="3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7600" y="1900000"/>
            <a:ext cx="2014400" cy="10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17600" y="2120000"/>
            <a:ext cx="16144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05E5E"/>
                </a:solidFill>
                <a:latin typeface="Menlo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17600" y="2720000"/>
            <a:ext cx="1614400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A2A44"/>
                </a:solidFill>
                <a:latin typeface="Helvetica"/>
              </a:rPr>
              <a:t>Dual-mode hardware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7600" y="3340000"/>
            <a:ext cx="1614400" cy="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i="1">
                <a:solidFill>
                  <a:srgbClr val="E05E5E"/>
                </a:solidFill>
                <a:latin typeface="Menlo"/>
              </a:rPr>
              <a:t>PC sim ↔ on-device ADB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7600" y="3900000"/>
            <a:ext cx="1614400" cy="1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RKLLMRunner / RKNNRunner 单一 class；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target=None 本地；target+device_id 真机；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硬件未到位即可全路径联调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横切关注点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依赖治理 · CI · 北极星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10 · 横切 / 依赖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依赖治理：3 种 pin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生态优化收敛：从 6 种 ad-hoc 统一到 3 种 disciplined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6000" y="1800000"/>
            <a:ext cx="3500000" cy="3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6000" y="1800000"/>
            <a:ext cx="3500000" cy="9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000" y="19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E05E5E"/>
                </a:solidFill>
                <a:latin typeface="Helvetica"/>
              </a:rPr>
              <a:t>α 硬 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6000" y="24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pyproject.dependencies 写 git URL @vX.Y.Z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6000" y="3080000"/>
            <a:ext cx="318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6000" y="3140000"/>
            <a:ext cx="31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适用仓库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000" y="3440000"/>
            <a:ext cx="318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pet-eval / pet-quantize / pet-ota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(signing extras excepted)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000" y="4350000"/>
            <a:ext cx="3180000" cy="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适合：稳定契约型依赖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如 pet-schema (consumers 当作数据类型)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每 tag bump 需显式改 pyproject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优势：pip 直装即可，CI 简单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000" y="1800000"/>
            <a:ext cx="3500000" cy="3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000" y="1800000"/>
            <a:ext cx="3500000" cy="9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6000" y="19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6A29C"/>
                </a:solidFill>
                <a:latin typeface="Helvetica"/>
              </a:rPr>
              <a:t>β peer-dep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6000" y="24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不在 pyproject.dependencies；CI Step-1 explicit install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6000" y="3080000"/>
            <a:ext cx="318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6000" y="3140000"/>
            <a:ext cx="31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适用仓库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6000" y="3440000"/>
            <a:ext cx="318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pet-infra / pet-data / pet-annotation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pet-train / pet-eval / pet-quantize / pet-ota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(相对 pet-infra 都是 β)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6000" y="4350000"/>
            <a:ext cx="3180000" cy="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适合：频繁迭代型 peer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如 pet-infra (版本常改)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delayed RuntimeError guard in register_all()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优势：裸 import 轻量 (IDE/静态分析)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46000" y="1800000"/>
            <a:ext cx="3500000" cy="3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46000" y="1800000"/>
            <a:ext cx="3500000" cy="9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6000" y="19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67BD6"/>
                </a:solidFill>
                <a:latin typeface="Helvetica"/>
              </a:rPr>
              <a:t>跨仓 plugin no-pin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6000" y="24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pyproject 写 `pet-xxx` 不带版本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06000" y="3080000"/>
            <a:ext cx="318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6000" y="3140000"/>
            <a:ext cx="31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适用仓库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6000" y="3440000"/>
            <a:ext cx="318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pet-eval → pet-train, pet-quantize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pet-ota[signing] → pet-quantize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6000" y="4350000"/>
            <a:ext cx="3180000" cy="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适合：跨仓 runtime plugin dep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版本由 matrix row 锁定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CI 显式装矩阵版本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优势：plugin 发现松耦合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10 · 横切 / 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CI Guard 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生态优化把 5 类 workflow 一致化到 9 仓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60000" y="1800000"/>
            <a:ext cx="172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0000" y="1850000"/>
            <a:ext cx="1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Menlo"/>
              </a:rPr>
              <a:t>ci.yml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0000" y="2080000"/>
            <a:ext cx="15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C8CCD2"/>
                </a:solidFill>
                <a:latin typeface="Helvetica"/>
              </a:rPr>
              <a:t>lint + mypy + pytest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80000" y="1800000"/>
            <a:ext cx="172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0000" y="1850000"/>
            <a:ext cx="1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Menlo"/>
              </a:rPr>
              <a:t>peer-dep-smoke.yml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000" y="2080000"/>
            <a:ext cx="15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C8CCD2"/>
                </a:solidFill>
                <a:latin typeface="Helvetica"/>
              </a:rPr>
              <a:t>独立装序 smoke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0000" y="1800000"/>
            <a:ext cx="172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80000" y="1850000"/>
            <a:ext cx="1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Menlo"/>
              </a:rPr>
              <a:t>no-wandb-residue.yml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80000" y="2080000"/>
            <a:ext cx="15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C8CCD2"/>
                </a:solidFill>
                <a:latin typeface="Helvetica"/>
              </a:rPr>
              <a:t>positive-list 扫 \bwandb\b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20000" y="1800000"/>
            <a:ext cx="172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0" y="1850000"/>
            <a:ext cx="1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Menlo"/>
              </a:rPr>
              <a:t>schema_guard.yml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0000" y="2080000"/>
            <a:ext cx="15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C8CCD2"/>
                </a:solidFill>
                <a:latin typeface="Helvetica"/>
              </a:rPr>
              <a:t>pet-schema dispatch 全链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40000" y="1800000"/>
            <a:ext cx="172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0000" y="1850000"/>
            <a:ext cx="1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Menlo"/>
              </a:rPr>
              <a:t>cross-repo-smoke.yml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0000" y="2080000"/>
            <a:ext cx="15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C8CCD2"/>
                </a:solidFill>
                <a:latin typeface="Helvetica"/>
              </a:rPr>
              <a:t>matrix row 装序验证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000" y="230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0000" y="2300000"/>
            <a:ext cx="100000" cy="38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0000" y="230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pet-schema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60000" y="230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60000" y="23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80000" y="230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80000" y="23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0000" y="230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0000" y="23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20000" y="230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0000" y="23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40000" y="230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40000" y="23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0000" y="268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0000" y="2680000"/>
            <a:ext cx="100000" cy="38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0000" y="268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pet-infra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60000" y="26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60000" y="26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80000" y="26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80000" y="26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00000" y="26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00000" y="26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0000" y="268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20000" y="26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0000" y="26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40000" y="26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0000" y="306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60000" y="3060000"/>
            <a:ext cx="100000" cy="38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0000" y="306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pet-data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60000" y="306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60000" y="30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080000" y="306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80000" y="30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00000" y="306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00000" y="30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20000" y="306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20000" y="30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40000" y="306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40000" y="30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0000" y="344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60000" y="3440000"/>
            <a:ext cx="100000" cy="38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0000" y="344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pet-annotation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60000" y="344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60000" y="34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80000" y="344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80000" y="34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00000" y="34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00000" y="34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520000" y="34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20000" y="34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40000" y="34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240000" y="34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000" y="382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0000" y="3820000"/>
            <a:ext cx="100000" cy="38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90000" y="382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pet-train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360000" y="382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60000" y="382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080000" y="382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80000" y="382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800000" y="382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800000" y="382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520000" y="382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20000" y="382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40000" y="382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40000" y="382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0000" y="420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60000" y="4200000"/>
            <a:ext cx="100000" cy="38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0000" y="420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pet-eval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360000" y="420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60000" y="42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80000" y="420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80000" y="42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800000" y="420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800000" y="42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0000" y="420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20000" y="42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240000" y="420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240000" y="42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0000" y="458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60000" y="4580000"/>
            <a:ext cx="100000" cy="3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90000" y="458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pet-quantize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360000" y="45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360000" y="45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080000" y="45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080000" y="45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800000" y="45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800000" y="45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520000" y="458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20000" y="45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240000" y="458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240000" y="45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60000" y="496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60000" y="4960000"/>
            <a:ext cx="100000" cy="38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90000" y="496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pet-ota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360000" y="496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360000" y="49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080000" y="496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080000" y="49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800000" y="496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800000" y="49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520000" y="496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520000" y="49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240000" y="496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240000" y="49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60000" y="534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60000" y="5340000"/>
            <a:ext cx="100000" cy="38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90000" y="534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pet-id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360000" y="534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360000" y="53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080000" y="53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080000" y="53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800000" y="534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800000" y="53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520000" y="53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520000" y="53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240000" y="53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240000" y="53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60000" y="6038000"/>
            <a:ext cx="1087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787882"/>
                </a:solidFill>
                <a:latin typeface="Helvetica"/>
              </a:rPr>
              <a:t>✓ = 已接入；— = 该仓无需要（如 pet-id 独立无 peer-dep / pet-schema 无下游 peer-dep smoke）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10 · 横切 / North Star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北极星四维度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生态优化 Phase 10 retrospective · 维持或提升，无退化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5400000" cy="1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800000"/>
            <a:ext cx="120000" cy="1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0000" y="1960000"/>
            <a:ext cx="508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Pluggability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0000" y="2360000"/>
            <a:ext cx="50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插件化程度</a:t>
            </a:r>
          </a:p>
        </p:txBody>
      </p:sp>
      <p:sp>
        <p:nvSpPr>
          <p:cNvPr id="11" name="Oval 10"/>
          <p:cNvSpPr/>
          <p:nvPr/>
        </p:nvSpPr>
        <p:spPr>
          <a:xfrm>
            <a:off x="4560000" y="1970000"/>
            <a:ext cx="200000" cy="20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10000" y="1970000"/>
            <a:ext cx="200000" cy="20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60000" y="1970000"/>
            <a:ext cx="200000" cy="20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10000" y="1970000"/>
            <a:ext cx="200000" cy="20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60000" y="1970000"/>
            <a:ext cx="200000" cy="20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000" y="2700000"/>
            <a:ext cx="49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7 registries 覆盖 TRAINERS · EVALUATORS · CONVERTERS · METRICS · DATASETS · STORAGE · OTA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每仓插件 entry-point 注册; orchestrator 发现加载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0000" y="1800000"/>
            <a:ext cx="5400000" cy="1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0000" y="1800000"/>
            <a:ext cx="120000" cy="18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000" y="1960000"/>
            <a:ext cx="508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Flexibility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000" y="2360000"/>
            <a:ext cx="50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配置灵活性</a:t>
            </a:r>
          </a:p>
        </p:txBody>
      </p:sp>
      <p:sp>
        <p:nvSpPr>
          <p:cNvPr id="21" name="Oval 20"/>
          <p:cNvSpPr/>
          <p:nvPr/>
        </p:nvSpPr>
        <p:spPr>
          <a:xfrm>
            <a:off x="10240000" y="1970000"/>
            <a:ext cx="200000" cy="20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490000" y="1970000"/>
            <a:ext cx="200000" cy="20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40000" y="1970000"/>
            <a:ext cx="200000" cy="20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990000" y="1970000"/>
            <a:ext cx="200000" cy="20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240000" y="1970000"/>
            <a:ext cx="200000" cy="20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0000" y="2700000"/>
            <a:ext cx="49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所有数值从 params.yaml 读（no-hardcode 铁律）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ExperimentRecipe.variations ablation sweep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Hydra defaults-list + override 组合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" y="3840000"/>
            <a:ext cx="5400000" cy="1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0000" y="3840000"/>
            <a:ext cx="120000" cy="18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0000" y="4000000"/>
            <a:ext cx="508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Extensibility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0" y="4400000"/>
            <a:ext cx="50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扩展容易程度</a:t>
            </a:r>
          </a:p>
        </p:txBody>
      </p:sp>
      <p:sp>
        <p:nvSpPr>
          <p:cNvPr id="31" name="Oval 30"/>
          <p:cNvSpPr/>
          <p:nvPr/>
        </p:nvSpPr>
        <p:spPr>
          <a:xfrm>
            <a:off x="4560000" y="4010000"/>
            <a:ext cx="200000" cy="20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10000" y="4010000"/>
            <a:ext cx="200000" cy="20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60000" y="4010000"/>
            <a:ext cx="200000" cy="20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10000" y="4010000"/>
            <a:ext cx="200000" cy="20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560000" y="4010000"/>
            <a:ext cx="200000" cy="20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0000" y="4740000"/>
            <a:ext cx="49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每仓 architecture.md §5 显式说明加 plugin 步骤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3 种 pin 模式覆盖所有 dependency 形态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cross-repo-smoke-install 保证扩展不破 matrix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0000" y="3840000"/>
            <a:ext cx="5400000" cy="1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40000" y="3840000"/>
            <a:ext cx="120000" cy="180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0000" y="4000000"/>
            <a:ext cx="508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Comparability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0000" y="4400000"/>
            <a:ext cx="50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实验可比性</a:t>
            </a:r>
          </a:p>
        </p:txBody>
      </p:sp>
      <p:sp>
        <p:nvSpPr>
          <p:cNvPr id="41" name="Oval 40"/>
          <p:cNvSpPr/>
          <p:nvPr/>
        </p:nvSpPr>
        <p:spPr>
          <a:xfrm>
            <a:off x="10240000" y="4010000"/>
            <a:ext cx="200000" cy="20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490000" y="4010000"/>
            <a:ext cx="200000" cy="20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740000" y="4010000"/>
            <a:ext cx="200000" cy="20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990000" y="4010000"/>
            <a:ext cx="200000" cy="20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40000" y="4010000"/>
            <a:ext cx="200000" cy="20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0000" y="4740000"/>
            <a:ext cx="49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ClearML 单一 tracker; W&amp;B 物理移除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ModelCard 全链贯穿，metrics 可跨 run 对比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Replay 机制：ModelCard → 同一 config 重跑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11 · 现状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Phase 10 生态优化收官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10 Phase · 9 repo · 单日 sprint · DoD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000" y="2480000"/>
            <a:ext cx="10400000" cy="2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91000" y="2410000"/>
            <a:ext cx="160000" cy="160000"/>
          </a:xfrm>
          <a:prstGeom prst="ellipse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435EB8"/>
                </a:solidFill>
                <a:latin typeface="Helvetica"/>
              </a:rPr>
              <a:t>pre</a:t>
            </a:r>
          </a:p>
        </p:txBody>
      </p:sp>
      <p:sp>
        <p:nvSpPr>
          <p:cNvPr id="12" name="Oval 11"/>
          <p:cNvSpPr/>
          <p:nvPr/>
        </p:nvSpPr>
        <p:spPr>
          <a:xfrm>
            <a:off x="2341000" y="2410000"/>
            <a:ext cx="160000" cy="160000"/>
          </a:xfrm>
          <a:prstGeom prst="ellipse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pet-infra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2F6AB8"/>
                </a:solidFill>
                <a:latin typeface="Helvetica"/>
              </a:rPr>
              <a:t>v2.6.0</a:t>
            </a:r>
          </a:p>
        </p:txBody>
      </p:sp>
      <p:sp>
        <p:nvSpPr>
          <p:cNvPr id="16" name="Oval 15"/>
          <p:cNvSpPr/>
          <p:nvPr/>
        </p:nvSpPr>
        <p:spPr>
          <a:xfrm>
            <a:off x="3391000" y="2410000"/>
            <a:ext cx="160000" cy="160000"/>
          </a:xfrm>
          <a:prstGeom prst="ellipse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2985A8"/>
                </a:solidFill>
                <a:latin typeface="Helvetica"/>
              </a:rPr>
              <a:t>v1.3.0</a:t>
            </a:r>
          </a:p>
        </p:txBody>
      </p:sp>
      <p:sp>
        <p:nvSpPr>
          <p:cNvPr id="20" name="Oval 19"/>
          <p:cNvSpPr/>
          <p:nvPr/>
        </p:nvSpPr>
        <p:spPr>
          <a:xfrm>
            <a:off x="4441000" y="2410000"/>
            <a:ext cx="160000" cy="16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pet-annot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4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26A29C"/>
                </a:solidFill>
                <a:latin typeface="Helvetica"/>
              </a:rPr>
              <a:t>v2.1.1</a:t>
            </a:r>
          </a:p>
        </p:txBody>
      </p:sp>
      <p:sp>
        <p:nvSpPr>
          <p:cNvPr id="24" name="Oval 23"/>
          <p:cNvSpPr/>
          <p:nvPr/>
        </p:nvSpPr>
        <p:spPr>
          <a:xfrm>
            <a:off x="5491000" y="2410000"/>
            <a:ext cx="160000" cy="160000"/>
          </a:xfrm>
          <a:prstGeom prst="ellipse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9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pet-train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5AA35E"/>
                </a:solidFill>
                <a:latin typeface="Helvetica"/>
              </a:rPr>
              <a:t>v2.0.2</a:t>
            </a:r>
          </a:p>
        </p:txBody>
      </p:sp>
      <p:sp>
        <p:nvSpPr>
          <p:cNvPr id="28" name="Oval 27"/>
          <p:cNvSpPr/>
          <p:nvPr/>
        </p:nvSpPr>
        <p:spPr>
          <a:xfrm>
            <a:off x="6541000" y="2410000"/>
            <a:ext cx="160000" cy="160000"/>
          </a:xfrm>
          <a:prstGeom prst="ellipse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pet-eval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8EA43A"/>
                </a:solidFill>
                <a:latin typeface="Helvetica"/>
              </a:rPr>
              <a:t>v2.3.0</a:t>
            </a:r>
          </a:p>
        </p:txBody>
      </p:sp>
      <p:sp>
        <p:nvSpPr>
          <p:cNvPr id="32" name="Oval 31"/>
          <p:cNvSpPr/>
          <p:nvPr/>
        </p:nvSpPr>
        <p:spPr>
          <a:xfrm>
            <a:off x="7591000" y="2410000"/>
            <a:ext cx="160000" cy="160000"/>
          </a:xfrm>
          <a:prstGeom prst="ellipse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9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pet-quant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9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C28E2E"/>
                </a:solidFill>
                <a:latin typeface="Helvetica"/>
              </a:rPr>
              <a:t>v2.1.0</a:t>
            </a:r>
          </a:p>
        </p:txBody>
      </p:sp>
      <p:sp>
        <p:nvSpPr>
          <p:cNvPr id="36" name="Oval 35"/>
          <p:cNvSpPr/>
          <p:nvPr/>
        </p:nvSpPr>
        <p:spPr>
          <a:xfrm>
            <a:off x="8641000" y="2410000"/>
            <a:ext cx="160000" cy="160000"/>
          </a:xfrm>
          <a:prstGeom prst="ellipse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4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pet-ota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C25E3E"/>
                </a:solidFill>
                <a:latin typeface="Helvetica"/>
              </a:rPr>
              <a:t>v2.2.0</a:t>
            </a:r>
          </a:p>
        </p:txBody>
      </p:sp>
      <p:sp>
        <p:nvSpPr>
          <p:cNvPr id="40" name="Oval 39"/>
          <p:cNvSpPr/>
          <p:nvPr/>
        </p:nvSpPr>
        <p:spPr>
          <a:xfrm>
            <a:off x="9691000" y="2410000"/>
            <a:ext cx="160000" cy="160000"/>
          </a:xfrm>
          <a:prstGeom prst="ellipse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9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7A57A8"/>
                </a:solidFill>
                <a:latin typeface="Helvetica"/>
              </a:rPr>
              <a:t>v0.2.0</a:t>
            </a:r>
          </a:p>
        </p:txBody>
      </p:sp>
      <p:sp>
        <p:nvSpPr>
          <p:cNvPr id="44" name="Oval 43"/>
          <p:cNvSpPr/>
          <p:nvPr/>
        </p:nvSpPr>
        <p:spPr>
          <a:xfrm>
            <a:off x="10741000" y="2410000"/>
            <a:ext cx="160000" cy="16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4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4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closeout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4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367BD6"/>
                </a:solidFill>
                <a:latin typeface="Helvetica"/>
              </a:rPr>
              <a:t>matrix</a:t>
            </a:r>
          </a:p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367BD6"/>
                </a:solidFill>
                <a:latin typeface="Helvetica"/>
              </a:rPr>
              <a:t>2026.10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0000" y="4700000"/>
            <a:ext cx="10872000" cy="90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0000" y="4840000"/>
            <a:ext cx="2174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67BD6"/>
                </a:solidFill>
                <a:latin typeface="Helvetica"/>
              </a:rPr>
              <a:t>14+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0000" y="5280000"/>
            <a:ext cx="21744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feature PR 合并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34400" y="4840000"/>
            <a:ext cx="2174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67BD6"/>
                </a:solidFill>
                <a:latin typeface="Helvetica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34400" y="5280000"/>
            <a:ext cx="21744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dev→main sync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8800" y="4840000"/>
            <a:ext cx="2174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67BD6"/>
                </a:solidFill>
                <a:latin typeface="Helvetica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08800" y="5280000"/>
            <a:ext cx="21744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workflow bug 修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83200" y="4840000"/>
            <a:ext cx="2174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67BD6"/>
                </a:solidFill>
                <a:latin typeface="Helvetica"/>
              </a:rPr>
              <a:t>~533 LOC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83200" y="5280000"/>
            <a:ext cx="21744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pet-eval 死代码删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57600" y="4840000"/>
            <a:ext cx="2174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67BD6"/>
                </a:solidFill>
                <a:latin typeface="Helvetica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57600" y="5280000"/>
            <a:ext cx="21744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open PR 收官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11 · 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Phase 5+ 硬件 · Follow-ups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retrospective §8 · 9 条（3 条 Phase 4 遗留 + 6 条本轮新增）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5170000" cy="9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0000" y="1960000"/>
            <a:ext cx="477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E05E5E"/>
                </a:solidFill>
                <a:latin typeface="Helvetica"/>
              </a:rPr>
              <a:t>硬件阻塞项 · Phase 5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000" y="2440000"/>
            <a:ext cx="4770000" cy="3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RK3576 单元 + self-hosted runner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Phase 5 核心前提；解锁所有 --hardware 路径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quantize_validate.yml 真跑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Phase 7 修了死调用；硬件到位第一步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canary rollout 真机测试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pet-ota FSM 本地 sim 已验；真机 48h 观察窗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RKNN/RKLLM 实测 latency P95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当前 matrix 有 threshold 无测量值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0000" y="1800000"/>
            <a:ext cx="5170000" cy="9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000" y="1960000"/>
            <a:ext cx="477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EDA83E"/>
                </a:solidFill>
                <a:latin typeface="Helvetica"/>
              </a:rPr>
              <a:t>可并行推进 · 不等硬件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0000" y="2440000"/>
            <a:ext cx="4770000" cy="3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pet-schema __version__ 属性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Phase 10 修 workflow 时发现缺失；加 + 同 parity test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SFT→DPO composed recipe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当前只有 SFT 顶层 recipe；拼两 stage 5 分钟事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pet-ota signing-smoke CI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跑一次带 [signing] extras 装矩阵版 pet-quantize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pet-id heavy-backends CI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pose + narrative + tracker extras 独立 job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pet-eval _FALLBACK_OUTPUT dynamic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从 pet_schema defaults 动态生成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000" y="6418000"/>
            <a:ext cx="1123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0000" y="2600000"/>
            <a:ext cx="11000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一切就绪。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0000" y="3700000"/>
            <a:ext cx="110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9 repos · tagged · main CI green · zero open PR</a:t>
            </a:r>
          </a:p>
        </p:txBody>
      </p:sp>
      <p:sp>
        <p:nvSpPr>
          <p:cNvPr id="5" name="Rectangle 4"/>
          <p:cNvSpPr/>
          <p:nvPr/>
        </p:nvSpPr>
        <p:spPr>
          <a:xfrm>
            <a:off x="5296000" y="4600000"/>
            <a:ext cx="1600000" cy="8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0000" y="4800000"/>
            <a:ext cx="11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67BD6"/>
                </a:solidFill>
                <a:latin typeface="Menlo"/>
              </a:rPr>
              <a:t>pet-infra/docs/architecture/OVERVIEW.md · compatibility_matrix.yaml: 2026.10-ecosystem-cleanup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