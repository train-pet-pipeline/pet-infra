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700000"/>
            <a:ext cx="12192000" cy="8000"/>
          </a:xfrm>
          <a:prstGeom prst="rect">
            <a:avLst/>
          </a:prstGeom>
          <a:solidFill>
            <a:srgbClr val="367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0000" y="2000000"/>
            <a:ext cx="80000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367BD6"/>
                </a:solidFill>
                <a:latin typeface="Helvetica"/>
              </a:rPr>
              <a:t>TECHNICAL OVERVIEW · TRAIN-PET-PIPELINE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0000" y="2460000"/>
            <a:ext cx="10000000" cy="11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 i="0">
                <a:solidFill>
                  <a:srgbClr val="FFFFFF"/>
                </a:solidFill>
                <a:latin typeface="Helvetica"/>
              </a:rPr>
              <a:t>智能宠物喂食器 AI 流水线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0000" y="3550000"/>
            <a:ext cx="10000000" cy="6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1">
                <a:solidFill>
                  <a:srgbClr val="C8CCD2"/>
                </a:solidFill>
                <a:latin typeface="Helvetica"/>
              </a:rPr>
              <a:t>9-repo monorepo · VLM + Audio + On-device Deployment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0000" y="5050000"/>
            <a:ext cx="100000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367BD6"/>
                </a:solidFill>
                <a:latin typeface="Menlo"/>
              </a:rPr>
              <a:t>matrix 2026.10-ecosystem-cleanup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0000" y="5420000"/>
            <a:ext cx="100000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787882"/>
                </a:solidFill>
                <a:latin typeface="Helvetica"/>
              </a:rPr>
              <a:t>Post-Phase-10 ecosystem optimization closeout · 2026-04-23</a:t>
            </a:r>
          </a:p>
        </p:txBody>
      </p:sp>
      <p:sp>
        <p:nvSpPr>
          <p:cNvPr id="9" name="Rectangle 8"/>
          <p:cNvSpPr/>
          <p:nvPr/>
        </p:nvSpPr>
        <p:spPr>
          <a:xfrm>
            <a:off x="10592000" y="800000"/>
            <a:ext cx="800000" cy="8000"/>
          </a:xfrm>
          <a:prstGeom prst="rect">
            <a:avLst/>
          </a:prstGeom>
          <a:solidFill>
            <a:srgbClr val="367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592000" y="900000"/>
            <a:ext cx="400000" cy="4000"/>
          </a:xfrm>
          <a:prstGeom prst="rect">
            <a:avLst/>
          </a:prstGeom>
          <a:solidFill>
            <a:srgbClr val="787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0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0000" y="700000"/>
            <a:ext cx="100000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367BD6"/>
                </a:solidFill>
                <a:latin typeface="Helvetica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0000" y="1150000"/>
            <a:ext cx="11500000" cy="15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1A2A44"/>
                </a:solidFill>
                <a:latin typeface="Helvetica"/>
              </a:rPr>
              <a:t>养宠家庭最大的智能化缺口：</a:t>
            </a:r>
          </a:p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1A2A44"/>
                </a:solidFill>
                <a:latin typeface="Helvetica"/>
              </a:rPr>
              <a:t>摄像头能看见，却看不懂。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46000" y="3700000"/>
            <a:ext cx="3500000" cy="220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6000" y="3700000"/>
            <a:ext cx="3500000" cy="80000"/>
          </a:xfrm>
          <a:prstGeom prst="rect">
            <a:avLst/>
          </a:prstGeom>
          <a:solidFill>
            <a:srgbClr val="E05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6000" y="3950000"/>
            <a:ext cx="1500000" cy="6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E05E5E"/>
                </a:solidFill>
                <a:latin typeface="Menlo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6000" y="4600000"/>
            <a:ext cx="2940000" cy="4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A2A44"/>
                </a:solidFill>
                <a:latin typeface="Helvetica"/>
              </a:rPr>
              <a:t>监控盲区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6000" y="5100000"/>
            <a:ext cx="2940000" cy="7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3C404C"/>
                </a:solidFill>
                <a:latin typeface="Helvetica"/>
              </a:rPr>
              <a:t>传统 IP cam 只记录画面；是不是在吃饭 / 有没有呕吐 /</a:t>
            </a:r>
          </a:p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3C404C"/>
                </a:solidFill>
                <a:latin typeface="Helvetica"/>
              </a:rPr>
              <a:t>情绪是否低落，需要主人自己看回放判断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6000" y="3700000"/>
            <a:ext cx="3500000" cy="220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6000" y="3700000"/>
            <a:ext cx="3500000" cy="80000"/>
          </a:xfrm>
          <a:prstGeom prst="rect">
            <a:avLst/>
          </a:prstGeom>
          <a:solidFill>
            <a:srgbClr val="EDA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26000" y="3950000"/>
            <a:ext cx="1500000" cy="6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EDA83E"/>
                </a:solidFill>
                <a:latin typeface="Menlo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26000" y="4600000"/>
            <a:ext cx="2940000" cy="4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A2A44"/>
                </a:solidFill>
                <a:latin typeface="Helvetica"/>
              </a:rPr>
              <a:t>异常事后发现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6000" y="5100000"/>
            <a:ext cx="2940000" cy="7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3C404C"/>
                </a:solidFill>
                <a:latin typeface="Helvetica"/>
              </a:rPr>
              <a:t>呕吐、拒食、行为异常往往延时几小时才被察觉；</a:t>
            </a:r>
          </a:p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3C404C"/>
                </a:solidFill>
                <a:latin typeface="Helvetica"/>
              </a:rPr>
              <a:t>急症（异物 / 中毒 / 胰腺炎）黄金窗口错失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46000" y="3700000"/>
            <a:ext cx="3500000" cy="220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46000" y="3700000"/>
            <a:ext cx="3500000" cy="80000"/>
          </a:xfrm>
          <a:prstGeom prst="rect">
            <a:avLst/>
          </a:prstGeom>
          <a:solidFill>
            <a:srgbClr val="367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26000" y="3950000"/>
            <a:ext cx="1500000" cy="6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367BD6"/>
                </a:solidFill>
                <a:latin typeface="Menlo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26000" y="4600000"/>
            <a:ext cx="2940000" cy="4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A2A44"/>
                </a:solidFill>
                <a:latin typeface="Helvetica"/>
              </a:rPr>
              <a:t>投喂与状态脱节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26000" y="5100000"/>
            <a:ext cx="2940000" cy="7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3C404C"/>
                </a:solidFill>
                <a:latin typeface="Helvetica"/>
              </a:rPr>
              <a:t>现有喂食器靠定时；宠物状态（刚吐完 / 正在吃 / 外出）</a:t>
            </a:r>
          </a:p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3C404C"/>
                </a:solidFill>
                <a:latin typeface="Helvetica"/>
              </a:rPr>
              <a:t>无法反馈投喂策略。IoT ≠ 智能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0000" y="6418000"/>
            <a:ext cx="50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787882"/>
                </a:solidFill>
                <a:latin typeface="Helvetica"/>
              </a:rPr>
              <a:t>Train-Pet-Pipeline · Technical Overview · matrix 2026.10-ecosystem-cleanup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0000"/>
          </a:xfrm>
          <a:prstGeom prst="rect">
            <a:avLst/>
          </a:prstGeom>
          <a:solidFill>
            <a:srgbClr val="367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60000" y="200000"/>
            <a:ext cx="2000000" cy="3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367BD6"/>
                </a:solidFill>
                <a:latin typeface="Helvetica"/>
              </a:rPr>
              <a:t>MARKET &amp; TIMING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0000" y="420000"/>
            <a:ext cx="11272000" cy="6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1A2A44"/>
                </a:solidFill>
                <a:latin typeface="Helvetica"/>
              </a:rPr>
              <a:t>市场概况 · 为什么是现在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0000" y="1020000"/>
            <a:ext cx="112720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787882"/>
                </a:solidFill>
                <a:latin typeface="Helvetica"/>
              </a:rPr>
              <a:t>宠物经济规模 × 端侧 AI 成熟期 = 新一代智能硬件机会窗</a:t>
            </a:r>
          </a:p>
        </p:txBody>
      </p:sp>
      <p:sp>
        <p:nvSpPr>
          <p:cNvPr id="6" name="Rectangle 5"/>
          <p:cNvSpPr/>
          <p:nvPr/>
        </p:nvSpPr>
        <p:spPr>
          <a:xfrm>
            <a:off x="460000" y="1460000"/>
            <a:ext cx="11272000" cy="15000"/>
          </a:xfrm>
          <a:prstGeom prst="rect">
            <a:avLst/>
          </a:prstGeom>
          <a:solidFill>
            <a:srgbClr val="C8C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60000" y="1800000"/>
            <a:ext cx="5500000" cy="260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60000" y="1800000"/>
            <a:ext cx="110000" cy="2600000"/>
          </a:xfrm>
          <a:prstGeom prst="rect">
            <a:avLst/>
          </a:prstGeom>
          <a:solidFill>
            <a:srgbClr val="E05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0000" y="2000000"/>
            <a:ext cx="5100000" cy="4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E05E5E"/>
                </a:solidFill>
                <a:latin typeface="Helvetica"/>
              </a:rPr>
              <a:t>中国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0000" y="2520000"/>
            <a:ext cx="51000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3C404C"/>
                </a:solidFill>
                <a:latin typeface="Helvetica"/>
              </a:rPr>
              <a:t>千亿级别 · 宠物智能硬件年增双位数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0000" y="3080000"/>
            <a:ext cx="5100000" cy="12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E05E5E"/>
                </a:solidFill>
                <a:latin typeface="Helvetica"/>
              </a:rPr>
              <a:t>▪  </a:t>
            </a:r>
            <a:r>
              <a:rPr sz="1300">
                <a:solidFill>
                  <a:srgbClr val="1A2A44"/>
                </a:solidFill>
                <a:latin typeface="Helvetica"/>
              </a:rPr>
              <a:t>养宠家庭渗透率 持续上升</a:t>
            </a:r>
          </a:p>
          <a:p>
            <a:pPr algn="l">
              <a:lnSpc>
                <a:spcPct val="135000"/>
              </a:lnSpc>
            </a:pPr>
            <a:r>
              <a:rPr sz="1300" b="1">
                <a:solidFill>
                  <a:srgbClr val="E05E5E"/>
                </a:solidFill>
                <a:latin typeface="Helvetica"/>
              </a:rPr>
              <a:t>▪  </a:t>
            </a:r>
            <a:r>
              <a:rPr sz="1300">
                <a:solidFill>
                  <a:srgbClr val="1A2A44"/>
                </a:solidFill>
                <a:latin typeface="Helvetica"/>
              </a:rPr>
              <a:t>宠物经济年规模：千亿元量级</a:t>
            </a:r>
          </a:p>
          <a:p>
            <a:pPr algn="l">
              <a:lnSpc>
                <a:spcPct val="135000"/>
              </a:lnSpc>
            </a:pPr>
            <a:r>
              <a:rPr sz="1300" b="1">
                <a:solidFill>
                  <a:srgbClr val="E05E5E"/>
                </a:solidFill>
                <a:latin typeface="Helvetica"/>
              </a:rPr>
              <a:t>▪  </a:t>
            </a:r>
            <a:r>
              <a:rPr sz="1300">
                <a:solidFill>
                  <a:srgbClr val="1A2A44"/>
                </a:solidFill>
                <a:latin typeface="Helvetica"/>
              </a:rPr>
              <a:t>智能宠物家居品类：年增 20 – 30%</a:t>
            </a:r>
          </a:p>
          <a:p>
            <a:pPr algn="l">
              <a:lnSpc>
                <a:spcPct val="135000"/>
              </a:lnSpc>
            </a:pPr>
            <a:r>
              <a:rPr sz="1300" b="1">
                <a:solidFill>
                  <a:srgbClr val="E05E5E"/>
                </a:solidFill>
                <a:latin typeface="Helvetica"/>
              </a:rPr>
              <a:t>▪  </a:t>
            </a:r>
            <a:r>
              <a:rPr sz="1300">
                <a:solidFill>
                  <a:srgbClr val="1A2A44"/>
                </a:solidFill>
                <a:latin typeface="Helvetica"/>
              </a:rPr>
              <a:t>一线城市高端用户愿付费：健康 / 行为管理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60000" y="1800000"/>
            <a:ext cx="5500000" cy="260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60000" y="1800000"/>
            <a:ext cx="110000" cy="2600000"/>
          </a:xfrm>
          <a:prstGeom prst="rect">
            <a:avLst/>
          </a:prstGeom>
          <a:solidFill>
            <a:srgbClr val="26A2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40000" y="2000000"/>
            <a:ext cx="5100000" cy="4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26A29C"/>
                </a:solidFill>
                <a:latin typeface="Helvetica"/>
              </a:rPr>
              <a:t>海外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40000" y="2520000"/>
            <a:ext cx="51000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3C404C"/>
                </a:solidFill>
                <a:latin typeface="Helvetica"/>
              </a:rPr>
              <a:t>北美/欧洲成熟市场 · AI 是下一增长轴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40000" y="3080000"/>
            <a:ext cx="5100000" cy="12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26A29C"/>
                </a:solidFill>
                <a:latin typeface="Helvetica"/>
              </a:rPr>
              <a:t>▪  </a:t>
            </a:r>
            <a:r>
              <a:rPr sz="1300">
                <a:solidFill>
                  <a:srgbClr val="1A2A44"/>
                </a:solidFill>
                <a:latin typeface="Helvetica"/>
              </a:rPr>
              <a:t>北美养宠渗透率 &gt; 60%（全球最高）</a:t>
            </a:r>
          </a:p>
          <a:p>
            <a:pPr algn="l">
              <a:lnSpc>
                <a:spcPct val="135000"/>
              </a:lnSpc>
            </a:pPr>
            <a:r>
              <a:rPr sz="1300" b="1">
                <a:solidFill>
                  <a:srgbClr val="26A29C"/>
                </a:solidFill>
                <a:latin typeface="Helvetica"/>
              </a:rPr>
              <a:t>▪  </a:t>
            </a:r>
            <a:r>
              <a:rPr sz="1300">
                <a:solidFill>
                  <a:srgbClr val="1A2A44"/>
                </a:solidFill>
                <a:latin typeface="Helvetica"/>
              </a:rPr>
              <a:t>人均宠物支出数倍于亚洲</a:t>
            </a:r>
          </a:p>
          <a:p>
            <a:pPr algn="l">
              <a:lnSpc>
                <a:spcPct val="135000"/>
              </a:lnSpc>
            </a:pPr>
            <a:r>
              <a:rPr sz="1300" b="1">
                <a:solidFill>
                  <a:srgbClr val="26A29C"/>
                </a:solidFill>
                <a:latin typeface="Helvetica"/>
              </a:rPr>
              <a:t>▪  </a:t>
            </a:r>
            <a:r>
              <a:rPr sz="1300">
                <a:solidFill>
                  <a:srgbClr val="1A2A44"/>
                </a:solidFill>
                <a:latin typeface="Helvetica"/>
              </a:rPr>
              <a:t>Pet tech 板块获 VC 持续加注</a:t>
            </a:r>
          </a:p>
          <a:p>
            <a:pPr algn="l">
              <a:lnSpc>
                <a:spcPct val="135000"/>
              </a:lnSpc>
            </a:pPr>
            <a:r>
              <a:rPr sz="1300" b="1">
                <a:solidFill>
                  <a:srgbClr val="26A29C"/>
                </a:solidFill>
                <a:latin typeface="Helvetica"/>
              </a:rPr>
              <a:t>▪  </a:t>
            </a:r>
            <a:r>
              <a:rPr sz="1300">
                <a:solidFill>
                  <a:srgbClr val="1A2A44"/>
                </a:solidFill>
                <a:latin typeface="Helvetica"/>
              </a:rPr>
              <a:t>智能摄像头 / 猫砂盆已 commodity，AI 差异化是新维度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0000" y="4680000"/>
            <a:ext cx="10872000" cy="1100000"/>
          </a:xfrm>
          <a:prstGeom prst="rect">
            <a:avLst/>
          </a:prstGeom>
          <a:solidFill>
            <a:srgbClr val="1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0000" y="4820000"/>
            <a:ext cx="60000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367BD6"/>
                </a:solidFill>
                <a:latin typeface="Helvetica"/>
              </a:rPr>
              <a:t>WHY NOW · 三个因素第一次合流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0000" y="5200000"/>
            <a:ext cx="3397333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367BD6"/>
                </a:solidFill>
                <a:latin typeface="Menlo"/>
              </a:rPr>
              <a:t>1. VLM 可用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0000" y="5510000"/>
            <a:ext cx="3397333" cy="5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C8CCD2"/>
                </a:solidFill>
                <a:latin typeface="Helvetica"/>
              </a:rPr>
              <a:t>Qwen2-VL / LLaVA 等开源 VLM 2023-24 成熟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C8CCD2"/>
                </a:solidFill>
                <a:latin typeface="Helvetica"/>
              </a:rPr>
              <a:t>可在端侧量化后跑行为理解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7333" y="5200000"/>
            <a:ext cx="3397333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367BD6"/>
                </a:solidFill>
                <a:latin typeface="Menlo"/>
              </a:rPr>
              <a:t>2. 端侧芯片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37333" y="5510000"/>
            <a:ext cx="3397333" cy="5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C8CCD2"/>
                </a:solidFill>
                <a:latin typeface="Helvetica"/>
              </a:rPr>
              <a:t>RK3576 / 海思 / 高通 等 NPU 量产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C8CCD2"/>
                </a:solidFill>
                <a:latin typeface="Helvetica"/>
              </a:rPr>
              <a:t>4-6 TOPS 满足 VLM + 音频多模态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54666" y="5200000"/>
            <a:ext cx="3397333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367BD6"/>
                </a:solidFill>
                <a:latin typeface="Menlo"/>
              </a:rPr>
              <a:t>3. 消费需求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54666" y="5510000"/>
            <a:ext cx="3397333" cy="5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C8CCD2"/>
                </a:solidFill>
                <a:latin typeface="Helvetica"/>
              </a:rPr>
              <a:t>主人要离线 / 低延迟 / 隐私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C8CCD2"/>
                </a:solidFill>
                <a:latin typeface="Helvetica"/>
              </a:rPr>
              <a:t>云端方案开始被拒绝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0000" y="6418000"/>
            <a:ext cx="50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787882"/>
                </a:solidFill>
                <a:latin typeface="Helvetica"/>
              </a:rPr>
              <a:t>Train-Pet-Pipeline · Technical Overview · matrix 2026.10-ecosystem-cleanup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0000"/>
          </a:xfrm>
          <a:prstGeom prst="rect">
            <a:avLst/>
          </a:prstGeom>
          <a:solidFill>
            <a:srgbClr val="367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60000" y="200000"/>
            <a:ext cx="2000000" cy="3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367BD6"/>
                </a:solidFill>
                <a:latin typeface="Helvetica"/>
              </a:rPr>
              <a:t>COMPETITIVE LANDSCAPE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0000" y="420000"/>
            <a:ext cx="11272000" cy="6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1A2A44"/>
                </a:solidFill>
                <a:latin typeface="Helvetica"/>
              </a:rPr>
              <a:t>竞品定位 · 2×2 Positioning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0000" y="1020000"/>
            <a:ext cx="112720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787882"/>
                </a:solidFill>
                <a:latin typeface="Helvetica"/>
              </a:rPr>
              <a:t>X 轴 · AI 能力深度　|　Y 轴 · 部署位置</a:t>
            </a:r>
          </a:p>
        </p:txBody>
      </p:sp>
      <p:sp>
        <p:nvSpPr>
          <p:cNvPr id="6" name="Rectangle 5"/>
          <p:cNvSpPr/>
          <p:nvPr/>
        </p:nvSpPr>
        <p:spPr>
          <a:xfrm>
            <a:off x="460000" y="1460000"/>
            <a:ext cx="11272000" cy="15000"/>
          </a:xfrm>
          <a:prstGeom prst="rect">
            <a:avLst/>
          </a:prstGeom>
          <a:solidFill>
            <a:srgbClr val="C8C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400000" y="1850000"/>
            <a:ext cx="7400000" cy="40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7878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100000" y="1850000"/>
            <a:ext cx="3000" cy="4000000"/>
          </a:xfrm>
          <a:prstGeom prst="rect">
            <a:avLst/>
          </a:prstGeom>
          <a:solidFill>
            <a:srgbClr val="C8C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400000" y="3850000"/>
            <a:ext cx="7400000" cy="3000"/>
          </a:xfrm>
          <a:prstGeom prst="rect">
            <a:avLst/>
          </a:prstGeom>
          <a:solidFill>
            <a:srgbClr val="C8C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00000" y="5990000"/>
            <a:ext cx="7400000" cy="3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787882"/>
                </a:solidFill>
                <a:latin typeface="Helvetica"/>
              </a:rPr>
              <a:t>AI 能力深度  →  基础检测 · · · RFID · · · 云端分类 · · · 端侧 VLM + 多模态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0000" y="1930000"/>
            <a:ext cx="1800000" cy="2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1">
                <a:solidFill>
                  <a:srgbClr val="787882"/>
                </a:solidFill>
                <a:latin typeface="Helvetica"/>
              </a:rPr>
              <a:t>☁️  云端部署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0000" y="5450000"/>
            <a:ext cx="1800000" cy="2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1">
                <a:solidFill>
                  <a:srgbClr val="787882"/>
                </a:solidFill>
                <a:latin typeface="Helvetica"/>
              </a:rPr>
              <a:t>📟  端侧部署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80000" y="1930000"/>
            <a:ext cx="30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787882"/>
                </a:solidFill>
                <a:latin typeface="Helvetica"/>
              </a:rPr>
              <a:t>Q1  基础 IoT / 云 · · 红海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80000" y="1930000"/>
            <a:ext cx="30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787882"/>
                </a:solidFill>
                <a:latin typeface="Helvetica"/>
              </a:rPr>
              <a:t>Q2  云端 AI · · 隐私与延迟待解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80000" y="3930000"/>
            <a:ext cx="30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787882"/>
                </a:solidFill>
                <a:latin typeface="Helvetica"/>
              </a:rPr>
              <a:t>Q3  端侧但 AI 弱 · · 空档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80000" y="3930000"/>
            <a:ext cx="30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367BD6"/>
                </a:solidFill>
                <a:latin typeface="Helvetica"/>
              </a:rPr>
              <a:t>Q4  端侧 VLM · · 我们</a:t>
            </a:r>
          </a:p>
        </p:txBody>
      </p:sp>
      <p:sp>
        <p:nvSpPr>
          <p:cNvPr id="17" name="Oval 16"/>
          <p:cNvSpPr/>
          <p:nvPr/>
        </p:nvSpPr>
        <p:spPr>
          <a:xfrm>
            <a:off x="3800000" y="2770000"/>
            <a:ext cx="160000" cy="160000"/>
          </a:xfrm>
          <a:prstGeom prst="ellipse">
            <a:avLst/>
          </a:prstGeom>
          <a:solidFill>
            <a:srgbClr val="787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010000" y="2690000"/>
            <a:ext cx="24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3C404C"/>
                </a:solidFill>
                <a:latin typeface="Helvetica"/>
              </a:rPr>
              <a:t>Furbo</a:t>
            </a:r>
          </a:p>
        </p:txBody>
      </p:sp>
      <p:sp>
        <p:nvSpPr>
          <p:cNvPr id="19" name="Oval 18"/>
          <p:cNvSpPr/>
          <p:nvPr/>
        </p:nvSpPr>
        <p:spPr>
          <a:xfrm>
            <a:off x="4540000" y="2570000"/>
            <a:ext cx="160000" cy="160000"/>
          </a:xfrm>
          <a:prstGeom prst="ellipse">
            <a:avLst/>
          </a:prstGeom>
          <a:solidFill>
            <a:srgbClr val="787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50000" y="2490000"/>
            <a:ext cx="24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3C404C"/>
                </a:solidFill>
                <a:latin typeface="Helvetica"/>
              </a:rPr>
              <a:t>Petcube</a:t>
            </a:r>
          </a:p>
        </p:txBody>
      </p:sp>
      <p:sp>
        <p:nvSpPr>
          <p:cNvPr id="21" name="Oval 20"/>
          <p:cNvSpPr/>
          <p:nvPr/>
        </p:nvSpPr>
        <p:spPr>
          <a:xfrm>
            <a:off x="3430000" y="4770000"/>
            <a:ext cx="160000" cy="160000"/>
          </a:xfrm>
          <a:prstGeom prst="ellipse">
            <a:avLst/>
          </a:prstGeom>
          <a:solidFill>
            <a:srgbClr val="787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40000" y="4690000"/>
            <a:ext cx="24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3C404C"/>
                </a:solidFill>
                <a:latin typeface="Helvetica"/>
              </a:rPr>
              <a:t>Sure Petcare</a:t>
            </a:r>
          </a:p>
        </p:txBody>
      </p:sp>
      <p:sp>
        <p:nvSpPr>
          <p:cNvPr id="23" name="Oval 22"/>
          <p:cNvSpPr/>
          <p:nvPr/>
        </p:nvSpPr>
        <p:spPr>
          <a:xfrm>
            <a:off x="4170000" y="2890000"/>
            <a:ext cx="160000" cy="160000"/>
          </a:xfrm>
          <a:prstGeom prst="ellipse">
            <a:avLst/>
          </a:prstGeom>
          <a:solidFill>
            <a:srgbClr val="787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0000" y="2810000"/>
            <a:ext cx="24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3C404C"/>
                </a:solidFill>
                <a:latin typeface="Helvetica"/>
              </a:rPr>
              <a:t>WOpet</a:t>
            </a:r>
          </a:p>
        </p:txBody>
      </p:sp>
      <p:sp>
        <p:nvSpPr>
          <p:cNvPr id="25" name="Oval 24"/>
          <p:cNvSpPr/>
          <p:nvPr/>
        </p:nvSpPr>
        <p:spPr>
          <a:xfrm>
            <a:off x="4392000" y="2970000"/>
            <a:ext cx="160000" cy="160000"/>
          </a:xfrm>
          <a:prstGeom prst="ellipse">
            <a:avLst/>
          </a:prstGeom>
          <a:solidFill>
            <a:srgbClr val="787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02000" y="2890000"/>
            <a:ext cx="24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3C404C"/>
                </a:solidFill>
                <a:latin typeface="Helvetica"/>
              </a:rPr>
              <a:t>Petnet</a:t>
            </a:r>
          </a:p>
        </p:txBody>
      </p:sp>
      <p:sp>
        <p:nvSpPr>
          <p:cNvPr id="27" name="Oval 26"/>
          <p:cNvSpPr/>
          <p:nvPr/>
        </p:nvSpPr>
        <p:spPr>
          <a:xfrm>
            <a:off x="4910000" y="4170000"/>
            <a:ext cx="160000" cy="160000"/>
          </a:xfrm>
          <a:prstGeom prst="ellipse">
            <a:avLst/>
          </a:prstGeom>
          <a:solidFill>
            <a:srgbClr val="787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20000" y="4090000"/>
            <a:ext cx="24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3C404C"/>
                </a:solidFill>
                <a:latin typeface="Helvetica"/>
              </a:rPr>
              <a:t>PETKIT 小佩</a:t>
            </a:r>
          </a:p>
        </p:txBody>
      </p:sp>
      <p:sp>
        <p:nvSpPr>
          <p:cNvPr id="29" name="Oval 28"/>
          <p:cNvSpPr/>
          <p:nvPr/>
        </p:nvSpPr>
        <p:spPr>
          <a:xfrm>
            <a:off x="3948000" y="4490000"/>
            <a:ext cx="160000" cy="160000"/>
          </a:xfrm>
          <a:prstGeom prst="ellipse">
            <a:avLst/>
          </a:prstGeom>
          <a:solidFill>
            <a:srgbClr val="787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58000" y="4410000"/>
            <a:ext cx="24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3C404C"/>
                </a:solidFill>
                <a:latin typeface="Helvetica"/>
              </a:rPr>
              <a:t>米家</a:t>
            </a:r>
          </a:p>
        </p:txBody>
      </p:sp>
      <p:sp>
        <p:nvSpPr>
          <p:cNvPr id="31" name="Oval 30"/>
          <p:cNvSpPr/>
          <p:nvPr/>
        </p:nvSpPr>
        <p:spPr>
          <a:xfrm>
            <a:off x="4540000" y="4290000"/>
            <a:ext cx="160000" cy="160000"/>
          </a:xfrm>
          <a:prstGeom prst="ellipse">
            <a:avLst/>
          </a:prstGeom>
          <a:solidFill>
            <a:srgbClr val="787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750000" y="4210000"/>
            <a:ext cx="24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3C404C"/>
                </a:solidFill>
                <a:latin typeface="Helvetica"/>
              </a:rPr>
              <a:t>CATLINK</a:t>
            </a:r>
          </a:p>
        </p:txBody>
      </p:sp>
      <p:sp>
        <p:nvSpPr>
          <p:cNvPr id="33" name="Oval 32"/>
          <p:cNvSpPr/>
          <p:nvPr/>
        </p:nvSpPr>
        <p:spPr>
          <a:xfrm>
            <a:off x="3652000" y="4570000"/>
            <a:ext cx="160000" cy="160000"/>
          </a:xfrm>
          <a:prstGeom prst="ellipse">
            <a:avLst/>
          </a:prstGeom>
          <a:solidFill>
            <a:srgbClr val="787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862000" y="4490000"/>
            <a:ext cx="24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3C404C"/>
                </a:solidFill>
                <a:latin typeface="Helvetica"/>
              </a:rPr>
              <a:t>凡米</a:t>
            </a:r>
          </a:p>
        </p:txBody>
      </p:sp>
      <p:sp>
        <p:nvSpPr>
          <p:cNvPr id="35" name="Oval 34"/>
          <p:cNvSpPr/>
          <p:nvPr/>
        </p:nvSpPr>
        <p:spPr>
          <a:xfrm>
            <a:off x="8200000" y="4930000"/>
            <a:ext cx="240000" cy="240000"/>
          </a:xfrm>
          <a:prstGeom prst="ellipse">
            <a:avLst/>
          </a:prstGeom>
          <a:solidFill>
            <a:srgbClr val="367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140000" y="4870000"/>
            <a:ext cx="360000" cy="3600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367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8200000" y="4930000"/>
            <a:ext cx="240000" cy="240000"/>
          </a:xfrm>
          <a:prstGeom prst="ellipse">
            <a:avLst/>
          </a:prstGeom>
          <a:solidFill>
            <a:srgbClr val="367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90000" y="4890000"/>
            <a:ext cx="24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367BD6"/>
                </a:solidFill>
                <a:latin typeface="Helvetica"/>
              </a:rPr>
              <a:t>Train-Pet-Pipeline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0000" y="6258000"/>
            <a:ext cx="10872000" cy="2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787882"/>
                </a:solidFill>
                <a:latin typeface="Helvetica"/>
              </a:rPr>
              <a:t>位置为定性估计；竞品产品线多元，此处以旗舰 AI 品类为代表定位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0000" y="6418000"/>
            <a:ext cx="50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787882"/>
                </a:solidFill>
                <a:latin typeface="Helvetica"/>
              </a:rPr>
              <a:t>Train-Pet-Pipeline · Technical Overview · matrix 2026.10-ecosystem-cleanup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0000"/>
          </a:xfrm>
          <a:prstGeom prst="rect">
            <a:avLst/>
          </a:prstGeom>
          <a:solidFill>
            <a:srgbClr val="367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60000" y="200000"/>
            <a:ext cx="2000000" cy="3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367BD6"/>
                </a:solidFill>
                <a:latin typeface="Helvetica"/>
              </a:rPr>
              <a:t>FOREIGN COMPETITION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0000" y="420000"/>
            <a:ext cx="11272000" cy="6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1A2A44"/>
                </a:solidFill>
                <a:latin typeface="Helvetica"/>
              </a:rPr>
              <a:t>国外主流竞品 · 能力矩阵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0000" y="1020000"/>
            <a:ext cx="112720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787882"/>
                </a:solidFill>
                <a:latin typeface="Helvetica"/>
              </a:rPr>
              <a:t>5 个代表性玩家 × 6 维度 · 数据来自公开产品页 + 用户评测</a:t>
            </a:r>
          </a:p>
        </p:txBody>
      </p:sp>
      <p:sp>
        <p:nvSpPr>
          <p:cNvPr id="6" name="Rectangle 5"/>
          <p:cNvSpPr/>
          <p:nvPr/>
        </p:nvSpPr>
        <p:spPr>
          <a:xfrm>
            <a:off x="460000" y="1460000"/>
            <a:ext cx="11272000" cy="15000"/>
          </a:xfrm>
          <a:prstGeom prst="rect">
            <a:avLst/>
          </a:prstGeom>
          <a:solidFill>
            <a:srgbClr val="C8C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-54000" y="1820000"/>
            <a:ext cx="1700000" cy="500000"/>
          </a:xfrm>
          <a:prstGeom prst="rect">
            <a:avLst/>
          </a:prstGeom>
          <a:solidFill>
            <a:srgbClr val="1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000" y="1820000"/>
            <a:ext cx="1460000" cy="5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Helvetica"/>
              </a:rPr>
              <a:t>产品</a:t>
            </a:r>
          </a:p>
        </p:txBody>
      </p:sp>
      <p:sp>
        <p:nvSpPr>
          <p:cNvPr id="9" name="Rectangle 8"/>
          <p:cNvSpPr/>
          <p:nvPr/>
        </p:nvSpPr>
        <p:spPr>
          <a:xfrm>
            <a:off x="1646000" y="1820000"/>
            <a:ext cx="2500000" cy="500000"/>
          </a:xfrm>
          <a:prstGeom prst="rect">
            <a:avLst/>
          </a:prstGeom>
          <a:solidFill>
            <a:srgbClr val="1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766000" y="1820000"/>
            <a:ext cx="2260000" cy="5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Helvetica"/>
              </a:rPr>
              <a:t>定位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46000" y="1820000"/>
            <a:ext cx="2700000" cy="500000"/>
          </a:xfrm>
          <a:prstGeom prst="rect">
            <a:avLst/>
          </a:prstGeom>
          <a:solidFill>
            <a:srgbClr val="1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66000" y="1820000"/>
            <a:ext cx="2460000" cy="5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Helvetica"/>
              </a:rPr>
              <a:t>AI 能力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46000" y="1820000"/>
            <a:ext cx="1700000" cy="500000"/>
          </a:xfrm>
          <a:prstGeom prst="rect">
            <a:avLst/>
          </a:prstGeom>
          <a:solidFill>
            <a:srgbClr val="1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66000" y="1820000"/>
            <a:ext cx="1460000" cy="5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Helvetica"/>
              </a:rPr>
              <a:t>端侧 / 云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546000" y="1820000"/>
            <a:ext cx="1900000" cy="500000"/>
          </a:xfrm>
          <a:prstGeom prst="rect">
            <a:avLst/>
          </a:prstGeom>
          <a:solidFill>
            <a:srgbClr val="1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66000" y="1820000"/>
            <a:ext cx="1660000" cy="5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Helvetica"/>
              </a:rPr>
              <a:t>多模态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446000" y="1820000"/>
            <a:ext cx="1800000" cy="500000"/>
          </a:xfrm>
          <a:prstGeom prst="rect">
            <a:avLst/>
          </a:prstGeom>
          <a:solidFill>
            <a:srgbClr val="1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66000" y="1820000"/>
            <a:ext cx="1560000" cy="5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Helvetica"/>
              </a:rPr>
              <a:t>价格带</a:t>
            </a:r>
          </a:p>
        </p:txBody>
      </p:sp>
      <p:sp>
        <p:nvSpPr>
          <p:cNvPr id="19" name="Rectangle 18"/>
          <p:cNvSpPr/>
          <p:nvPr/>
        </p:nvSpPr>
        <p:spPr>
          <a:xfrm>
            <a:off x="-54000" y="2320000"/>
            <a:ext cx="1700000" cy="500000"/>
          </a:xfrm>
          <a:prstGeom prst="rect">
            <a:avLst/>
          </a:prstGeom>
          <a:solidFill>
            <a:srgbClr val="FFFFFF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000" y="2320000"/>
            <a:ext cx="1460000" cy="5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1A2A44"/>
                </a:solidFill>
                <a:latin typeface="Helvetica"/>
              </a:rPr>
              <a:t>Furbo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646000" y="2320000"/>
            <a:ext cx="2500000" cy="500000"/>
          </a:xfrm>
          <a:prstGeom prst="rect">
            <a:avLst/>
          </a:prstGeom>
          <a:solidFill>
            <a:srgbClr val="FFFFFF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766000" y="2320000"/>
            <a:ext cx="2260000" cy="5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C404C"/>
                </a:solidFill>
                <a:latin typeface="Helvetica"/>
              </a:rPr>
              <a:t>狗主摄像头 + 零食投掷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46000" y="2320000"/>
            <a:ext cx="2700000" cy="500000"/>
          </a:xfrm>
          <a:prstGeom prst="rect">
            <a:avLst/>
          </a:prstGeom>
          <a:solidFill>
            <a:srgbClr val="FFFFFF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66000" y="2320000"/>
            <a:ext cx="2460000" cy="5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C404C"/>
                </a:solidFill>
                <a:latin typeface="Helvetica"/>
              </a:rPr>
              <a:t>云端 bark 检测 / 宠物识别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46000" y="2320000"/>
            <a:ext cx="1700000" cy="500000"/>
          </a:xfrm>
          <a:prstGeom prst="rect">
            <a:avLst/>
          </a:prstGeom>
          <a:solidFill>
            <a:srgbClr val="FFFFFF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66000" y="2320000"/>
            <a:ext cx="1460000" cy="5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C404C"/>
                </a:solidFill>
                <a:latin typeface="Helvetica"/>
              </a:rPr>
              <a:t>☁️ 云端为主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46000" y="2320000"/>
            <a:ext cx="1900000" cy="500000"/>
          </a:xfrm>
          <a:prstGeom prst="rect">
            <a:avLst/>
          </a:prstGeom>
          <a:solidFill>
            <a:srgbClr val="FFFFFF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66000" y="2320000"/>
            <a:ext cx="1660000" cy="5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C404C"/>
                </a:solidFill>
                <a:latin typeface="Helvetica"/>
              </a:rPr>
              <a:t>视频 + 零食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446000" y="2320000"/>
            <a:ext cx="1800000" cy="500000"/>
          </a:xfrm>
          <a:prstGeom prst="rect">
            <a:avLst/>
          </a:prstGeom>
          <a:solidFill>
            <a:srgbClr val="FFFFFF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566000" y="2320000"/>
            <a:ext cx="1560000" cy="5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C404C"/>
                </a:solidFill>
                <a:latin typeface="Helvetica"/>
              </a:rPr>
              <a:t>¥1500 – 3000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-54000" y="2820000"/>
            <a:ext cx="1700000" cy="500000"/>
          </a:xfrm>
          <a:prstGeom prst="rect">
            <a:avLst/>
          </a:prstGeom>
          <a:solidFill>
            <a:srgbClr val="F0F1F4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000" y="2820000"/>
            <a:ext cx="1460000" cy="5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1A2A44"/>
                </a:solidFill>
                <a:latin typeface="Helvetica"/>
              </a:rPr>
              <a:t>Petcube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646000" y="2820000"/>
            <a:ext cx="2500000" cy="500000"/>
          </a:xfrm>
          <a:prstGeom prst="rect">
            <a:avLst/>
          </a:prstGeom>
          <a:solidFill>
            <a:srgbClr val="F0F1F4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766000" y="2820000"/>
            <a:ext cx="2260000" cy="5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C404C"/>
                </a:solidFill>
                <a:latin typeface="Helvetica"/>
              </a:rPr>
              <a:t>互动摄像头 + 激光逗猫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146000" y="2820000"/>
            <a:ext cx="2700000" cy="500000"/>
          </a:xfrm>
          <a:prstGeom prst="rect">
            <a:avLst/>
          </a:prstGeom>
          <a:solidFill>
            <a:srgbClr val="F0F1F4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266000" y="2820000"/>
            <a:ext cx="2460000" cy="5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C404C"/>
                </a:solidFill>
                <a:latin typeface="Helvetica"/>
              </a:rPr>
              <a:t>云端基础识别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846000" y="2820000"/>
            <a:ext cx="1700000" cy="500000"/>
          </a:xfrm>
          <a:prstGeom prst="rect">
            <a:avLst/>
          </a:prstGeom>
          <a:solidFill>
            <a:srgbClr val="F0F1F4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966000" y="2820000"/>
            <a:ext cx="1460000" cy="5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C404C"/>
                </a:solidFill>
                <a:latin typeface="Helvetica"/>
              </a:rPr>
              <a:t>☁️ 云端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546000" y="2820000"/>
            <a:ext cx="1900000" cy="500000"/>
          </a:xfrm>
          <a:prstGeom prst="rect">
            <a:avLst/>
          </a:prstGeom>
          <a:solidFill>
            <a:srgbClr val="F0F1F4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666000" y="2820000"/>
            <a:ext cx="1660000" cy="5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C404C"/>
                </a:solidFill>
                <a:latin typeface="Helvetica"/>
              </a:rPr>
              <a:t>视频 + 双向音频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446000" y="2820000"/>
            <a:ext cx="1800000" cy="500000"/>
          </a:xfrm>
          <a:prstGeom prst="rect">
            <a:avLst/>
          </a:prstGeom>
          <a:solidFill>
            <a:srgbClr val="F0F1F4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566000" y="2820000"/>
            <a:ext cx="1560000" cy="5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C404C"/>
                </a:solidFill>
                <a:latin typeface="Helvetica"/>
              </a:rPr>
              <a:t>¥1000 – 2500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-54000" y="3320000"/>
            <a:ext cx="1700000" cy="500000"/>
          </a:xfrm>
          <a:prstGeom prst="rect">
            <a:avLst/>
          </a:prstGeom>
          <a:solidFill>
            <a:srgbClr val="FFFFFF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6000" y="3320000"/>
            <a:ext cx="1460000" cy="5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1A2A44"/>
                </a:solidFill>
                <a:latin typeface="Helvetica"/>
              </a:rPr>
              <a:t>Petnet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646000" y="3320000"/>
            <a:ext cx="2500000" cy="500000"/>
          </a:xfrm>
          <a:prstGeom prst="rect">
            <a:avLst/>
          </a:prstGeom>
          <a:solidFill>
            <a:srgbClr val="FFFFFF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766000" y="3320000"/>
            <a:ext cx="2260000" cy="5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C404C"/>
                </a:solidFill>
                <a:latin typeface="Helvetica"/>
              </a:rPr>
              <a:t>智能喂食器 (初创)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146000" y="3320000"/>
            <a:ext cx="2700000" cy="500000"/>
          </a:xfrm>
          <a:prstGeom prst="rect">
            <a:avLst/>
          </a:prstGeom>
          <a:solidFill>
            <a:srgbClr val="FFFFFF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266000" y="3320000"/>
            <a:ext cx="2460000" cy="5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C404C"/>
                </a:solidFill>
                <a:latin typeface="Helvetica"/>
              </a:rPr>
              <a:t>基本 IoT + 云端调度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846000" y="3320000"/>
            <a:ext cx="1700000" cy="500000"/>
          </a:xfrm>
          <a:prstGeom prst="rect">
            <a:avLst/>
          </a:prstGeom>
          <a:solidFill>
            <a:srgbClr val="FFFFFF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966000" y="3320000"/>
            <a:ext cx="1460000" cy="5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C404C"/>
                </a:solidFill>
                <a:latin typeface="Helvetica"/>
              </a:rPr>
              <a:t>☁️ 云端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546000" y="3320000"/>
            <a:ext cx="1900000" cy="500000"/>
          </a:xfrm>
          <a:prstGeom prst="rect">
            <a:avLst/>
          </a:prstGeom>
          <a:solidFill>
            <a:srgbClr val="FFFFFF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666000" y="3320000"/>
            <a:ext cx="1660000" cy="5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C404C"/>
                </a:solidFill>
                <a:latin typeface="Helvetica"/>
              </a:rPr>
              <a:t>仅投喂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0446000" y="3320000"/>
            <a:ext cx="1800000" cy="500000"/>
          </a:xfrm>
          <a:prstGeom prst="rect">
            <a:avLst/>
          </a:prstGeom>
          <a:solidFill>
            <a:srgbClr val="FFFFFF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566000" y="3320000"/>
            <a:ext cx="1560000" cy="5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C404C"/>
                </a:solidFill>
                <a:latin typeface="Helvetica"/>
              </a:rPr>
              <a:t>¥800 – 2000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-54000" y="3820000"/>
            <a:ext cx="1700000" cy="500000"/>
          </a:xfrm>
          <a:prstGeom prst="rect">
            <a:avLst/>
          </a:prstGeom>
          <a:solidFill>
            <a:srgbClr val="F0F1F4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6000" y="3820000"/>
            <a:ext cx="1460000" cy="5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1A2A44"/>
                </a:solidFill>
                <a:latin typeface="Helvetica"/>
              </a:rPr>
              <a:t>Sure Petcare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646000" y="3820000"/>
            <a:ext cx="2500000" cy="500000"/>
          </a:xfrm>
          <a:prstGeom prst="rect">
            <a:avLst/>
          </a:prstGeom>
          <a:solidFill>
            <a:srgbClr val="F0F1F4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766000" y="3820000"/>
            <a:ext cx="2260000" cy="5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C404C"/>
                </a:solidFill>
                <a:latin typeface="Helvetica"/>
              </a:rPr>
              <a:t>Microchip 识别喂食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146000" y="3820000"/>
            <a:ext cx="2700000" cy="500000"/>
          </a:xfrm>
          <a:prstGeom prst="rect">
            <a:avLst/>
          </a:prstGeom>
          <a:solidFill>
            <a:srgbClr val="F0F1F4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266000" y="3820000"/>
            <a:ext cx="2460000" cy="5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C404C"/>
                </a:solidFill>
                <a:latin typeface="Helvetica"/>
              </a:rPr>
              <a:t>RFID 硬件识别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846000" y="3820000"/>
            <a:ext cx="1700000" cy="500000"/>
          </a:xfrm>
          <a:prstGeom prst="rect">
            <a:avLst/>
          </a:prstGeom>
          <a:solidFill>
            <a:srgbClr val="F0F1F4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966000" y="3820000"/>
            <a:ext cx="1460000" cy="5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C404C"/>
                </a:solidFill>
                <a:latin typeface="Helvetica"/>
              </a:rPr>
              <a:t>📟 端侧 RFID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546000" y="3820000"/>
            <a:ext cx="1900000" cy="500000"/>
          </a:xfrm>
          <a:prstGeom prst="rect">
            <a:avLst/>
          </a:prstGeom>
          <a:solidFill>
            <a:srgbClr val="F0F1F4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666000" y="3820000"/>
            <a:ext cx="1660000" cy="5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C404C"/>
                </a:solidFill>
                <a:latin typeface="Helvetica"/>
              </a:rPr>
              <a:t>仅 RFID + 秤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0446000" y="3820000"/>
            <a:ext cx="1800000" cy="500000"/>
          </a:xfrm>
          <a:prstGeom prst="rect">
            <a:avLst/>
          </a:prstGeom>
          <a:solidFill>
            <a:srgbClr val="F0F1F4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566000" y="3820000"/>
            <a:ext cx="1560000" cy="5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C404C"/>
                </a:solidFill>
                <a:latin typeface="Helvetica"/>
              </a:rPr>
              <a:t>¥1200 – 3000</a:t>
            </a:r>
          </a:p>
        </p:txBody>
      </p:sp>
      <p:sp>
        <p:nvSpPr>
          <p:cNvPr id="67" name="Rectangle 66"/>
          <p:cNvSpPr/>
          <p:nvPr/>
        </p:nvSpPr>
        <p:spPr>
          <a:xfrm>
            <a:off x="-54000" y="4320000"/>
            <a:ext cx="1700000" cy="500000"/>
          </a:xfrm>
          <a:prstGeom prst="rect">
            <a:avLst/>
          </a:prstGeom>
          <a:solidFill>
            <a:srgbClr val="FFFFFF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6000" y="4320000"/>
            <a:ext cx="1460000" cy="5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1A2A44"/>
                </a:solidFill>
                <a:latin typeface="Helvetica"/>
              </a:rPr>
              <a:t>WOpet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646000" y="4320000"/>
            <a:ext cx="2500000" cy="500000"/>
          </a:xfrm>
          <a:prstGeom prst="rect">
            <a:avLst/>
          </a:prstGeom>
          <a:solidFill>
            <a:srgbClr val="FFFFFF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766000" y="4320000"/>
            <a:ext cx="2260000" cy="5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C404C"/>
                </a:solidFill>
                <a:latin typeface="Helvetica"/>
              </a:rPr>
              <a:t>喂食器 + 摄像头捆绑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146000" y="4320000"/>
            <a:ext cx="2700000" cy="500000"/>
          </a:xfrm>
          <a:prstGeom prst="rect">
            <a:avLst/>
          </a:prstGeom>
          <a:solidFill>
            <a:srgbClr val="FFFFFF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266000" y="4320000"/>
            <a:ext cx="2460000" cy="5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C404C"/>
                </a:solidFill>
                <a:latin typeface="Helvetica"/>
              </a:rPr>
              <a:t>基础动物检测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846000" y="4320000"/>
            <a:ext cx="1700000" cy="500000"/>
          </a:xfrm>
          <a:prstGeom prst="rect">
            <a:avLst/>
          </a:prstGeom>
          <a:solidFill>
            <a:srgbClr val="FFFFFF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966000" y="4320000"/>
            <a:ext cx="1460000" cy="5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C404C"/>
                </a:solidFill>
                <a:latin typeface="Helvetica"/>
              </a:rPr>
              <a:t>☁️ 云端</a:t>
            </a:r>
          </a:p>
        </p:txBody>
      </p:sp>
      <p:sp>
        <p:nvSpPr>
          <p:cNvPr id="75" name="Rectangle 74"/>
          <p:cNvSpPr/>
          <p:nvPr/>
        </p:nvSpPr>
        <p:spPr>
          <a:xfrm>
            <a:off x="8546000" y="4320000"/>
            <a:ext cx="1900000" cy="500000"/>
          </a:xfrm>
          <a:prstGeom prst="rect">
            <a:avLst/>
          </a:prstGeom>
          <a:solidFill>
            <a:srgbClr val="FFFFFF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666000" y="4320000"/>
            <a:ext cx="1660000" cy="5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C404C"/>
                </a:solidFill>
                <a:latin typeface="Helvetica"/>
              </a:rPr>
              <a:t>视频 + 投喂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0446000" y="4320000"/>
            <a:ext cx="1800000" cy="500000"/>
          </a:xfrm>
          <a:prstGeom prst="rect">
            <a:avLst/>
          </a:prstGeom>
          <a:solidFill>
            <a:srgbClr val="FFFFFF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0566000" y="4320000"/>
            <a:ext cx="1560000" cy="5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C404C"/>
                </a:solidFill>
                <a:latin typeface="Helvetica"/>
              </a:rPr>
              <a:t>¥600 – 1500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60000" y="5858000"/>
            <a:ext cx="10872000" cy="480000"/>
          </a:xfrm>
          <a:prstGeom prst="rect">
            <a:avLst/>
          </a:prstGeom>
          <a:solidFill>
            <a:srgbClr val="F0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20000" y="5978000"/>
            <a:ext cx="10552000" cy="2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A2A44"/>
                </a:solidFill>
                <a:latin typeface="Helvetica"/>
              </a:rPr>
              <a:t>共性 · AI 层级普遍停留在云端基础检测；端侧 VLM 级别行为理解 = 空白市场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60000" y="6418000"/>
            <a:ext cx="50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787882"/>
                </a:solidFill>
                <a:latin typeface="Helvetica"/>
              </a:rPr>
              <a:t>Train-Pet-Pipeline · Technical Overview · matrix 2026.10-ecosystem-cleanup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0000"/>
          </a:xfrm>
          <a:prstGeom prst="rect">
            <a:avLst/>
          </a:prstGeom>
          <a:solidFill>
            <a:srgbClr val="367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60000" y="200000"/>
            <a:ext cx="2000000" cy="3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367BD6"/>
                </a:solidFill>
                <a:latin typeface="Helvetica"/>
              </a:rPr>
              <a:t>CHINA COMPETITION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0000" y="420000"/>
            <a:ext cx="11272000" cy="6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1A2A44"/>
                </a:solidFill>
                <a:latin typeface="Helvetica"/>
              </a:rPr>
              <a:t>国内主流竞品 · 能力矩阵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0000" y="1020000"/>
            <a:ext cx="112720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787882"/>
                </a:solidFill>
                <a:latin typeface="Helvetica"/>
              </a:rPr>
              <a:t>5 个代表性玩家 × 6 维度 · 国产智能宠物硬件头部阵营</a:t>
            </a:r>
          </a:p>
        </p:txBody>
      </p:sp>
      <p:sp>
        <p:nvSpPr>
          <p:cNvPr id="6" name="Rectangle 5"/>
          <p:cNvSpPr/>
          <p:nvPr/>
        </p:nvSpPr>
        <p:spPr>
          <a:xfrm>
            <a:off x="460000" y="1460000"/>
            <a:ext cx="11272000" cy="15000"/>
          </a:xfrm>
          <a:prstGeom prst="rect">
            <a:avLst/>
          </a:prstGeom>
          <a:solidFill>
            <a:srgbClr val="C8C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-54000" y="1820000"/>
            <a:ext cx="1700000" cy="500000"/>
          </a:xfrm>
          <a:prstGeom prst="rect">
            <a:avLst/>
          </a:prstGeom>
          <a:solidFill>
            <a:srgbClr val="1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000" y="1820000"/>
            <a:ext cx="1460000" cy="5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Helvetica"/>
              </a:rPr>
              <a:t>产品</a:t>
            </a:r>
          </a:p>
        </p:txBody>
      </p:sp>
      <p:sp>
        <p:nvSpPr>
          <p:cNvPr id="9" name="Rectangle 8"/>
          <p:cNvSpPr/>
          <p:nvPr/>
        </p:nvSpPr>
        <p:spPr>
          <a:xfrm>
            <a:off x="1646000" y="1820000"/>
            <a:ext cx="2500000" cy="500000"/>
          </a:xfrm>
          <a:prstGeom prst="rect">
            <a:avLst/>
          </a:prstGeom>
          <a:solidFill>
            <a:srgbClr val="1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766000" y="1820000"/>
            <a:ext cx="2260000" cy="5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Helvetica"/>
              </a:rPr>
              <a:t>定位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46000" y="1820000"/>
            <a:ext cx="2700000" cy="500000"/>
          </a:xfrm>
          <a:prstGeom prst="rect">
            <a:avLst/>
          </a:prstGeom>
          <a:solidFill>
            <a:srgbClr val="1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66000" y="1820000"/>
            <a:ext cx="2460000" cy="5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Helvetica"/>
              </a:rPr>
              <a:t>AI 能力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46000" y="1820000"/>
            <a:ext cx="1700000" cy="500000"/>
          </a:xfrm>
          <a:prstGeom prst="rect">
            <a:avLst/>
          </a:prstGeom>
          <a:solidFill>
            <a:srgbClr val="1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66000" y="1820000"/>
            <a:ext cx="1460000" cy="5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Helvetica"/>
              </a:rPr>
              <a:t>端侧 / 云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546000" y="1820000"/>
            <a:ext cx="1900000" cy="500000"/>
          </a:xfrm>
          <a:prstGeom prst="rect">
            <a:avLst/>
          </a:prstGeom>
          <a:solidFill>
            <a:srgbClr val="1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66000" y="1820000"/>
            <a:ext cx="1660000" cy="5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Helvetica"/>
              </a:rPr>
              <a:t>多模态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446000" y="1820000"/>
            <a:ext cx="1800000" cy="500000"/>
          </a:xfrm>
          <a:prstGeom prst="rect">
            <a:avLst/>
          </a:prstGeom>
          <a:solidFill>
            <a:srgbClr val="1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66000" y="1820000"/>
            <a:ext cx="1560000" cy="5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Helvetica"/>
              </a:rPr>
              <a:t>价格带</a:t>
            </a:r>
          </a:p>
        </p:txBody>
      </p:sp>
      <p:sp>
        <p:nvSpPr>
          <p:cNvPr id="19" name="Rectangle 18"/>
          <p:cNvSpPr/>
          <p:nvPr/>
        </p:nvSpPr>
        <p:spPr>
          <a:xfrm>
            <a:off x="-54000" y="2320000"/>
            <a:ext cx="1700000" cy="500000"/>
          </a:xfrm>
          <a:prstGeom prst="rect">
            <a:avLst/>
          </a:prstGeom>
          <a:solidFill>
            <a:srgbClr val="FFFFFF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000" y="2320000"/>
            <a:ext cx="1460000" cy="5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1A2A44"/>
                </a:solidFill>
                <a:latin typeface="Helvetica"/>
              </a:rPr>
              <a:t>PETKIT 小佩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646000" y="2320000"/>
            <a:ext cx="2500000" cy="500000"/>
          </a:xfrm>
          <a:prstGeom prst="rect">
            <a:avLst/>
          </a:prstGeom>
          <a:solidFill>
            <a:srgbClr val="FFFFFF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766000" y="2320000"/>
            <a:ext cx="2260000" cy="5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C404C"/>
                </a:solidFill>
                <a:latin typeface="Helvetica"/>
              </a:rPr>
              <a:t>全品类智能宠物硬件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46000" y="2320000"/>
            <a:ext cx="2700000" cy="500000"/>
          </a:xfrm>
          <a:prstGeom prst="rect">
            <a:avLst/>
          </a:prstGeom>
          <a:solidFill>
            <a:srgbClr val="FFFFFF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66000" y="2320000"/>
            <a:ext cx="2460000" cy="5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C404C"/>
                </a:solidFill>
                <a:latin typeface="Helvetica"/>
              </a:rPr>
              <a:t>摄像头基础识别 + 云端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46000" y="2320000"/>
            <a:ext cx="1700000" cy="500000"/>
          </a:xfrm>
          <a:prstGeom prst="rect">
            <a:avLst/>
          </a:prstGeom>
          <a:solidFill>
            <a:srgbClr val="FFFFFF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66000" y="2320000"/>
            <a:ext cx="1460000" cy="5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C404C"/>
                </a:solidFill>
                <a:latin typeface="Helvetica"/>
              </a:rPr>
              <a:t>☁️ 云端为主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46000" y="2320000"/>
            <a:ext cx="1900000" cy="500000"/>
          </a:xfrm>
          <a:prstGeom prst="rect">
            <a:avLst/>
          </a:prstGeom>
          <a:solidFill>
            <a:srgbClr val="FFFFFF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66000" y="2320000"/>
            <a:ext cx="1660000" cy="5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C404C"/>
                </a:solidFill>
                <a:latin typeface="Helvetica"/>
              </a:rPr>
              <a:t>视频 + 投喂 + 饮水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446000" y="2320000"/>
            <a:ext cx="1800000" cy="500000"/>
          </a:xfrm>
          <a:prstGeom prst="rect">
            <a:avLst/>
          </a:prstGeom>
          <a:solidFill>
            <a:srgbClr val="FFFFFF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566000" y="2320000"/>
            <a:ext cx="1560000" cy="5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C404C"/>
                </a:solidFill>
                <a:latin typeface="Helvetica"/>
              </a:rPr>
              <a:t>¥500 – 2500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-54000" y="2820000"/>
            <a:ext cx="1700000" cy="500000"/>
          </a:xfrm>
          <a:prstGeom prst="rect">
            <a:avLst/>
          </a:prstGeom>
          <a:solidFill>
            <a:srgbClr val="F0F1F4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000" y="2820000"/>
            <a:ext cx="1460000" cy="5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1A2A44"/>
                </a:solidFill>
                <a:latin typeface="Helvetica"/>
              </a:rPr>
              <a:t>米家 / 小米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646000" y="2820000"/>
            <a:ext cx="2500000" cy="500000"/>
          </a:xfrm>
          <a:prstGeom prst="rect">
            <a:avLst/>
          </a:prstGeom>
          <a:solidFill>
            <a:srgbClr val="F0F1F4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766000" y="2820000"/>
            <a:ext cx="2260000" cy="5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C404C"/>
                </a:solidFill>
                <a:latin typeface="Helvetica"/>
              </a:rPr>
              <a:t>米家生态 IoT 产品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146000" y="2820000"/>
            <a:ext cx="2700000" cy="500000"/>
          </a:xfrm>
          <a:prstGeom prst="rect">
            <a:avLst/>
          </a:prstGeom>
          <a:solidFill>
            <a:srgbClr val="F0F1F4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266000" y="2820000"/>
            <a:ext cx="2460000" cy="5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C404C"/>
                </a:solidFill>
                <a:latin typeface="Helvetica"/>
              </a:rPr>
              <a:t>基础动作识别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846000" y="2820000"/>
            <a:ext cx="1700000" cy="500000"/>
          </a:xfrm>
          <a:prstGeom prst="rect">
            <a:avLst/>
          </a:prstGeom>
          <a:solidFill>
            <a:srgbClr val="F0F1F4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966000" y="2820000"/>
            <a:ext cx="1460000" cy="5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C404C"/>
                </a:solidFill>
                <a:latin typeface="Helvetica"/>
              </a:rPr>
              <a:t>☁️ 云端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546000" y="2820000"/>
            <a:ext cx="1900000" cy="500000"/>
          </a:xfrm>
          <a:prstGeom prst="rect">
            <a:avLst/>
          </a:prstGeom>
          <a:solidFill>
            <a:srgbClr val="F0F1F4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666000" y="2820000"/>
            <a:ext cx="1660000" cy="5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C404C"/>
                </a:solidFill>
                <a:latin typeface="Helvetica"/>
              </a:rPr>
              <a:t>视频 + 投喂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446000" y="2820000"/>
            <a:ext cx="1800000" cy="500000"/>
          </a:xfrm>
          <a:prstGeom prst="rect">
            <a:avLst/>
          </a:prstGeom>
          <a:solidFill>
            <a:srgbClr val="F0F1F4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566000" y="2820000"/>
            <a:ext cx="1560000" cy="5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C404C"/>
                </a:solidFill>
                <a:latin typeface="Helvetica"/>
              </a:rPr>
              <a:t>¥200 – 1000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-54000" y="3320000"/>
            <a:ext cx="1700000" cy="500000"/>
          </a:xfrm>
          <a:prstGeom prst="rect">
            <a:avLst/>
          </a:prstGeom>
          <a:solidFill>
            <a:srgbClr val="FFFFFF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6000" y="3320000"/>
            <a:ext cx="1460000" cy="5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1A2A44"/>
                </a:solidFill>
                <a:latin typeface="Helvetica"/>
              </a:rPr>
              <a:t>CATLINK 凯特灵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646000" y="3320000"/>
            <a:ext cx="2500000" cy="500000"/>
          </a:xfrm>
          <a:prstGeom prst="rect">
            <a:avLst/>
          </a:prstGeom>
          <a:solidFill>
            <a:srgbClr val="FFFFFF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766000" y="3320000"/>
            <a:ext cx="2260000" cy="5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C404C"/>
                </a:solidFill>
                <a:latin typeface="Helvetica"/>
              </a:rPr>
              <a:t>智能猫砂 + 投喂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146000" y="3320000"/>
            <a:ext cx="2700000" cy="500000"/>
          </a:xfrm>
          <a:prstGeom prst="rect">
            <a:avLst/>
          </a:prstGeom>
          <a:solidFill>
            <a:srgbClr val="FFFFFF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266000" y="3320000"/>
            <a:ext cx="2460000" cy="5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C404C"/>
                </a:solidFill>
                <a:latin typeface="Helvetica"/>
              </a:rPr>
              <a:t>基础检测 / 数据统计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846000" y="3320000"/>
            <a:ext cx="1700000" cy="500000"/>
          </a:xfrm>
          <a:prstGeom prst="rect">
            <a:avLst/>
          </a:prstGeom>
          <a:solidFill>
            <a:srgbClr val="FFFFFF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966000" y="3320000"/>
            <a:ext cx="1460000" cy="5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C404C"/>
                </a:solidFill>
                <a:latin typeface="Helvetica"/>
              </a:rPr>
              <a:t>☁️ 云端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546000" y="3320000"/>
            <a:ext cx="1900000" cy="500000"/>
          </a:xfrm>
          <a:prstGeom prst="rect">
            <a:avLst/>
          </a:prstGeom>
          <a:solidFill>
            <a:srgbClr val="FFFFFF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666000" y="3320000"/>
            <a:ext cx="1660000" cy="5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C404C"/>
                </a:solidFill>
                <a:latin typeface="Helvetica"/>
              </a:rPr>
              <a:t>猫砂 + 体重 + 投喂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0446000" y="3320000"/>
            <a:ext cx="1800000" cy="500000"/>
          </a:xfrm>
          <a:prstGeom prst="rect">
            <a:avLst/>
          </a:prstGeom>
          <a:solidFill>
            <a:srgbClr val="FFFFFF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566000" y="3320000"/>
            <a:ext cx="1560000" cy="5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C404C"/>
                </a:solidFill>
                <a:latin typeface="Helvetica"/>
              </a:rPr>
              <a:t>¥800 – 2500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-54000" y="3820000"/>
            <a:ext cx="1700000" cy="500000"/>
          </a:xfrm>
          <a:prstGeom prst="rect">
            <a:avLst/>
          </a:prstGeom>
          <a:solidFill>
            <a:srgbClr val="F0F1F4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6000" y="3820000"/>
            <a:ext cx="1460000" cy="5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1A2A44"/>
                </a:solidFill>
                <a:latin typeface="Helvetica"/>
              </a:rPr>
              <a:t>凡米 Fami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646000" y="3820000"/>
            <a:ext cx="2500000" cy="500000"/>
          </a:xfrm>
          <a:prstGeom prst="rect">
            <a:avLst/>
          </a:prstGeom>
          <a:solidFill>
            <a:srgbClr val="F0F1F4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766000" y="3820000"/>
            <a:ext cx="2260000" cy="5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C404C"/>
                </a:solidFill>
                <a:latin typeface="Helvetica"/>
              </a:rPr>
              <a:t>喂食器专精品牌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146000" y="3820000"/>
            <a:ext cx="2700000" cy="500000"/>
          </a:xfrm>
          <a:prstGeom prst="rect">
            <a:avLst/>
          </a:prstGeom>
          <a:solidFill>
            <a:srgbClr val="F0F1F4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266000" y="3820000"/>
            <a:ext cx="2460000" cy="5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C404C"/>
                </a:solidFill>
                <a:latin typeface="Helvetica"/>
              </a:rPr>
              <a:t>定时 + 基础识别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846000" y="3820000"/>
            <a:ext cx="1700000" cy="500000"/>
          </a:xfrm>
          <a:prstGeom prst="rect">
            <a:avLst/>
          </a:prstGeom>
          <a:solidFill>
            <a:srgbClr val="F0F1F4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966000" y="3820000"/>
            <a:ext cx="1460000" cy="5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C404C"/>
                </a:solidFill>
                <a:latin typeface="Helvetica"/>
              </a:rPr>
              <a:t>☁️ 云端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546000" y="3820000"/>
            <a:ext cx="1900000" cy="500000"/>
          </a:xfrm>
          <a:prstGeom prst="rect">
            <a:avLst/>
          </a:prstGeom>
          <a:solidFill>
            <a:srgbClr val="F0F1F4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666000" y="3820000"/>
            <a:ext cx="1660000" cy="5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C404C"/>
                </a:solidFill>
                <a:latin typeface="Helvetica"/>
              </a:rPr>
              <a:t>仅投喂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0446000" y="3820000"/>
            <a:ext cx="1800000" cy="500000"/>
          </a:xfrm>
          <a:prstGeom prst="rect">
            <a:avLst/>
          </a:prstGeom>
          <a:solidFill>
            <a:srgbClr val="F0F1F4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566000" y="3820000"/>
            <a:ext cx="1560000" cy="5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C404C"/>
                </a:solidFill>
                <a:latin typeface="Helvetica"/>
              </a:rPr>
              <a:t>¥300 – 1200</a:t>
            </a:r>
          </a:p>
        </p:txBody>
      </p:sp>
      <p:sp>
        <p:nvSpPr>
          <p:cNvPr id="67" name="Rectangle 66"/>
          <p:cNvSpPr/>
          <p:nvPr/>
        </p:nvSpPr>
        <p:spPr>
          <a:xfrm>
            <a:off x="-54000" y="4320000"/>
            <a:ext cx="1700000" cy="500000"/>
          </a:xfrm>
          <a:prstGeom prst="rect">
            <a:avLst/>
          </a:prstGeom>
          <a:solidFill>
            <a:srgbClr val="FFFFFF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6000" y="4320000"/>
            <a:ext cx="1460000" cy="5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1A2A44"/>
                </a:solidFill>
                <a:latin typeface="Helvetica"/>
              </a:rPr>
              <a:t>米家生态链 / 其他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646000" y="4320000"/>
            <a:ext cx="2500000" cy="500000"/>
          </a:xfrm>
          <a:prstGeom prst="rect">
            <a:avLst/>
          </a:prstGeom>
          <a:solidFill>
            <a:srgbClr val="FFFFFF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766000" y="4320000"/>
            <a:ext cx="2260000" cy="5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C404C"/>
                </a:solidFill>
                <a:latin typeface="Helvetica"/>
              </a:rPr>
              <a:t>多个白牌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146000" y="4320000"/>
            <a:ext cx="2700000" cy="500000"/>
          </a:xfrm>
          <a:prstGeom prst="rect">
            <a:avLst/>
          </a:prstGeom>
          <a:solidFill>
            <a:srgbClr val="FFFFFF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266000" y="4320000"/>
            <a:ext cx="2460000" cy="5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C404C"/>
                </a:solidFill>
                <a:latin typeface="Helvetica"/>
              </a:rPr>
              <a:t>基础 IoT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846000" y="4320000"/>
            <a:ext cx="1700000" cy="500000"/>
          </a:xfrm>
          <a:prstGeom prst="rect">
            <a:avLst/>
          </a:prstGeom>
          <a:solidFill>
            <a:srgbClr val="FFFFFF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966000" y="4320000"/>
            <a:ext cx="1460000" cy="5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C404C"/>
                </a:solidFill>
                <a:latin typeface="Helvetica"/>
              </a:rPr>
              <a:t>☁️ 云端</a:t>
            </a:r>
          </a:p>
        </p:txBody>
      </p:sp>
      <p:sp>
        <p:nvSpPr>
          <p:cNvPr id="75" name="Rectangle 74"/>
          <p:cNvSpPr/>
          <p:nvPr/>
        </p:nvSpPr>
        <p:spPr>
          <a:xfrm>
            <a:off x="8546000" y="4320000"/>
            <a:ext cx="1900000" cy="500000"/>
          </a:xfrm>
          <a:prstGeom prst="rect">
            <a:avLst/>
          </a:prstGeom>
          <a:solidFill>
            <a:srgbClr val="FFFFFF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666000" y="4320000"/>
            <a:ext cx="1660000" cy="5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C404C"/>
                </a:solidFill>
                <a:latin typeface="Helvetica"/>
              </a:rPr>
              <a:t>视频 + 投喂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0446000" y="4320000"/>
            <a:ext cx="1800000" cy="500000"/>
          </a:xfrm>
          <a:prstGeom prst="rect">
            <a:avLst/>
          </a:prstGeom>
          <a:solidFill>
            <a:srgbClr val="FFFFFF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0566000" y="4320000"/>
            <a:ext cx="1560000" cy="5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C404C"/>
                </a:solidFill>
                <a:latin typeface="Helvetica"/>
              </a:rPr>
              <a:t>¥200 – 800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60000" y="5858000"/>
            <a:ext cx="10872000" cy="480000"/>
          </a:xfrm>
          <a:prstGeom prst="rect">
            <a:avLst/>
          </a:prstGeom>
          <a:solidFill>
            <a:srgbClr val="F0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20000" y="5978000"/>
            <a:ext cx="10552000" cy="2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A2A44"/>
                </a:solidFill>
                <a:latin typeface="Helvetica"/>
              </a:rPr>
              <a:t>共性 · 硬件创新领先，AI 算法栈薄弱；行为理解 / 音频事件 / 结构化报告是下一代竞争点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60000" y="6418000"/>
            <a:ext cx="50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787882"/>
                </a:solidFill>
                <a:latin typeface="Helvetica"/>
              </a:rPr>
              <a:t>Train-Pet-Pipeline · Technical Overview · matrix 2026.10-ecosystem-cleanup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0000"/>
          </a:xfrm>
          <a:prstGeom prst="rect">
            <a:avLst/>
          </a:prstGeom>
          <a:solidFill>
            <a:srgbClr val="367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60000" y="200000"/>
            <a:ext cx="2000000" cy="3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367BD6"/>
                </a:solidFill>
                <a:latin typeface="Helvetica"/>
              </a:rPr>
              <a:t>DIFFERENTIATION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0000" y="420000"/>
            <a:ext cx="11272000" cy="6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1A2A44"/>
                </a:solidFill>
                <a:latin typeface="Helvetica"/>
              </a:rPr>
              <a:t>我们的差异化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0000" y="1020000"/>
            <a:ext cx="112720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787882"/>
                </a:solidFill>
                <a:latin typeface="Helvetica"/>
              </a:rPr>
              <a:t>唯一在端侧落地 VLM-grade 行为理解 + 音频事件 + 签名 OTA 的方案</a:t>
            </a:r>
          </a:p>
        </p:txBody>
      </p:sp>
      <p:sp>
        <p:nvSpPr>
          <p:cNvPr id="6" name="Rectangle 5"/>
          <p:cNvSpPr/>
          <p:nvPr/>
        </p:nvSpPr>
        <p:spPr>
          <a:xfrm>
            <a:off x="460000" y="1460000"/>
            <a:ext cx="11272000" cy="15000"/>
          </a:xfrm>
          <a:prstGeom prst="rect">
            <a:avLst/>
          </a:prstGeom>
          <a:solidFill>
            <a:srgbClr val="C8C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60000" y="1750000"/>
            <a:ext cx="5286000" cy="90000"/>
          </a:xfrm>
          <a:prstGeom prst="rect">
            <a:avLst/>
          </a:prstGeom>
          <a:solidFill>
            <a:srgbClr val="787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0000" y="1910000"/>
            <a:ext cx="4886000" cy="4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87882"/>
                </a:solidFill>
                <a:latin typeface="Helvetica"/>
              </a:rPr>
              <a:t>大多数竞品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0000" y="2410000"/>
            <a:ext cx="4886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87882"/>
                </a:solidFill>
                <a:latin typeface="Helvetica"/>
              </a:rPr>
              <a:t>基础 IoT + 云端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46000" y="1750000"/>
            <a:ext cx="5286000" cy="90000"/>
          </a:xfrm>
          <a:prstGeom prst="rect">
            <a:avLst/>
          </a:prstGeom>
          <a:solidFill>
            <a:srgbClr val="367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000" y="1910000"/>
            <a:ext cx="4886000" cy="4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367BD6"/>
                </a:solidFill>
                <a:latin typeface="Helvetica"/>
              </a:rPr>
              <a:t>Train-Pet-Pipeline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000" y="2410000"/>
            <a:ext cx="4886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367BD6"/>
                </a:solidFill>
                <a:latin typeface="Helvetica"/>
              </a:rPr>
              <a:t>端侧 VLM + 多模态 + 签名 OTA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-40000" y="2910000"/>
            <a:ext cx="640000" cy="3366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1">
                <a:solidFill>
                  <a:srgbClr val="787882"/>
                </a:solidFill>
                <a:latin typeface="Helvetica"/>
              </a:rPr>
              <a:t>AI 能力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60000" y="2890000"/>
            <a:ext cx="5286000" cy="336666"/>
          </a:xfrm>
          <a:prstGeom prst="rect">
            <a:avLst/>
          </a:prstGeom>
          <a:solidFill>
            <a:srgbClr val="FFFFFF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0000" y="2910000"/>
            <a:ext cx="4886000" cy="3366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3C404C"/>
                </a:solidFill>
                <a:latin typeface="Helvetica"/>
              </a:rPr>
              <a:t>云端基础动作识别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46000" y="2890000"/>
            <a:ext cx="5286000" cy="336666"/>
          </a:xfrm>
          <a:prstGeom prst="rect">
            <a:avLst/>
          </a:prstGeom>
          <a:solidFill>
            <a:srgbClr val="FFFFFF"/>
          </a:solidFill>
          <a:ln w="12700">
            <a:solidFill>
              <a:srgbClr val="367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46000" y="2890000"/>
            <a:ext cx="60000" cy="336666"/>
          </a:xfrm>
          <a:prstGeom prst="rect">
            <a:avLst/>
          </a:prstGeom>
          <a:solidFill>
            <a:srgbClr val="367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000" y="2910000"/>
            <a:ext cx="4886000" cy="3366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i="0">
                <a:solidFill>
                  <a:srgbClr val="1A2A44"/>
                </a:solidFill>
                <a:latin typeface="Helvetica"/>
              </a:rPr>
              <a:t>端侧 VLM 行为理解 + 结构化 JSON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-40000" y="3326666"/>
            <a:ext cx="640000" cy="3366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1">
                <a:solidFill>
                  <a:srgbClr val="787882"/>
                </a:solidFill>
                <a:latin typeface="Helvetica"/>
              </a:rPr>
              <a:t>多模态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0000" y="3306666"/>
            <a:ext cx="5286000" cy="336666"/>
          </a:xfrm>
          <a:prstGeom prst="rect">
            <a:avLst/>
          </a:prstGeom>
          <a:solidFill>
            <a:srgbClr val="FFFFFF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0000" y="3326666"/>
            <a:ext cx="4886000" cy="3366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3C404C"/>
                </a:solidFill>
                <a:latin typeface="Helvetica"/>
              </a:rPr>
              <a:t>视频为主，音频不做处理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46000" y="3306666"/>
            <a:ext cx="5286000" cy="336666"/>
          </a:xfrm>
          <a:prstGeom prst="rect">
            <a:avLst/>
          </a:prstGeom>
          <a:solidFill>
            <a:srgbClr val="FFFFFF"/>
          </a:solidFill>
          <a:ln w="12700">
            <a:solidFill>
              <a:srgbClr val="367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6000" y="3306666"/>
            <a:ext cx="60000" cy="336666"/>
          </a:xfrm>
          <a:prstGeom prst="rect">
            <a:avLst/>
          </a:prstGeom>
          <a:solidFill>
            <a:srgbClr val="367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000" y="3326666"/>
            <a:ext cx="4886000" cy="3366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i="0">
                <a:solidFill>
                  <a:srgbClr val="1A2A44"/>
                </a:solidFill>
                <a:latin typeface="Helvetica"/>
              </a:rPr>
              <a:t>视频 + 音频事件 (呕吐/吃饭/饮水/...)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-40000" y="3743332"/>
            <a:ext cx="640000" cy="3366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1">
                <a:solidFill>
                  <a:srgbClr val="787882"/>
                </a:solidFill>
                <a:latin typeface="Helvetica"/>
              </a:rPr>
              <a:t>隐私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0000" y="3723332"/>
            <a:ext cx="5286000" cy="336666"/>
          </a:xfrm>
          <a:prstGeom prst="rect">
            <a:avLst/>
          </a:prstGeom>
          <a:solidFill>
            <a:srgbClr val="FFFFFF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0000" y="3743332"/>
            <a:ext cx="4886000" cy="3366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3C404C"/>
                </a:solidFill>
                <a:latin typeface="Helvetica"/>
              </a:rPr>
              <a:t>视频传云；隐私合规压力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46000" y="3723332"/>
            <a:ext cx="5286000" cy="336666"/>
          </a:xfrm>
          <a:prstGeom prst="rect">
            <a:avLst/>
          </a:prstGeom>
          <a:solidFill>
            <a:srgbClr val="FFFFFF"/>
          </a:solidFill>
          <a:ln w="12700">
            <a:solidFill>
              <a:srgbClr val="367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46000" y="3723332"/>
            <a:ext cx="60000" cy="336666"/>
          </a:xfrm>
          <a:prstGeom prst="rect">
            <a:avLst/>
          </a:prstGeom>
          <a:solidFill>
            <a:srgbClr val="367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46000" y="3743332"/>
            <a:ext cx="4886000" cy="3366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i="0">
                <a:solidFill>
                  <a:srgbClr val="1A2A44"/>
                </a:solidFill>
                <a:latin typeface="Helvetica"/>
              </a:rPr>
              <a:t>全程端侧推理，视频不出设备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-40000" y="4159998"/>
            <a:ext cx="640000" cy="3366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1">
                <a:solidFill>
                  <a:srgbClr val="787882"/>
                </a:solidFill>
                <a:latin typeface="Helvetica"/>
              </a:rPr>
              <a:t>延迟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60000" y="4139998"/>
            <a:ext cx="5286000" cy="336666"/>
          </a:xfrm>
          <a:prstGeom prst="rect">
            <a:avLst/>
          </a:prstGeom>
          <a:solidFill>
            <a:srgbClr val="FFFFFF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0000" y="4159998"/>
            <a:ext cx="4886000" cy="3366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3C404C"/>
                </a:solidFill>
                <a:latin typeface="Helvetica"/>
              </a:rPr>
              <a:t>2 – 5 秒起（往返云）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46000" y="4139998"/>
            <a:ext cx="5286000" cy="336666"/>
          </a:xfrm>
          <a:prstGeom prst="rect">
            <a:avLst/>
          </a:prstGeom>
          <a:solidFill>
            <a:srgbClr val="FFFFFF"/>
          </a:solidFill>
          <a:ln w="12700">
            <a:solidFill>
              <a:srgbClr val="367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246000" y="4139998"/>
            <a:ext cx="60000" cy="336666"/>
          </a:xfrm>
          <a:prstGeom prst="rect">
            <a:avLst/>
          </a:prstGeom>
          <a:solidFill>
            <a:srgbClr val="367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46000" y="4159998"/>
            <a:ext cx="4886000" cy="3366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i="0">
                <a:solidFill>
                  <a:srgbClr val="1A2A44"/>
                </a:solidFill>
                <a:latin typeface="Helvetica"/>
              </a:rPr>
              <a:t>&lt; 4 秒 P95（本地）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-40000" y="4576664"/>
            <a:ext cx="640000" cy="3366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1">
                <a:solidFill>
                  <a:srgbClr val="787882"/>
                </a:solidFill>
                <a:latin typeface="Helvetica"/>
              </a:rPr>
              <a:t>可升级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60000" y="4556664"/>
            <a:ext cx="5286000" cy="336666"/>
          </a:xfrm>
          <a:prstGeom prst="rect">
            <a:avLst/>
          </a:prstGeom>
          <a:solidFill>
            <a:srgbClr val="FFFFFF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0000" y="4576664"/>
            <a:ext cx="4886000" cy="3366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3C404C"/>
                </a:solidFill>
                <a:latin typeface="Helvetica"/>
              </a:rPr>
              <a:t>厂商云服务耦合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246000" y="4556664"/>
            <a:ext cx="5286000" cy="336666"/>
          </a:xfrm>
          <a:prstGeom prst="rect">
            <a:avLst/>
          </a:prstGeom>
          <a:solidFill>
            <a:srgbClr val="FFFFFF"/>
          </a:solidFill>
          <a:ln w="12700">
            <a:solidFill>
              <a:srgbClr val="367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246000" y="4556664"/>
            <a:ext cx="60000" cy="336666"/>
          </a:xfrm>
          <a:prstGeom prst="rect">
            <a:avLst/>
          </a:prstGeom>
          <a:solidFill>
            <a:srgbClr val="367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46000" y="4576664"/>
            <a:ext cx="4886000" cy="3366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i="0">
                <a:solidFill>
                  <a:srgbClr val="1A2A44"/>
                </a:solidFill>
                <a:latin typeface="Helvetica"/>
              </a:rPr>
              <a:t>签名 OTA + canary 灰度 + 回滚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-40000" y="4993330"/>
            <a:ext cx="640000" cy="3366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1">
                <a:solidFill>
                  <a:srgbClr val="787882"/>
                </a:solidFill>
                <a:latin typeface="Helvetica"/>
              </a:rPr>
              <a:t>离线可用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60000" y="4973330"/>
            <a:ext cx="5286000" cy="336666"/>
          </a:xfrm>
          <a:prstGeom prst="rect">
            <a:avLst/>
          </a:prstGeom>
          <a:solidFill>
            <a:srgbClr val="FFFFFF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60000" y="4993330"/>
            <a:ext cx="4886000" cy="3366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3C404C"/>
                </a:solidFill>
                <a:latin typeface="Helvetica"/>
              </a:rPr>
              <a:t>断网基本失效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246000" y="4973330"/>
            <a:ext cx="5286000" cy="336666"/>
          </a:xfrm>
          <a:prstGeom prst="rect">
            <a:avLst/>
          </a:prstGeom>
          <a:solidFill>
            <a:srgbClr val="FFFFFF"/>
          </a:solidFill>
          <a:ln w="12700">
            <a:solidFill>
              <a:srgbClr val="367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246000" y="4973330"/>
            <a:ext cx="60000" cy="336666"/>
          </a:xfrm>
          <a:prstGeom prst="rect">
            <a:avLst/>
          </a:prstGeom>
          <a:solidFill>
            <a:srgbClr val="367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46000" y="4993330"/>
            <a:ext cx="4886000" cy="3366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i="0">
                <a:solidFill>
                  <a:srgbClr val="1A2A44"/>
                </a:solidFill>
                <a:latin typeface="Helvetica"/>
              </a:rPr>
              <a:t>纯端侧能力；网络只用于 OTA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60000" y="6418000"/>
            <a:ext cx="50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787882"/>
                </a:solidFill>
                <a:latin typeface="Helvetica"/>
              </a:rPr>
              <a:t>Train-Pet-Pipeline · Technical Overview · matrix 2026.10-ecosystem-cleanup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0000"/>
          </a:xfrm>
          <a:prstGeom prst="rect">
            <a:avLst/>
          </a:prstGeom>
          <a:solidFill>
            <a:srgbClr val="367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60000" y="200000"/>
            <a:ext cx="2000000" cy="3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367BD6"/>
                </a:solidFill>
                <a:latin typeface="Helvetica"/>
              </a:rPr>
              <a:t>OUR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0000" y="420000"/>
            <a:ext cx="11272000" cy="6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1A2A44"/>
                </a:solidFill>
                <a:latin typeface="Helvetica"/>
              </a:rPr>
              <a:t>解决方案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0000" y="1020000"/>
            <a:ext cx="112720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787882"/>
                </a:solidFill>
                <a:latin typeface="Helvetica"/>
              </a:rPr>
              <a:t>一台端侧 AI 设备 · 三大能力柱 · 签名 OTA 闭环</a:t>
            </a:r>
          </a:p>
        </p:txBody>
      </p:sp>
      <p:sp>
        <p:nvSpPr>
          <p:cNvPr id="6" name="Rectangle 5"/>
          <p:cNvSpPr/>
          <p:nvPr/>
        </p:nvSpPr>
        <p:spPr>
          <a:xfrm>
            <a:off x="460000" y="1460000"/>
            <a:ext cx="11272000" cy="15000"/>
          </a:xfrm>
          <a:prstGeom prst="rect">
            <a:avLst/>
          </a:prstGeom>
          <a:solidFill>
            <a:srgbClr val="C8C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1000" y="1800000"/>
            <a:ext cx="3450000" cy="170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1000" y="1800000"/>
            <a:ext cx="3450000" cy="110000"/>
          </a:xfrm>
          <a:prstGeom prst="rect">
            <a:avLst/>
          </a:prstGeom>
          <a:solidFill>
            <a:srgbClr val="367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1000" y="2050000"/>
            <a:ext cx="800000" cy="6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 i="0">
                <a:solidFill>
                  <a:srgbClr val="367BD6"/>
                </a:solidFill>
                <a:latin typeface="Helvetica"/>
              </a:rPr>
              <a:t>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01000" y="2080000"/>
            <a:ext cx="2150000" cy="5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A2A44"/>
                </a:solidFill>
                <a:latin typeface="Helvetica"/>
              </a:rPr>
              <a:t>VLM 视觉语言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1000" y="2700000"/>
            <a:ext cx="2950000" cy="7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i="0">
                <a:solidFill>
                  <a:srgbClr val="3C404C"/>
                </a:solidFill>
                <a:latin typeface="Helvetica"/>
              </a:rPr>
              <a:t>Qwen2-VL-2B LoRA SFT / DPO</a:t>
            </a:r>
          </a:p>
          <a:p>
            <a:pPr algn="l">
              <a:lnSpc>
                <a:spcPct val="150000"/>
              </a:lnSpc>
            </a:pPr>
            <a:r>
              <a:rPr sz="1150" b="0" i="0">
                <a:solidFill>
                  <a:srgbClr val="3C404C"/>
                </a:solidFill>
                <a:latin typeface="Helvetica"/>
              </a:rPr>
              <a:t>结构化 JSON (schema_compliance 0.99)</a:t>
            </a:r>
          </a:p>
          <a:p>
            <a:pPr algn="l">
              <a:lnSpc>
                <a:spcPct val="150000"/>
              </a:lnSpc>
            </a:pPr>
            <a:r>
              <a:rPr sz="1150" b="0" i="0">
                <a:solidFill>
                  <a:srgbClr val="3C404C"/>
                </a:solidFill>
                <a:latin typeface="Helvetica"/>
              </a:rPr>
              <a:t>端侧 RKLLM W4A16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71000" y="1800000"/>
            <a:ext cx="3450000" cy="170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71000" y="1800000"/>
            <a:ext cx="3450000" cy="110000"/>
          </a:xfrm>
          <a:prstGeom prst="rect">
            <a:avLst/>
          </a:prstGeom>
          <a:solidFill>
            <a:srgbClr val="26A2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31000" y="2050000"/>
            <a:ext cx="800000" cy="6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 i="0">
                <a:solidFill>
                  <a:srgbClr val="26A29C"/>
                </a:solidFill>
                <a:latin typeface="Helvetica"/>
              </a:rPr>
              <a:t>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71000" y="2080000"/>
            <a:ext cx="2150000" cy="5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A2A44"/>
                </a:solidFill>
                <a:latin typeface="Helvetica"/>
              </a:rPr>
              <a:t>音频事件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1000" y="2700000"/>
            <a:ext cx="2950000" cy="7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i="0">
                <a:solidFill>
                  <a:srgbClr val="3C404C"/>
                </a:solidFill>
                <a:latin typeface="Helvetica"/>
              </a:rPr>
              <a:t>PANNs MobileNetV2 AudioSet CNN</a:t>
            </a:r>
          </a:p>
          <a:p>
            <a:pPr algn="l">
              <a:lnSpc>
                <a:spcPct val="150000"/>
              </a:lnSpc>
            </a:pPr>
            <a:r>
              <a:rPr sz="1150" b="0" i="0">
                <a:solidFill>
                  <a:srgbClr val="3C404C"/>
                </a:solidFill>
                <a:latin typeface="Helvetica"/>
              </a:rPr>
              <a:t>5 类（呕吐 / 吃饭 / 饮水 / 环境 / 其他）</a:t>
            </a:r>
          </a:p>
          <a:p>
            <a:pPr algn="l">
              <a:lnSpc>
                <a:spcPct val="150000"/>
              </a:lnSpc>
            </a:pPr>
            <a:r>
              <a:rPr sz="1150" b="0" i="0">
                <a:solidFill>
                  <a:srgbClr val="3C404C"/>
                </a:solidFill>
                <a:latin typeface="Helvetica"/>
              </a:rPr>
              <a:t>端侧 RKNN INT8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41000" y="1800000"/>
            <a:ext cx="3450000" cy="170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41000" y="1800000"/>
            <a:ext cx="3450000" cy="110000"/>
          </a:xfrm>
          <a:prstGeom prst="rect">
            <a:avLst/>
          </a:prstGeom>
          <a:solidFill>
            <a:srgbClr val="EDA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01000" y="2050000"/>
            <a:ext cx="800000" cy="6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 i="0">
                <a:solidFill>
                  <a:srgbClr val="EDA83E"/>
                </a:solidFill>
                <a:latin typeface="Helvetica"/>
              </a:rPr>
              <a:t>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41000" y="2080000"/>
            <a:ext cx="2150000" cy="5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A2A44"/>
                </a:solidFill>
                <a:latin typeface="Helvetica"/>
              </a:rPr>
              <a:t>签名 OTA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01000" y="2700000"/>
            <a:ext cx="2950000" cy="7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i="0">
                <a:solidFill>
                  <a:srgbClr val="3C404C"/>
                </a:solidFill>
                <a:latin typeface="Helvetica"/>
              </a:rPr>
              <a:t>bsdiff4 差分更新</a:t>
            </a:r>
          </a:p>
          <a:p>
            <a:pPr algn="l">
              <a:lnSpc>
                <a:spcPct val="150000"/>
              </a:lnSpc>
            </a:pPr>
            <a:r>
              <a:rPr sz="1150" b="0" i="0">
                <a:solidFill>
                  <a:srgbClr val="3C404C"/>
                </a:solidFill>
                <a:latin typeface="Helvetica"/>
              </a:rPr>
              <a:t>5 状态 canary rollout + 48h 观察窗</a:t>
            </a:r>
          </a:p>
          <a:p>
            <a:pPr algn="l">
              <a:lnSpc>
                <a:spcPct val="150000"/>
              </a:lnSpc>
            </a:pPr>
            <a:r>
              <a:rPr sz="1150" b="0" i="0">
                <a:solidFill>
                  <a:srgbClr val="3C404C"/>
                </a:solidFill>
                <a:latin typeface="Helvetica"/>
              </a:rPr>
              <a:t>SHA-256 manifest + optional RSA 签名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0000" y="3820000"/>
            <a:ext cx="10872000" cy="1100000"/>
          </a:xfrm>
          <a:prstGeom prst="rect">
            <a:avLst/>
          </a:prstGeom>
          <a:solidFill>
            <a:srgbClr val="1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0000" y="3960000"/>
            <a:ext cx="50000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367BD6"/>
                </a:solidFill>
                <a:latin typeface="Helvetica"/>
              </a:rPr>
              <a:t>HARDWARE · 设备内置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0000" y="4380000"/>
            <a:ext cx="4000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FFFFFF"/>
                </a:solidFill>
                <a:latin typeface="Helvetica"/>
              </a:rPr>
              <a:t>🔲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60000" y="4390000"/>
            <a:ext cx="2138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Menlo"/>
              </a:rPr>
              <a:t>RK3576 SoC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60000" y="4660000"/>
            <a:ext cx="2138000" cy="2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C8CCD2"/>
                </a:solidFill>
                <a:latin typeface="Helvetica"/>
              </a:rPr>
              <a:t>6 TOPS NPU · VLM + Audio</a:t>
            </a:r>
          </a:p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C8CCD2"/>
                </a:solidFill>
                <a:latin typeface="Helvetica"/>
              </a:rPr>
              <a:t>同时推理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58000" y="4380000"/>
            <a:ext cx="4000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FFFFFF"/>
                </a:solidFill>
                <a:latin typeface="Helvetica"/>
              </a:rPr>
              <a:t>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98000" y="4390000"/>
            <a:ext cx="2138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Menlo"/>
              </a:rPr>
              <a:t>Camera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98000" y="4660000"/>
            <a:ext cx="2138000" cy="2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C8CCD2"/>
                </a:solidFill>
                <a:latin typeface="Helvetica"/>
              </a:rPr>
              <a:t>1080p · 广角</a:t>
            </a:r>
          </a:p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C8CCD2"/>
                </a:solidFill>
                <a:latin typeface="Helvetica"/>
              </a:rPr>
              <a:t>端侧流入 VLM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0" y="4380000"/>
            <a:ext cx="4000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FFFFFF"/>
                </a:solidFill>
                <a:latin typeface="Helvetica"/>
              </a:rPr>
              <a:t>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36000" y="4390000"/>
            <a:ext cx="2138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Menlo"/>
              </a:rPr>
              <a:t>Microphone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36000" y="4660000"/>
            <a:ext cx="2138000" cy="2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C8CCD2"/>
                </a:solidFill>
                <a:latin typeface="Helvetica"/>
              </a:rPr>
              <a:t>高采样率 mic</a:t>
            </a:r>
          </a:p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C8CCD2"/>
                </a:solidFill>
                <a:latin typeface="Helvetica"/>
              </a:rPr>
              <a:t>音频事件检测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34000" y="4380000"/>
            <a:ext cx="4000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FFFFFF"/>
                </a:solidFill>
                <a:latin typeface="Helvetica"/>
              </a:rPr>
              <a:t>🥣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74000" y="4390000"/>
            <a:ext cx="2138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Menlo"/>
              </a:rPr>
              <a:t>Feeder Motor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74000" y="4660000"/>
            <a:ext cx="2138000" cy="2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C8CCD2"/>
                </a:solidFill>
                <a:latin typeface="Helvetica"/>
              </a:rPr>
              <a:t>定量投喂</a:t>
            </a:r>
          </a:p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C8CCD2"/>
                </a:solidFill>
                <a:latin typeface="Helvetica"/>
              </a:rPr>
              <a:t>受 VLM 决策驱动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0000" y="6418000"/>
            <a:ext cx="50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787882"/>
                </a:solidFill>
                <a:latin typeface="Helvetica"/>
              </a:rPr>
              <a:t>Train-Pet-Pipeline · Technical Overview · matrix 2026.10-ecosystem-cleanup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0000"/>
          </a:xfrm>
          <a:prstGeom prst="rect">
            <a:avLst/>
          </a:prstGeom>
          <a:solidFill>
            <a:srgbClr val="367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60000" y="200000"/>
            <a:ext cx="2000000" cy="3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367BD6"/>
                </a:solidFill>
                <a:latin typeface="Helvetica"/>
              </a:rPr>
              <a:t>USER JOURNEY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0000" y="420000"/>
            <a:ext cx="11272000" cy="6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1A2A44"/>
                </a:solidFill>
                <a:latin typeface="Helvetica"/>
              </a:rPr>
              <a:t>用户旅程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0000" y="1020000"/>
            <a:ext cx="112720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787882"/>
                </a:solidFill>
                <a:latin typeface="Helvetica"/>
              </a:rPr>
              <a:t>从开箱到日常预警 · 5 步体验</a:t>
            </a:r>
          </a:p>
        </p:txBody>
      </p:sp>
      <p:sp>
        <p:nvSpPr>
          <p:cNvPr id="6" name="Rectangle 5"/>
          <p:cNvSpPr/>
          <p:nvPr/>
        </p:nvSpPr>
        <p:spPr>
          <a:xfrm>
            <a:off x="460000" y="1460000"/>
            <a:ext cx="11272000" cy="15000"/>
          </a:xfrm>
          <a:prstGeom prst="rect">
            <a:avLst/>
          </a:prstGeom>
          <a:solidFill>
            <a:srgbClr val="C8C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76000" y="2100000"/>
            <a:ext cx="2000000" cy="260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76000" y="2100000"/>
            <a:ext cx="2000000" cy="100000"/>
          </a:xfrm>
          <a:prstGeom prst="rect">
            <a:avLst/>
          </a:prstGeom>
          <a:solidFill>
            <a:srgbClr val="367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296000" y="2300000"/>
            <a:ext cx="560000" cy="560000"/>
          </a:xfrm>
          <a:prstGeom prst="ellipse">
            <a:avLst/>
          </a:prstGeom>
          <a:solidFill>
            <a:srgbClr val="367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96000" y="2300000"/>
            <a:ext cx="560000" cy="5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FFFFFF"/>
                </a:solidFill>
                <a:latin typeface="Menlo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000" y="3000000"/>
            <a:ext cx="18000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1A2A44"/>
                </a:solidFill>
                <a:latin typeface="Helvetica"/>
              </a:rPr>
              <a:t>开箱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6000" y="3500000"/>
            <a:ext cx="1600000" cy="11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050" b="0" i="0">
                <a:solidFill>
                  <a:srgbClr val="3C404C"/>
                </a:solidFill>
                <a:latin typeface="Helvetica"/>
              </a:rPr>
              <a:t>扫码联网</a:t>
            </a:r>
          </a:p>
          <a:p>
            <a:pPr algn="ctr">
              <a:lnSpc>
                <a:spcPct val="150000"/>
              </a:lnSpc>
            </a:pPr>
            <a:r>
              <a:rPr sz="1050" b="0" i="0">
                <a:solidFill>
                  <a:srgbClr val="3C404C"/>
                </a:solidFill>
                <a:latin typeface="Helvetica"/>
              </a:rPr>
              <a:t>Label Studio 同级简单 setup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2596000" y="3300000"/>
            <a:ext cx="220000" cy="200000"/>
          </a:xfrm>
          <a:prstGeom prst="rightArrow">
            <a:avLst/>
          </a:prstGeom>
          <a:solidFill>
            <a:srgbClr val="C8C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836000" y="2100000"/>
            <a:ext cx="2000000" cy="260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836000" y="2100000"/>
            <a:ext cx="2000000" cy="100000"/>
          </a:xfrm>
          <a:prstGeom prst="rect">
            <a:avLst/>
          </a:prstGeom>
          <a:solidFill>
            <a:srgbClr val="26A2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56000" y="2300000"/>
            <a:ext cx="560000" cy="560000"/>
          </a:xfrm>
          <a:prstGeom prst="ellipse">
            <a:avLst/>
          </a:prstGeom>
          <a:solidFill>
            <a:srgbClr val="26A2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56000" y="2300000"/>
            <a:ext cx="560000" cy="5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FFFFFF"/>
                </a:solidFill>
                <a:latin typeface="Menlo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36000" y="3000000"/>
            <a:ext cx="18000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1A2A44"/>
                </a:solidFill>
                <a:latin typeface="Helvetica"/>
              </a:rPr>
              <a:t>注册宠物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36000" y="3500000"/>
            <a:ext cx="1600000" cy="11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050" b="0" i="0">
                <a:solidFill>
                  <a:srgbClr val="3C404C"/>
                </a:solidFill>
                <a:latin typeface="Helvetica"/>
              </a:rPr>
              <a:t>录 5-10 秒视频绕宠物一圈</a:t>
            </a:r>
          </a:p>
          <a:p>
            <a:pPr algn="ctr">
              <a:lnSpc>
                <a:spcPct val="150000"/>
              </a:lnSpc>
            </a:pPr>
            <a:r>
              <a:rPr sz="1050" b="0" i="0">
                <a:solidFill>
                  <a:srgbClr val="3C404C"/>
                </a:solidFill>
                <a:latin typeface="Helvetica"/>
              </a:rPr>
              <a:t>→ PetCard 生成 (pet-id)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4856000" y="3300000"/>
            <a:ext cx="220000" cy="200000"/>
          </a:xfrm>
          <a:prstGeom prst="rightArrow">
            <a:avLst/>
          </a:prstGeom>
          <a:solidFill>
            <a:srgbClr val="C8C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96000" y="2100000"/>
            <a:ext cx="2000000" cy="260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96000" y="2100000"/>
            <a:ext cx="2000000" cy="100000"/>
          </a:xfrm>
          <a:prstGeom prst="rect">
            <a:avLst/>
          </a:prstGeom>
          <a:solidFill>
            <a:srgbClr val="EDA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816000" y="2300000"/>
            <a:ext cx="560000" cy="560000"/>
          </a:xfrm>
          <a:prstGeom prst="ellipse">
            <a:avLst/>
          </a:prstGeom>
          <a:solidFill>
            <a:srgbClr val="EDA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16000" y="2300000"/>
            <a:ext cx="560000" cy="5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FFFFFF"/>
                </a:solidFill>
                <a:latin typeface="Menlo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96000" y="3000000"/>
            <a:ext cx="18000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1A2A44"/>
                </a:solidFill>
                <a:latin typeface="Helvetica"/>
              </a:rPr>
              <a:t>日常监控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96000" y="3500000"/>
            <a:ext cx="1600000" cy="11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050" b="0" i="0">
                <a:solidFill>
                  <a:srgbClr val="3C404C"/>
                </a:solidFill>
                <a:latin typeface="Helvetica"/>
              </a:rPr>
              <a:t>VLM 每帧读画面</a:t>
            </a:r>
          </a:p>
          <a:p>
            <a:pPr algn="ctr">
              <a:lnSpc>
                <a:spcPct val="150000"/>
              </a:lnSpc>
            </a:pPr>
            <a:r>
              <a:rPr sz="1050" b="0" i="0">
                <a:solidFill>
                  <a:srgbClr val="3C404C"/>
                </a:solidFill>
                <a:latin typeface="Helvetica"/>
              </a:rPr>
              <a:t>音频 CNN 听环境声</a:t>
            </a:r>
          </a:p>
          <a:p>
            <a:pPr algn="ctr">
              <a:lnSpc>
                <a:spcPct val="150000"/>
              </a:lnSpc>
            </a:pPr>
            <a:r>
              <a:rPr sz="1050" b="0" i="0">
                <a:solidFill>
                  <a:srgbClr val="3C404C"/>
                </a:solidFill>
                <a:latin typeface="Helvetica"/>
              </a:rPr>
              <a:t>结构化 JSON 上传 App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7116000" y="3300000"/>
            <a:ext cx="220000" cy="200000"/>
          </a:xfrm>
          <a:prstGeom prst="rightArrow">
            <a:avLst/>
          </a:prstGeom>
          <a:solidFill>
            <a:srgbClr val="C8C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356000" y="2100000"/>
            <a:ext cx="2000000" cy="260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56000" y="2100000"/>
            <a:ext cx="2000000" cy="100000"/>
          </a:xfrm>
          <a:prstGeom prst="rect">
            <a:avLst/>
          </a:prstGeom>
          <a:solidFill>
            <a:srgbClr val="E05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076000" y="2300000"/>
            <a:ext cx="560000" cy="560000"/>
          </a:xfrm>
          <a:prstGeom prst="ellipse">
            <a:avLst/>
          </a:prstGeom>
          <a:solidFill>
            <a:srgbClr val="E05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76000" y="2300000"/>
            <a:ext cx="560000" cy="5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FFFFFF"/>
                </a:solidFill>
                <a:latin typeface="Menlo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56000" y="3000000"/>
            <a:ext cx="18000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1A2A44"/>
                </a:solidFill>
                <a:latin typeface="Helvetica"/>
              </a:rPr>
              <a:t>异常预警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56000" y="3500000"/>
            <a:ext cx="1600000" cy="11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050" b="0" i="0">
                <a:solidFill>
                  <a:srgbClr val="3C404C"/>
                </a:solidFill>
                <a:latin typeface="Helvetica"/>
              </a:rPr>
              <a:t>呕吐 / 拒食 / 行为异常</a:t>
            </a:r>
          </a:p>
          <a:p>
            <a:pPr algn="ctr">
              <a:lnSpc>
                <a:spcPct val="150000"/>
              </a:lnSpc>
            </a:pPr>
            <a:r>
              <a:rPr sz="1050" b="0" i="0">
                <a:solidFill>
                  <a:srgbClr val="3C404C"/>
                </a:solidFill>
                <a:latin typeface="Helvetica"/>
              </a:rPr>
              <a:t>app 即时通知 + 视频段</a:t>
            </a:r>
          </a:p>
          <a:p>
            <a:pPr algn="ctr">
              <a:lnSpc>
                <a:spcPct val="150000"/>
              </a:lnSpc>
            </a:pPr>
            <a:r>
              <a:rPr sz="1050" b="0" i="0">
                <a:solidFill>
                  <a:srgbClr val="3C404C"/>
                </a:solidFill>
                <a:latin typeface="Helvetica"/>
              </a:rPr>
              <a:t>首 30 秒 free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9376000" y="3300000"/>
            <a:ext cx="220000" cy="200000"/>
          </a:xfrm>
          <a:prstGeom prst="rightArrow">
            <a:avLst/>
          </a:prstGeom>
          <a:solidFill>
            <a:srgbClr val="C8C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616000" y="2100000"/>
            <a:ext cx="2000000" cy="260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616000" y="2100000"/>
            <a:ext cx="2000000" cy="100000"/>
          </a:xfrm>
          <a:prstGeom prst="rect">
            <a:avLst/>
          </a:prstGeom>
          <a:solidFill>
            <a:srgbClr val="C25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0336000" y="2300000"/>
            <a:ext cx="560000" cy="560000"/>
          </a:xfrm>
          <a:prstGeom prst="ellipse">
            <a:avLst/>
          </a:prstGeom>
          <a:solidFill>
            <a:srgbClr val="C25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336000" y="2300000"/>
            <a:ext cx="560000" cy="5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FFFFFF"/>
                </a:solidFill>
                <a:latin typeface="Menlo"/>
              </a:rPr>
              <a:t>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16000" y="3000000"/>
            <a:ext cx="18000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1A2A44"/>
                </a:solidFill>
                <a:latin typeface="Helvetica"/>
              </a:rPr>
              <a:t>固件升级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816000" y="3500000"/>
            <a:ext cx="1600000" cy="11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050" b="0" i="0">
                <a:solidFill>
                  <a:srgbClr val="3C404C"/>
                </a:solidFill>
                <a:latin typeface="Helvetica"/>
              </a:rPr>
              <a:t>签名 OTA canary 推送</a:t>
            </a:r>
          </a:p>
          <a:p>
            <a:pPr algn="ctr">
              <a:lnSpc>
                <a:spcPct val="150000"/>
              </a:lnSpc>
            </a:pPr>
            <a:r>
              <a:rPr sz="1050" b="0" i="0">
                <a:solidFill>
                  <a:srgbClr val="3C404C"/>
                </a:solidFill>
                <a:latin typeface="Helvetica"/>
              </a:rPr>
              <a:t>5% → 48h 观察 → 全量</a:t>
            </a:r>
          </a:p>
          <a:p>
            <a:pPr algn="ctr">
              <a:lnSpc>
                <a:spcPct val="150000"/>
              </a:lnSpc>
            </a:pPr>
            <a:r>
              <a:rPr sz="1050" b="0" i="0">
                <a:solidFill>
                  <a:srgbClr val="3C404C"/>
                </a:solidFill>
                <a:latin typeface="Helvetica"/>
              </a:rPr>
              <a:t>失败自动回滚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0000" y="6418000"/>
            <a:ext cx="50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787882"/>
                </a:solidFill>
                <a:latin typeface="Helvetica"/>
              </a:rPr>
              <a:t>Train-Pet-Pipeline · Technical Overview · matrix 2026.10-ecosystem-cleanup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0000"/>
          </a:xfrm>
          <a:prstGeom prst="rect">
            <a:avLst/>
          </a:prstGeom>
          <a:solidFill>
            <a:srgbClr val="367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60000" y="200000"/>
            <a:ext cx="2000000" cy="3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367BD6"/>
                </a:solidFill>
                <a:latin typeface="Helvetica"/>
              </a:rPr>
              <a:t>§ 0.1 · Pipeline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0000" y="420000"/>
            <a:ext cx="11272000" cy="6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1A2A44"/>
                </a:solidFill>
                <a:latin typeface="Helvetica"/>
              </a:rPr>
              <a:t>数据流水线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0000" y="1020000"/>
            <a:ext cx="112720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787882"/>
                </a:solidFill>
                <a:latin typeface="Helvetica"/>
              </a:rPr>
              <a:t>契约 → 数据 → 标注 → 训练 → 评估 → 量化 → 发布</a:t>
            </a:r>
          </a:p>
        </p:txBody>
      </p:sp>
      <p:sp>
        <p:nvSpPr>
          <p:cNvPr id="6" name="Rectangle 5"/>
          <p:cNvSpPr/>
          <p:nvPr/>
        </p:nvSpPr>
        <p:spPr>
          <a:xfrm>
            <a:off x="460000" y="1460000"/>
            <a:ext cx="11272000" cy="15000"/>
          </a:xfrm>
          <a:prstGeom prst="rect">
            <a:avLst/>
          </a:prstGeom>
          <a:solidFill>
            <a:srgbClr val="C8C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86000" y="2300000"/>
            <a:ext cx="1340000" cy="105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435E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86000" y="2300000"/>
            <a:ext cx="1340000" cy="80000"/>
          </a:xfrm>
          <a:prstGeom prst="rect">
            <a:avLst/>
          </a:prstGeom>
          <a:solidFill>
            <a:srgbClr val="435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6000" y="2470000"/>
            <a:ext cx="1340000" cy="3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435EB8"/>
                </a:solidFill>
                <a:latin typeface="Menlo"/>
              </a:rPr>
              <a:t>pet-schema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6000" y="2840000"/>
            <a:ext cx="1340000" cy="4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 i="0">
                <a:solidFill>
                  <a:srgbClr val="1A2A44"/>
                </a:solidFill>
                <a:latin typeface="Helvetica"/>
              </a:rPr>
              <a:t>契约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336000" y="2725000"/>
            <a:ext cx="120000" cy="200000"/>
          </a:xfrm>
          <a:prstGeom prst="rightArrow">
            <a:avLst/>
          </a:prstGeom>
          <a:solidFill>
            <a:srgbClr val="787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466000" y="2300000"/>
            <a:ext cx="1340000" cy="105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2985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466000" y="2300000"/>
            <a:ext cx="1340000" cy="80000"/>
          </a:xfrm>
          <a:prstGeom prst="rect">
            <a:avLst/>
          </a:prstGeom>
          <a:solidFill>
            <a:srgbClr val="2985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66000" y="2470000"/>
            <a:ext cx="1340000" cy="3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2985A8"/>
                </a:solidFill>
                <a:latin typeface="Menlo"/>
              </a:rPr>
              <a:t>pet-data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6000" y="2840000"/>
            <a:ext cx="1340000" cy="4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 i="0">
                <a:solidFill>
                  <a:srgbClr val="1A2A44"/>
                </a:solidFill>
                <a:latin typeface="Helvetica"/>
              </a:rPr>
              <a:t>采集</a:t>
            </a:r>
          </a:p>
          <a:p>
            <a:pPr algn="ctr">
              <a:lnSpc>
                <a:spcPct val="120000"/>
              </a:lnSpc>
            </a:pPr>
            <a:r>
              <a:rPr sz="1300" b="0" i="0">
                <a:solidFill>
                  <a:srgbClr val="1A2A44"/>
                </a:solidFill>
                <a:latin typeface="Helvetica"/>
              </a:rPr>
              <a:t>清洗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3816000" y="2725000"/>
            <a:ext cx="120000" cy="200000"/>
          </a:xfrm>
          <a:prstGeom prst="rightArrow">
            <a:avLst/>
          </a:prstGeom>
          <a:solidFill>
            <a:srgbClr val="787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946000" y="2300000"/>
            <a:ext cx="1340000" cy="105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26A2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946000" y="2300000"/>
            <a:ext cx="1340000" cy="80000"/>
          </a:xfrm>
          <a:prstGeom prst="rect">
            <a:avLst/>
          </a:prstGeom>
          <a:solidFill>
            <a:srgbClr val="26A2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946000" y="2470000"/>
            <a:ext cx="1340000" cy="3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26A29C"/>
                </a:solidFill>
                <a:latin typeface="Menlo"/>
              </a:rPr>
              <a:t>pet-annotation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46000" y="2840000"/>
            <a:ext cx="1340000" cy="4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 i="0">
                <a:solidFill>
                  <a:srgbClr val="1A2A44"/>
                </a:solidFill>
                <a:latin typeface="Helvetica"/>
              </a:rPr>
              <a:t>4 范式</a:t>
            </a:r>
          </a:p>
          <a:p>
            <a:pPr algn="ctr">
              <a:lnSpc>
                <a:spcPct val="120000"/>
              </a:lnSpc>
            </a:pPr>
            <a:r>
              <a:rPr sz="1300" b="0" i="0">
                <a:solidFill>
                  <a:srgbClr val="1A2A44"/>
                </a:solidFill>
                <a:latin typeface="Helvetica"/>
              </a:rPr>
              <a:t>打标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5296000" y="2725000"/>
            <a:ext cx="120000" cy="200000"/>
          </a:xfrm>
          <a:prstGeom prst="rightArrow">
            <a:avLst/>
          </a:prstGeom>
          <a:solidFill>
            <a:srgbClr val="787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26000" y="2300000"/>
            <a:ext cx="1340000" cy="105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5AA3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26000" y="2300000"/>
            <a:ext cx="1340000" cy="80000"/>
          </a:xfrm>
          <a:prstGeom prst="rect">
            <a:avLst/>
          </a:prstGeom>
          <a:solidFill>
            <a:srgbClr val="5AA3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26000" y="2470000"/>
            <a:ext cx="1340000" cy="3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5AA35E"/>
                </a:solidFill>
                <a:latin typeface="Menlo"/>
              </a:rPr>
              <a:t>pet-train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26000" y="2840000"/>
            <a:ext cx="1340000" cy="4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 i="0">
                <a:solidFill>
                  <a:srgbClr val="1A2A44"/>
                </a:solidFill>
                <a:latin typeface="Helvetica"/>
              </a:rPr>
              <a:t>SFT+DPO</a:t>
            </a:r>
          </a:p>
          <a:p>
            <a:pPr algn="ctr">
              <a:lnSpc>
                <a:spcPct val="120000"/>
              </a:lnSpc>
            </a:pPr>
            <a:r>
              <a:rPr sz="1300" b="0" i="0">
                <a:solidFill>
                  <a:srgbClr val="1A2A44"/>
                </a:solidFill>
                <a:latin typeface="Helvetica"/>
              </a:rPr>
              <a:t>+Audio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6776000" y="2725000"/>
            <a:ext cx="120000" cy="200000"/>
          </a:xfrm>
          <a:prstGeom prst="rightArrow">
            <a:avLst/>
          </a:prstGeom>
          <a:solidFill>
            <a:srgbClr val="787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906000" y="2300000"/>
            <a:ext cx="1340000" cy="105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8EA4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906000" y="2300000"/>
            <a:ext cx="1340000" cy="80000"/>
          </a:xfrm>
          <a:prstGeom prst="rect">
            <a:avLst/>
          </a:prstGeom>
          <a:solidFill>
            <a:srgbClr val="8EA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06000" y="2470000"/>
            <a:ext cx="1340000" cy="3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8EA43A"/>
                </a:solidFill>
                <a:latin typeface="Menlo"/>
              </a:rPr>
              <a:t>pet-eval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06000" y="2840000"/>
            <a:ext cx="1340000" cy="4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 i="0">
                <a:solidFill>
                  <a:srgbClr val="1A2A44"/>
                </a:solidFill>
                <a:latin typeface="Helvetica"/>
              </a:rPr>
              <a:t>8 指标</a:t>
            </a:r>
          </a:p>
          <a:p>
            <a:pPr algn="ctr">
              <a:lnSpc>
                <a:spcPct val="120000"/>
              </a:lnSpc>
            </a:pPr>
            <a:r>
              <a:rPr sz="1300" b="0" i="0">
                <a:solidFill>
                  <a:srgbClr val="1A2A44"/>
                </a:solidFill>
                <a:latin typeface="Helvetica"/>
              </a:rPr>
              <a:t>+gate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8256000" y="2725000"/>
            <a:ext cx="120000" cy="200000"/>
          </a:xfrm>
          <a:prstGeom prst="rightArrow">
            <a:avLst/>
          </a:prstGeom>
          <a:solidFill>
            <a:srgbClr val="787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386000" y="2300000"/>
            <a:ext cx="1340000" cy="105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C28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386000" y="2300000"/>
            <a:ext cx="1340000" cy="80000"/>
          </a:xfrm>
          <a:prstGeom prst="rect">
            <a:avLst/>
          </a:prstGeom>
          <a:solidFill>
            <a:srgbClr val="C28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86000" y="2470000"/>
            <a:ext cx="1340000" cy="3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C28E2E"/>
                </a:solidFill>
                <a:latin typeface="Menlo"/>
              </a:rPr>
              <a:t>pet-quantize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86000" y="2840000"/>
            <a:ext cx="1340000" cy="4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 i="0">
                <a:solidFill>
                  <a:srgbClr val="1A2A44"/>
                </a:solidFill>
                <a:latin typeface="Helvetica"/>
              </a:rPr>
              <a:t>RKLLM</a:t>
            </a:r>
          </a:p>
          <a:p>
            <a:pPr algn="ctr">
              <a:lnSpc>
                <a:spcPct val="120000"/>
              </a:lnSpc>
            </a:pPr>
            <a:r>
              <a:rPr sz="1300" b="0" i="0">
                <a:solidFill>
                  <a:srgbClr val="1A2A44"/>
                </a:solidFill>
                <a:latin typeface="Helvetica"/>
              </a:rPr>
              <a:t>+RKNN</a:t>
            </a:r>
          </a:p>
        </p:txBody>
      </p:sp>
      <p:sp>
        <p:nvSpPr>
          <p:cNvPr id="36" name="Right Arrow 35"/>
          <p:cNvSpPr/>
          <p:nvPr/>
        </p:nvSpPr>
        <p:spPr>
          <a:xfrm>
            <a:off x="9736000" y="2725000"/>
            <a:ext cx="120000" cy="200000"/>
          </a:xfrm>
          <a:prstGeom prst="rightArrow">
            <a:avLst/>
          </a:prstGeom>
          <a:solidFill>
            <a:srgbClr val="787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866000" y="2300000"/>
            <a:ext cx="1340000" cy="105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C25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866000" y="2300000"/>
            <a:ext cx="1340000" cy="80000"/>
          </a:xfrm>
          <a:prstGeom prst="rect">
            <a:avLst/>
          </a:prstGeom>
          <a:solidFill>
            <a:srgbClr val="C25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866000" y="2470000"/>
            <a:ext cx="1340000" cy="3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C25E3E"/>
                </a:solidFill>
                <a:latin typeface="Menlo"/>
              </a:rPr>
              <a:t>pet-ota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866000" y="2840000"/>
            <a:ext cx="1340000" cy="4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 i="0">
                <a:solidFill>
                  <a:srgbClr val="1A2A44"/>
                </a:solidFill>
                <a:latin typeface="Helvetica"/>
              </a:rPr>
              <a:t>canary</a:t>
            </a:r>
          </a:p>
          <a:p>
            <a:pPr algn="ctr">
              <a:lnSpc>
                <a:spcPct val="120000"/>
              </a:lnSpc>
            </a:pPr>
            <a:r>
              <a:rPr sz="1300" b="0" i="0">
                <a:solidFill>
                  <a:srgbClr val="1A2A44"/>
                </a:solidFill>
                <a:latin typeface="Helvetica"/>
              </a:rPr>
              <a:t>rollout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756000" y="1100000"/>
            <a:ext cx="2820000" cy="750000"/>
          </a:xfrm>
          <a:prstGeom prst="roundRect">
            <a:avLst>
              <a:gd name="adj" fmla="val 12000"/>
            </a:avLst>
          </a:prstGeom>
          <a:solidFill>
            <a:srgbClr val="F0F1F4"/>
          </a:solidFill>
          <a:ln w="9525">
            <a:solidFill>
              <a:srgbClr val="2F6A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0000" rIns="40000" tIns="30000" bIns="30000" wrap="square"/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1A2A44"/>
                </a:solidFill>
                <a:latin typeface="Helvetica"/>
              </a:rPr>
              <a:t>pet-infra</a:t>
            </a:r>
          </a:p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1A2A44"/>
                </a:solidFill>
                <a:latin typeface="Helvetica"/>
              </a:rPr>
              <a:t>共享运行时 · 7 registries · orchestrator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176000" y="1850000"/>
            <a:ext cx="8000" cy="450000"/>
          </a:xfrm>
          <a:prstGeom prst="rect">
            <a:avLst/>
          </a:prstGeom>
          <a:solidFill>
            <a:srgbClr val="2F6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660000" y="3850000"/>
            <a:ext cx="10872000" cy="5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7A57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0000" rIns="40000" tIns="30000" bIns="30000" wrap="square"/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7A57A8"/>
                </a:solidFill>
                <a:latin typeface="Helvetica"/>
              </a:rPr>
              <a:t>pet-id · 独立 CLI 工具 · 零 pet-* 运行时依赖 · PetCard registry + petid CLI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0000" y="4600000"/>
            <a:ext cx="4000000" cy="2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787882"/>
                </a:solidFill>
                <a:latin typeface="Helvetica"/>
              </a:rPr>
              <a:t>实线方块 = 流水线节点 · 虚框 = 独立工具 · pet-infra 作 runtime 贯穿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0000" y="6418000"/>
            <a:ext cx="50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787882"/>
                </a:solidFill>
                <a:latin typeface="Helvetica"/>
              </a:rPr>
              <a:t>Train-Pet-Pipeline · Technical Overview · matrix 2026.10-ecosystem-cleanup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0000"/>
          </a:xfrm>
          <a:prstGeom prst="rect">
            <a:avLst/>
          </a:prstGeom>
          <a:solidFill>
            <a:srgbClr val="367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60000" y="200000"/>
            <a:ext cx="2000000" cy="3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367BD6"/>
                </a:solidFill>
                <a:latin typeface="Helvetica"/>
              </a:rPr>
              <a:t>§ 0.2 · Versions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0000" y="420000"/>
            <a:ext cx="11272000" cy="6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1A2A44"/>
                </a:solidFill>
                <a:latin typeface="Helvetica"/>
              </a:rPr>
              <a:t>最终版本表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0000" y="1020000"/>
            <a:ext cx="112720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787882"/>
                </a:solidFill>
                <a:latin typeface="Helvetica"/>
              </a:rPr>
              <a:t>compatibility_matrix.yaml · 2026.10-ecosystem-cleanup · 9 仓 tag 已推</a:t>
            </a:r>
          </a:p>
        </p:txBody>
      </p:sp>
      <p:sp>
        <p:nvSpPr>
          <p:cNvPr id="6" name="Rectangle 5"/>
          <p:cNvSpPr/>
          <p:nvPr/>
        </p:nvSpPr>
        <p:spPr>
          <a:xfrm>
            <a:off x="460000" y="1460000"/>
            <a:ext cx="11272000" cy="15000"/>
          </a:xfrm>
          <a:prstGeom prst="rect">
            <a:avLst/>
          </a:prstGeom>
          <a:solidFill>
            <a:srgbClr val="C8C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60000" y="1800000"/>
            <a:ext cx="2150000" cy="380000"/>
          </a:xfrm>
          <a:prstGeom prst="rect">
            <a:avLst/>
          </a:prstGeom>
          <a:solidFill>
            <a:srgbClr val="1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0000" y="1800000"/>
            <a:ext cx="205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Helvetica"/>
              </a:rPr>
              <a:t>仓库</a:t>
            </a:r>
          </a:p>
        </p:txBody>
      </p:sp>
      <p:sp>
        <p:nvSpPr>
          <p:cNvPr id="9" name="Rectangle 8"/>
          <p:cNvSpPr/>
          <p:nvPr/>
        </p:nvSpPr>
        <p:spPr>
          <a:xfrm>
            <a:off x="2860000" y="1800000"/>
            <a:ext cx="1300000" cy="380000"/>
          </a:xfrm>
          <a:prstGeom prst="rect">
            <a:avLst/>
          </a:prstGeom>
          <a:solidFill>
            <a:srgbClr val="1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60000" y="1800000"/>
            <a:ext cx="120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Helvetica"/>
              </a:rPr>
              <a:t>版本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00000" y="1800000"/>
            <a:ext cx="2250000" cy="380000"/>
          </a:xfrm>
          <a:prstGeom prst="rect">
            <a:avLst/>
          </a:prstGeom>
          <a:solidFill>
            <a:srgbClr val="1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00000" y="1800000"/>
            <a:ext cx="215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Helvetica"/>
              </a:rPr>
              <a:t>依赖形态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00000" y="1800000"/>
            <a:ext cx="4400000" cy="380000"/>
          </a:xfrm>
          <a:prstGeom prst="rect">
            <a:avLst/>
          </a:prstGeom>
          <a:solidFill>
            <a:srgbClr val="1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00000" y="1800000"/>
            <a:ext cx="430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Helvetica"/>
              </a:rPr>
              <a:t>本轮关键交付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" y="2180000"/>
            <a:ext cx="2150000" cy="380000"/>
          </a:xfrm>
          <a:prstGeom prst="rect">
            <a:avLst/>
          </a:prstGeom>
          <a:solidFill>
            <a:srgbClr val="FFFFFF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860000" y="2180000"/>
            <a:ext cx="1300000" cy="380000"/>
          </a:xfrm>
          <a:prstGeom prst="rect">
            <a:avLst/>
          </a:prstGeom>
          <a:solidFill>
            <a:srgbClr val="FFFFFF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00000" y="2180000"/>
            <a:ext cx="2250000" cy="380000"/>
          </a:xfrm>
          <a:prstGeom prst="rect">
            <a:avLst/>
          </a:prstGeom>
          <a:solidFill>
            <a:srgbClr val="FFFFFF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500000" y="2180000"/>
            <a:ext cx="4400000" cy="380000"/>
          </a:xfrm>
          <a:prstGeom prst="rect">
            <a:avLst/>
          </a:prstGeom>
          <a:solidFill>
            <a:srgbClr val="FFFFFF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40000" y="2290000"/>
            <a:ext cx="160000" cy="160000"/>
          </a:xfrm>
          <a:prstGeom prst="ellipse">
            <a:avLst/>
          </a:prstGeom>
          <a:solidFill>
            <a:srgbClr val="435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000" y="2180000"/>
            <a:ext cx="183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A2A44"/>
                </a:solidFill>
                <a:latin typeface="Menlo"/>
              </a:rPr>
              <a:t>pet-schema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60000" y="2180000"/>
            <a:ext cx="120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367BD6"/>
                </a:solidFill>
                <a:latin typeface="Menlo"/>
              </a:rPr>
              <a:t>v3.2.1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00000" y="2180000"/>
            <a:ext cx="215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C404C"/>
                </a:solidFill>
                <a:latin typeface="Helvetica"/>
              </a:rPr>
              <a:t>链首 · 无上游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00000" y="2180000"/>
            <a:ext cx="430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787882"/>
                </a:solidFill>
                <a:latin typeface="Helvetica"/>
              </a:rPr>
              <a:t>Phase 5 additive: SFTSample + DPOSample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0000" y="2560000"/>
            <a:ext cx="2150000" cy="380000"/>
          </a:xfrm>
          <a:prstGeom prst="rect">
            <a:avLst/>
          </a:prstGeom>
          <a:solidFill>
            <a:srgbClr val="F0F1F4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860000" y="2560000"/>
            <a:ext cx="1300000" cy="380000"/>
          </a:xfrm>
          <a:prstGeom prst="rect">
            <a:avLst/>
          </a:prstGeom>
          <a:solidFill>
            <a:srgbClr val="F0F1F4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00000" y="2560000"/>
            <a:ext cx="2250000" cy="380000"/>
          </a:xfrm>
          <a:prstGeom prst="rect">
            <a:avLst/>
          </a:prstGeom>
          <a:solidFill>
            <a:srgbClr val="F0F1F4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500000" y="2560000"/>
            <a:ext cx="4400000" cy="380000"/>
          </a:xfrm>
          <a:prstGeom prst="rect">
            <a:avLst/>
          </a:prstGeom>
          <a:solidFill>
            <a:srgbClr val="F0F1F4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40000" y="2670000"/>
            <a:ext cx="160000" cy="160000"/>
          </a:xfrm>
          <a:prstGeom prst="ellipse">
            <a:avLst/>
          </a:prstGeom>
          <a:solidFill>
            <a:srgbClr val="2F6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000" y="2560000"/>
            <a:ext cx="183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A2A44"/>
                </a:solidFill>
                <a:latin typeface="Menlo"/>
              </a:rPr>
              <a:t>pet-infra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960000" y="2560000"/>
            <a:ext cx="120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367BD6"/>
                </a:solidFill>
                <a:latin typeface="Menlo"/>
              </a:rPr>
              <a:t>v2.6.0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00000" y="2560000"/>
            <a:ext cx="215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C404C"/>
                </a:solidFill>
                <a:latin typeface="Helvetica"/>
              </a:rPr>
              <a:t>β peer-dep chain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00000" y="2560000"/>
            <a:ext cx="430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787882"/>
                </a:solidFill>
                <a:latin typeface="Helvetica"/>
              </a:rPr>
              <a:t>Phase 2 compose merge + StageRunner DRY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" y="2940000"/>
            <a:ext cx="2150000" cy="380000"/>
          </a:xfrm>
          <a:prstGeom prst="rect">
            <a:avLst/>
          </a:prstGeom>
          <a:solidFill>
            <a:srgbClr val="FFFFFF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860000" y="2940000"/>
            <a:ext cx="1300000" cy="380000"/>
          </a:xfrm>
          <a:prstGeom prst="rect">
            <a:avLst/>
          </a:prstGeom>
          <a:solidFill>
            <a:srgbClr val="FFFFFF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200000" y="2940000"/>
            <a:ext cx="2250000" cy="380000"/>
          </a:xfrm>
          <a:prstGeom prst="rect">
            <a:avLst/>
          </a:prstGeom>
          <a:solidFill>
            <a:srgbClr val="FFFFFF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500000" y="2940000"/>
            <a:ext cx="4400000" cy="380000"/>
          </a:xfrm>
          <a:prstGeom prst="rect">
            <a:avLst/>
          </a:prstGeom>
          <a:solidFill>
            <a:srgbClr val="FFFFFF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40000" y="3050000"/>
            <a:ext cx="160000" cy="160000"/>
          </a:xfrm>
          <a:prstGeom prst="ellipse">
            <a:avLst/>
          </a:prstGeom>
          <a:solidFill>
            <a:srgbClr val="2985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0000" y="2940000"/>
            <a:ext cx="183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A2A44"/>
                </a:solidFill>
                <a:latin typeface="Menlo"/>
              </a:rPr>
              <a:t>pet-data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960000" y="2940000"/>
            <a:ext cx="120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367BD6"/>
                </a:solidFill>
                <a:latin typeface="Menlo"/>
              </a:rPr>
              <a:t>v1.3.0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00000" y="2940000"/>
            <a:ext cx="215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C404C"/>
                </a:solidFill>
                <a:latin typeface="Helvetica"/>
              </a:rPr>
              <a:t>β peer-dep + α for schema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00000" y="2940000"/>
            <a:ext cx="430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787882"/>
                </a:solidFill>
                <a:latin typeface="Helvetica"/>
              </a:rPr>
              <a:t>Phase 3 ingester_name / default_provenance split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60000" y="3320000"/>
            <a:ext cx="2150000" cy="380000"/>
          </a:xfrm>
          <a:prstGeom prst="rect">
            <a:avLst/>
          </a:prstGeom>
          <a:solidFill>
            <a:srgbClr val="F0F1F4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860000" y="3320000"/>
            <a:ext cx="1300000" cy="380000"/>
          </a:xfrm>
          <a:prstGeom prst="rect">
            <a:avLst/>
          </a:prstGeom>
          <a:solidFill>
            <a:srgbClr val="F0F1F4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200000" y="3320000"/>
            <a:ext cx="2250000" cy="380000"/>
          </a:xfrm>
          <a:prstGeom prst="rect">
            <a:avLst/>
          </a:prstGeom>
          <a:solidFill>
            <a:srgbClr val="F0F1F4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500000" y="3320000"/>
            <a:ext cx="4400000" cy="380000"/>
          </a:xfrm>
          <a:prstGeom prst="rect">
            <a:avLst/>
          </a:prstGeom>
          <a:solidFill>
            <a:srgbClr val="F0F1F4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740000" y="3430000"/>
            <a:ext cx="160000" cy="160000"/>
          </a:xfrm>
          <a:prstGeom prst="ellipse">
            <a:avLst/>
          </a:prstGeom>
          <a:solidFill>
            <a:srgbClr val="26A2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60000" y="3320000"/>
            <a:ext cx="183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A2A44"/>
                </a:solidFill>
                <a:latin typeface="Menlo"/>
              </a:rPr>
              <a:t>pet-annotation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960000" y="3320000"/>
            <a:ext cx="120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367BD6"/>
                </a:solidFill>
                <a:latin typeface="Menlo"/>
              </a:rPr>
              <a:t>v2.1.1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300000" y="3320000"/>
            <a:ext cx="215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C404C"/>
                </a:solidFill>
                <a:latin typeface="Helvetica"/>
              </a:rPr>
              <a:t>β peer-dep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600000" y="3320000"/>
            <a:ext cx="430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787882"/>
                </a:solidFill>
                <a:latin typeface="Helvetica"/>
              </a:rPr>
              <a:t>Phase 4+5 α exporter + F11 validator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60000" y="3700000"/>
            <a:ext cx="2150000" cy="380000"/>
          </a:xfrm>
          <a:prstGeom prst="rect">
            <a:avLst/>
          </a:prstGeom>
          <a:solidFill>
            <a:srgbClr val="FFFFFF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860000" y="3700000"/>
            <a:ext cx="1300000" cy="380000"/>
          </a:xfrm>
          <a:prstGeom prst="rect">
            <a:avLst/>
          </a:prstGeom>
          <a:solidFill>
            <a:srgbClr val="FFFFFF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200000" y="3700000"/>
            <a:ext cx="2250000" cy="380000"/>
          </a:xfrm>
          <a:prstGeom prst="rect">
            <a:avLst/>
          </a:prstGeom>
          <a:solidFill>
            <a:srgbClr val="FFFFFF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500000" y="3700000"/>
            <a:ext cx="4400000" cy="380000"/>
          </a:xfrm>
          <a:prstGeom prst="rect">
            <a:avLst/>
          </a:prstGeom>
          <a:solidFill>
            <a:srgbClr val="FFFFFF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740000" y="3810000"/>
            <a:ext cx="160000" cy="160000"/>
          </a:xfrm>
          <a:prstGeom prst="ellipse">
            <a:avLst/>
          </a:prstGeom>
          <a:solidFill>
            <a:srgbClr val="5AA3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60000" y="3700000"/>
            <a:ext cx="183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A2A44"/>
                </a:solidFill>
                <a:latin typeface="Menlo"/>
              </a:rPr>
              <a:t>pet-train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960000" y="3700000"/>
            <a:ext cx="120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367BD6"/>
                </a:solidFill>
                <a:latin typeface="Menlo"/>
              </a:rPr>
              <a:t>v2.0.2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300000" y="3700000"/>
            <a:ext cx="215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C404C"/>
                </a:solidFill>
                <a:latin typeface="Helvetica"/>
              </a:rPr>
              <a:t>β peer-dep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600000" y="3700000"/>
            <a:ext cx="430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787882"/>
                </a:solidFill>
                <a:latin typeface="Helvetica"/>
              </a:rPr>
              <a:t>Phase 5 β dual guard + JSONL consumer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60000" y="4080000"/>
            <a:ext cx="2150000" cy="380000"/>
          </a:xfrm>
          <a:prstGeom prst="rect">
            <a:avLst/>
          </a:prstGeom>
          <a:solidFill>
            <a:srgbClr val="F0F1F4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2860000" y="4080000"/>
            <a:ext cx="1300000" cy="380000"/>
          </a:xfrm>
          <a:prstGeom prst="rect">
            <a:avLst/>
          </a:prstGeom>
          <a:solidFill>
            <a:srgbClr val="F0F1F4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4200000" y="4080000"/>
            <a:ext cx="2250000" cy="380000"/>
          </a:xfrm>
          <a:prstGeom prst="rect">
            <a:avLst/>
          </a:prstGeom>
          <a:solidFill>
            <a:srgbClr val="F0F1F4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6500000" y="4080000"/>
            <a:ext cx="4400000" cy="380000"/>
          </a:xfrm>
          <a:prstGeom prst="rect">
            <a:avLst/>
          </a:prstGeom>
          <a:solidFill>
            <a:srgbClr val="F0F1F4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740000" y="4190000"/>
            <a:ext cx="160000" cy="160000"/>
          </a:xfrm>
          <a:prstGeom prst="ellipse">
            <a:avLst/>
          </a:prstGeom>
          <a:solidFill>
            <a:srgbClr val="8EA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60000" y="4080000"/>
            <a:ext cx="183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A2A44"/>
                </a:solidFill>
                <a:latin typeface="Menlo"/>
              </a:rPr>
              <a:t>pet-eval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960000" y="4080000"/>
            <a:ext cx="120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367BD6"/>
                </a:solidFill>
                <a:latin typeface="Menlo"/>
              </a:rPr>
              <a:t>v2.3.0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300000" y="4080000"/>
            <a:ext cx="215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C404C"/>
                </a:solidFill>
                <a:latin typeface="Helvetica"/>
              </a:rPr>
              <a:t>β + runtime peer for quantize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600000" y="4080000"/>
            <a:ext cx="430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787882"/>
                </a:solidFill>
                <a:latin typeface="Helvetica"/>
              </a:rPr>
              <a:t>Phase 6 ~533 LOC dead-code removal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60000" y="4460000"/>
            <a:ext cx="2150000" cy="380000"/>
          </a:xfrm>
          <a:prstGeom prst="rect">
            <a:avLst/>
          </a:prstGeom>
          <a:solidFill>
            <a:srgbClr val="FFFFFF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2860000" y="4460000"/>
            <a:ext cx="1300000" cy="380000"/>
          </a:xfrm>
          <a:prstGeom prst="rect">
            <a:avLst/>
          </a:prstGeom>
          <a:solidFill>
            <a:srgbClr val="FFFFFF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4200000" y="4460000"/>
            <a:ext cx="2250000" cy="380000"/>
          </a:xfrm>
          <a:prstGeom prst="rect">
            <a:avLst/>
          </a:prstGeom>
          <a:solidFill>
            <a:srgbClr val="FFFFFF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6500000" y="4460000"/>
            <a:ext cx="4400000" cy="380000"/>
          </a:xfrm>
          <a:prstGeom prst="rect">
            <a:avLst/>
          </a:prstGeom>
          <a:solidFill>
            <a:srgbClr val="FFFFFF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740000" y="4570000"/>
            <a:ext cx="160000" cy="160000"/>
          </a:xfrm>
          <a:prstGeom prst="ellipse">
            <a:avLst/>
          </a:prstGeom>
          <a:solidFill>
            <a:srgbClr val="C28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960000" y="4460000"/>
            <a:ext cx="183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A2A44"/>
                </a:solidFill>
                <a:latin typeface="Menlo"/>
              </a:rPr>
              <a:t>pet-quantize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960000" y="4460000"/>
            <a:ext cx="120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367BD6"/>
                </a:solidFill>
                <a:latin typeface="Menlo"/>
              </a:rPr>
              <a:t>v2.1.0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300000" y="4460000"/>
            <a:ext cx="215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C404C"/>
                </a:solidFill>
                <a:latin typeface="Helvetica"/>
              </a:rPr>
              <a:t>β peer-dep (migrated)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600000" y="4460000"/>
            <a:ext cx="430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787882"/>
                </a:solidFill>
                <a:latin typeface="Helvetica"/>
              </a:rPr>
              <a:t>Phase 7 7A pet-infra hardpin → peer-dep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60000" y="4840000"/>
            <a:ext cx="2150000" cy="380000"/>
          </a:xfrm>
          <a:prstGeom prst="rect">
            <a:avLst/>
          </a:prstGeom>
          <a:solidFill>
            <a:srgbClr val="F0F1F4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2860000" y="4840000"/>
            <a:ext cx="1300000" cy="380000"/>
          </a:xfrm>
          <a:prstGeom prst="rect">
            <a:avLst/>
          </a:prstGeom>
          <a:solidFill>
            <a:srgbClr val="F0F1F4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4200000" y="4840000"/>
            <a:ext cx="2250000" cy="380000"/>
          </a:xfrm>
          <a:prstGeom prst="rect">
            <a:avLst/>
          </a:prstGeom>
          <a:solidFill>
            <a:srgbClr val="F0F1F4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6500000" y="4840000"/>
            <a:ext cx="4400000" cy="380000"/>
          </a:xfrm>
          <a:prstGeom prst="rect">
            <a:avLst/>
          </a:prstGeom>
          <a:solidFill>
            <a:srgbClr val="F0F1F4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740000" y="4950000"/>
            <a:ext cx="160000" cy="160000"/>
          </a:xfrm>
          <a:prstGeom prst="ellipse">
            <a:avLst/>
          </a:prstGeom>
          <a:solidFill>
            <a:srgbClr val="C25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960000" y="4840000"/>
            <a:ext cx="183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A2A44"/>
                </a:solidFill>
                <a:latin typeface="Menlo"/>
              </a:rPr>
              <a:t>pet-ota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960000" y="4840000"/>
            <a:ext cx="120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367BD6"/>
                </a:solidFill>
                <a:latin typeface="Menlo"/>
              </a:rPr>
              <a:t>v2.2.0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300000" y="4840000"/>
            <a:ext cx="215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C404C"/>
                </a:solidFill>
                <a:latin typeface="Helvetica"/>
              </a:rPr>
              <a:t>β peer-dep · signing=optional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600000" y="4840000"/>
            <a:ext cx="430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787882"/>
                </a:solidFill>
                <a:latin typeface="Helvetica"/>
              </a:rPr>
              <a:t>Phase 8 8A + 8B + no-hardcode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60000" y="5220000"/>
            <a:ext cx="2150000" cy="380000"/>
          </a:xfrm>
          <a:prstGeom prst="rect">
            <a:avLst/>
          </a:prstGeom>
          <a:solidFill>
            <a:srgbClr val="FFFFFF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2860000" y="5220000"/>
            <a:ext cx="1300000" cy="380000"/>
          </a:xfrm>
          <a:prstGeom prst="rect">
            <a:avLst/>
          </a:prstGeom>
          <a:solidFill>
            <a:srgbClr val="FFFFFF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4200000" y="5220000"/>
            <a:ext cx="2250000" cy="380000"/>
          </a:xfrm>
          <a:prstGeom prst="rect">
            <a:avLst/>
          </a:prstGeom>
          <a:solidFill>
            <a:srgbClr val="FFFFFF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6500000" y="5220000"/>
            <a:ext cx="4400000" cy="380000"/>
          </a:xfrm>
          <a:prstGeom prst="rect">
            <a:avLst/>
          </a:prstGeom>
          <a:solidFill>
            <a:srgbClr val="FFFFFF"/>
          </a:solidFill>
          <a:ln w="508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740000" y="5330000"/>
            <a:ext cx="160000" cy="160000"/>
          </a:xfrm>
          <a:prstGeom prst="ellipse">
            <a:avLst/>
          </a:prstGeom>
          <a:solidFill>
            <a:srgbClr val="7A57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960000" y="5220000"/>
            <a:ext cx="183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A2A44"/>
                </a:solidFill>
                <a:latin typeface="Menlo"/>
              </a:rPr>
              <a:t>pet-id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960000" y="5220000"/>
            <a:ext cx="120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367BD6"/>
                </a:solidFill>
                <a:latin typeface="Menlo"/>
              </a:rPr>
              <a:t>v0.2.0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300000" y="5220000"/>
            <a:ext cx="215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C404C"/>
                </a:solidFill>
                <a:latin typeface="Helvetica"/>
              </a:rPr>
              <a:t>独立 · 无 pet-* deps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600000" y="5220000"/>
            <a:ext cx="430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787882"/>
                </a:solidFill>
                <a:latin typeface="Helvetica"/>
              </a:rPr>
              <a:t>Phase 9 first CI + spec §5.2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60000" y="6418000"/>
            <a:ext cx="50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787882"/>
                </a:solidFill>
                <a:latin typeface="Helvetica"/>
              </a:rPr>
              <a:t>Train-Pet-Pipeline · Technical Overview · matrix 2026.10-ecosystem-cleanup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0000" y="2000000"/>
            <a:ext cx="14000" cy="2800000"/>
          </a:xfrm>
          <a:prstGeom prst="rect">
            <a:avLst/>
          </a:prstGeom>
          <a:solidFill>
            <a:srgbClr val="367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0000" y="2000000"/>
            <a:ext cx="8000000" cy="5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367BD6"/>
                </a:solidFill>
                <a:latin typeface="Helvetica"/>
              </a:rPr>
              <a:t>SECTION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0000" y="2500000"/>
            <a:ext cx="10000000" cy="11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>
                <a:solidFill>
                  <a:srgbClr val="FFFFFF"/>
                </a:solidFill>
                <a:latin typeface="Helvetica"/>
              </a:rPr>
              <a:t>契约与运行时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0000" y="3750000"/>
            <a:ext cx="10000000" cy="5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1">
                <a:solidFill>
                  <a:srgbClr val="C8CCD2"/>
                </a:solidFill>
                <a:latin typeface="Helvetica"/>
              </a:rPr>
              <a:t>pet-schema · pet-infra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0000" y="4450000"/>
            <a:ext cx="100000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367BD6"/>
                </a:solidFill>
                <a:latin typeface="Menlo"/>
              </a:rPr>
              <a:t>Slides 6 – 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0000"/>
          </a:xfrm>
          <a:prstGeom prst="rect">
            <a:avLst/>
          </a:prstGeom>
          <a:solidFill>
            <a:srgbClr val="435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60000" y="200000"/>
            <a:ext cx="2000000" cy="3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435EB8"/>
                </a:solidFill>
                <a:latin typeface="Helvetica"/>
              </a:rPr>
              <a:t>§1 · pet-schema (1/3)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0000" y="420000"/>
            <a:ext cx="11272000" cy="6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1A2A44"/>
                </a:solidFill>
                <a:latin typeface="Helvetica"/>
              </a:rPr>
              <a:t>pet-schema — 契约单一真理源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0000" y="1020000"/>
            <a:ext cx="112720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787882"/>
                </a:solidFill>
                <a:latin typeface="Helvetica"/>
              </a:rPr>
              <a:t>整个生态的 chain head：所有跨仓数据类型 / 验证规则 / 迁移文件的权威出处</a:t>
            </a:r>
          </a:p>
        </p:txBody>
      </p:sp>
      <p:sp>
        <p:nvSpPr>
          <p:cNvPr id="6" name="Rectangle 5"/>
          <p:cNvSpPr/>
          <p:nvPr/>
        </p:nvSpPr>
        <p:spPr>
          <a:xfrm>
            <a:off x="460000" y="1460000"/>
            <a:ext cx="11272000" cy="15000"/>
          </a:xfrm>
          <a:prstGeom prst="rect">
            <a:avLst/>
          </a:prstGeom>
          <a:solidFill>
            <a:srgbClr val="C8C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591000" y="1650000"/>
            <a:ext cx="950000" cy="360000"/>
          </a:xfrm>
          <a:prstGeom prst="rect">
            <a:avLst/>
          </a:prstGeom>
          <a:solidFill>
            <a:srgbClr val="435EB8"/>
          </a:solidFill>
          <a:ln w="15240">
            <a:solidFill>
              <a:srgbClr val="435E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591000" y="1650000"/>
            <a:ext cx="950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Menlo"/>
              </a:rPr>
              <a:t>pet-schema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6000" y="1825000"/>
            <a:ext cx="50000" cy="10000"/>
          </a:xfrm>
          <a:prstGeom prst="rect">
            <a:avLst/>
          </a:prstGeom>
          <a:solidFill>
            <a:srgbClr val="C8C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01000" y="1650000"/>
            <a:ext cx="95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01000" y="1650000"/>
            <a:ext cx="950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787882"/>
                </a:solidFill>
                <a:latin typeface="Menlo"/>
              </a:rPr>
              <a:t>pet-data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56000" y="1825000"/>
            <a:ext cx="50000" cy="10000"/>
          </a:xfrm>
          <a:prstGeom prst="rect">
            <a:avLst/>
          </a:prstGeom>
          <a:solidFill>
            <a:srgbClr val="C8C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611000" y="1650000"/>
            <a:ext cx="95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11000" y="1650000"/>
            <a:ext cx="950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787882"/>
                </a:solidFill>
                <a:latin typeface="Menlo"/>
              </a:rPr>
              <a:t>pet-annotation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566000" y="1825000"/>
            <a:ext cx="50000" cy="10000"/>
          </a:xfrm>
          <a:prstGeom prst="rect">
            <a:avLst/>
          </a:prstGeom>
          <a:solidFill>
            <a:srgbClr val="C8C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1000" y="1650000"/>
            <a:ext cx="95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21000" y="1650000"/>
            <a:ext cx="950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787882"/>
                </a:solidFill>
                <a:latin typeface="Menlo"/>
              </a:rPr>
              <a:t>pet-train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76000" y="1825000"/>
            <a:ext cx="50000" cy="10000"/>
          </a:xfrm>
          <a:prstGeom prst="rect">
            <a:avLst/>
          </a:prstGeom>
          <a:solidFill>
            <a:srgbClr val="C8C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631000" y="1650000"/>
            <a:ext cx="95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31000" y="1650000"/>
            <a:ext cx="950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787882"/>
                </a:solidFill>
                <a:latin typeface="Menlo"/>
              </a:rPr>
              <a:t>pet-eval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586000" y="1825000"/>
            <a:ext cx="50000" cy="10000"/>
          </a:xfrm>
          <a:prstGeom prst="rect">
            <a:avLst/>
          </a:prstGeom>
          <a:solidFill>
            <a:srgbClr val="C8C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41000" y="1650000"/>
            <a:ext cx="95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41000" y="1650000"/>
            <a:ext cx="950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787882"/>
                </a:solidFill>
                <a:latin typeface="Menlo"/>
              </a:rPr>
              <a:t>pet-quantize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596000" y="1825000"/>
            <a:ext cx="50000" cy="10000"/>
          </a:xfrm>
          <a:prstGeom prst="rect">
            <a:avLst/>
          </a:prstGeom>
          <a:solidFill>
            <a:srgbClr val="C8C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651000" y="1650000"/>
            <a:ext cx="95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51000" y="1650000"/>
            <a:ext cx="950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787882"/>
                </a:solidFill>
                <a:latin typeface="Menlo"/>
              </a:rPr>
              <a:t>pet-ota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591000" y="2130000"/>
            <a:ext cx="7010000" cy="140000"/>
          </a:xfrm>
          <a:prstGeom prst="rect">
            <a:avLst/>
          </a:prstGeom>
          <a:solidFill>
            <a:srgbClr val="F0F1F4"/>
          </a:solidFill>
          <a:ln w="7620">
            <a:solidFill>
              <a:srgbClr val="2F6A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591000" y="2130000"/>
            <a:ext cx="7010000" cy="14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787882"/>
                </a:solidFill>
                <a:latin typeface="Menlo"/>
              </a:rPr>
              <a:t>pet-infra · shared runtime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01000" y="2350000"/>
            <a:ext cx="1400000" cy="180000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7A57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01000" y="2350000"/>
            <a:ext cx="1400000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7A57A8"/>
                </a:solidFill>
                <a:latin typeface="Menlo"/>
              </a:rPr>
              <a:t>pet-id · independent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60000" y="2600000"/>
            <a:ext cx="5100000" cy="70000"/>
          </a:xfrm>
          <a:prstGeom prst="rect">
            <a:avLst/>
          </a:prstGeom>
          <a:solidFill>
            <a:srgbClr val="435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0000" y="2740000"/>
            <a:ext cx="5100000" cy="3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435EB8"/>
                </a:solidFill>
                <a:latin typeface="Helvetica"/>
              </a:rPr>
              <a:t>做什么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0000" y="3160000"/>
            <a:ext cx="4940000" cy="2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435EB8"/>
                </a:solidFill>
                <a:latin typeface="Helvetica"/>
              </a:rPr>
              <a:t>▪  </a:t>
            </a:r>
            <a:r>
              <a:rPr sz="1250">
                <a:solidFill>
                  <a:srgbClr val="1A2A44"/>
                </a:solidFill>
                <a:latin typeface="Helvetica"/>
              </a:rPr>
              <a:t>Pydantic v2 数据模型</a:t>
            </a:r>
            <a:r>
              <a:rPr sz="1150" i="1">
                <a:solidFill>
                  <a:srgbClr val="787882"/>
                </a:solidFill>
                <a:latin typeface="Helvetica"/>
              </a:rPr>
              <a:t>  — Sample / Annotation / ModelCard / ExperimentRecipe / Metric</a:t>
            </a:r>
          </a:p>
          <a:p>
            <a:pPr algn="l">
              <a:lnSpc>
                <a:spcPct val="135000"/>
              </a:lnSpc>
            </a:pPr>
            <a:r>
              <a:rPr sz="1250" b="1">
                <a:solidFill>
                  <a:srgbClr val="435EB8"/>
                </a:solidFill>
                <a:latin typeface="Helvetica"/>
              </a:rPr>
              <a:t>▪  </a:t>
            </a:r>
            <a:r>
              <a:rPr sz="1250">
                <a:solidFill>
                  <a:srgbClr val="1A2A44"/>
                </a:solidFill>
                <a:latin typeface="Helvetica"/>
              </a:rPr>
              <a:t>Alembic 数据库迁移</a:t>
            </a:r>
            <a:r>
              <a:rPr sz="1150" i="1">
                <a:solidFill>
                  <a:srgbClr val="787882"/>
                </a:solidFill>
                <a:latin typeface="Helvetica"/>
              </a:rPr>
              <a:t>  — 历史文件 immutable，只能追加新文件</a:t>
            </a:r>
          </a:p>
          <a:p>
            <a:pPr algn="l">
              <a:lnSpc>
                <a:spcPct val="135000"/>
              </a:lnSpc>
            </a:pPr>
            <a:r>
              <a:rPr sz="1250" b="1">
                <a:solidFill>
                  <a:srgbClr val="435EB8"/>
                </a:solidFill>
                <a:latin typeface="Helvetica"/>
              </a:rPr>
              <a:t>▪  </a:t>
            </a:r>
            <a:r>
              <a:rPr sz="1250">
                <a:solidFill>
                  <a:srgbClr val="1A2A44"/>
                </a:solidFill>
                <a:latin typeface="Helvetica"/>
              </a:rPr>
              <a:t>SCHEMA_VERSION 常量</a:t>
            </a:r>
            <a:r>
              <a:rPr sz="1150" i="1">
                <a:solidFill>
                  <a:srgbClr val="787882"/>
                </a:solidFill>
                <a:latin typeface="Helvetica"/>
              </a:rPr>
              <a:t>  — pyproject.toml parity-checked</a:t>
            </a:r>
          </a:p>
          <a:p>
            <a:pPr algn="l">
              <a:lnSpc>
                <a:spcPct val="135000"/>
              </a:lnSpc>
            </a:pPr>
            <a:r>
              <a:rPr sz="1250" b="1">
                <a:solidFill>
                  <a:srgbClr val="435EB8"/>
                </a:solidFill>
                <a:latin typeface="Helvetica"/>
              </a:rPr>
              <a:t>▪  </a:t>
            </a:r>
            <a:r>
              <a:rPr sz="1250">
                <a:solidFill>
                  <a:srgbClr val="1A2A44"/>
                </a:solidFill>
                <a:latin typeface="Helvetica"/>
              </a:rPr>
              <a:t>HuggingFace datasets.Features 适配器</a:t>
            </a:r>
            <a:r>
              <a:rPr sz="1150" i="1">
                <a:solidFill>
                  <a:srgbClr val="787882"/>
                </a:solidFill>
                <a:latin typeface="Helvetica"/>
              </a:rPr>
              <a:t>  — adapters/hf_features.py</a:t>
            </a:r>
          </a:p>
          <a:p>
            <a:pPr algn="l">
              <a:lnSpc>
                <a:spcPct val="135000"/>
              </a:lnSpc>
            </a:pPr>
            <a:r>
              <a:rPr sz="1250" b="1">
                <a:solidFill>
                  <a:srgbClr val="435EB8"/>
                </a:solidFill>
                <a:latin typeface="Helvetica"/>
              </a:rPr>
              <a:t>▪  </a:t>
            </a:r>
            <a:r>
              <a:rPr sz="1250">
                <a:solidFill>
                  <a:srgbClr val="1A2A44"/>
                </a:solidFill>
                <a:latin typeface="Helvetica"/>
              </a:rPr>
              <a:t>VLM JSON 运行时校验</a:t>
            </a:r>
            <a:r>
              <a:rPr sz="1150" i="1">
                <a:solidFill>
                  <a:srgbClr val="787882"/>
                </a:solidFill>
                <a:latin typeface="Helvetica"/>
              </a:rPr>
              <a:t>  — validator.py + SFT/DPO JSONL 契约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40000" y="2600000"/>
            <a:ext cx="5100000" cy="70000"/>
          </a:xfrm>
          <a:prstGeom prst="rect">
            <a:avLst/>
          </a:prstGeom>
          <a:solidFill>
            <a:srgbClr val="C8C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00000" y="2740000"/>
            <a:ext cx="5100000" cy="3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787882"/>
                </a:solidFill>
                <a:latin typeface="Helvetica"/>
              </a:rPr>
              <a:t>不做什么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00000" y="3160000"/>
            <a:ext cx="4940000" cy="2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C8CCD2"/>
                </a:solidFill>
                <a:latin typeface="Helvetica"/>
              </a:rPr>
              <a:t>▪  </a:t>
            </a:r>
            <a:r>
              <a:rPr sz="1250">
                <a:solidFill>
                  <a:srgbClr val="787882"/>
                </a:solidFill>
                <a:latin typeface="Helvetica"/>
              </a:rPr>
              <a:t>业务逻辑</a:t>
            </a:r>
            <a:r>
              <a:rPr sz="1150" i="1">
                <a:solidFill>
                  <a:srgbClr val="787882"/>
                </a:solidFill>
                <a:latin typeface="Helvetica"/>
              </a:rPr>
              <a:t>  — 训练循环 / 推理 / 标注路由在各下游</a:t>
            </a:r>
          </a:p>
          <a:p>
            <a:pPr algn="l">
              <a:lnSpc>
                <a:spcPct val="135000"/>
              </a:lnSpc>
            </a:pPr>
            <a:r>
              <a:rPr sz="1250" b="1">
                <a:solidFill>
                  <a:srgbClr val="C8CCD2"/>
                </a:solidFill>
                <a:latin typeface="Helvetica"/>
              </a:rPr>
              <a:t>▪  </a:t>
            </a:r>
            <a:r>
              <a:rPr sz="1250">
                <a:solidFill>
                  <a:srgbClr val="787882"/>
                </a:solidFill>
                <a:latin typeface="Helvetica"/>
              </a:rPr>
              <a:t>I/O 操作</a:t>
            </a:r>
            <a:r>
              <a:rPr sz="1150" i="1">
                <a:solidFill>
                  <a:srgbClr val="787882"/>
                </a:solidFill>
                <a:latin typeface="Helvetica"/>
              </a:rPr>
              <a:t>  — 下游通过 store.py，不直连 DB</a:t>
            </a:r>
          </a:p>
          <a:p>
            <a:pPr algn="l">
              <a:lnSpc>
                <a:spcPct val="135000"/>
              </a:lnSpc>
            </a:pPr>
            <a:r>
              <a:rPr sz="1250" b="1">
                <a:solidFill>
                  <a:srgbClr val="C8CCD2"/>
                </a:solidFill>
                <a:latin typeface="Helvetica"/>
              </a:rPr>
              <a:t>▪  </a:t>
            </a:r>
            <a:r>
              <a:rPr sz="1250">
                <a:solidFill>
                  <a:srgbClr val="787882"/>
                </a:solidFill>
                <a:latin typeface="Helvetica"/>
              </a:rPr>
              <a:t>插件注册表</a:t>
            </a:r>
            <a:r>
              <a:rPr sz="1150" i="1">
                <a:solidFill>
                  <a:srgbClr val="787882"/>
                </a:solidFill>
                <a:latin typeface="Helvetica"/>
              </a:rPr>
              <a:t>  — 住在 pet-infra</a:t>
            </a:r>
          </a:p>
          <a:p>
            <a:pPr algn="l">
              <a:lnSpc>
                <a:spcPct val="135000"/>
              </a:lnSpc>
            </a:pPr>
            <a:r>
              <a:rPr sz="1250" b="1">
                <a:solidFill>
                  <a:srgbClr val="C8CCD2"/>
                </a:solidFill>
                <a:latin typeface="Helvetica"/>
              </a:rPr>
              <a:t>▪  </a:t>
            </a:r>
            <a:r>
              <a:rPr sz="1250">
                <a:solidFill>
                  <a:srgbClr val="787882"/>
                </a:solidFill>
                <a:latin typeface="Helvetica"/>
              </a:rPr>
              <a:t>pet-id PetCard</a:t>
            </a:r>
            <a:r>
              <a:rPr sz="1150" i="1">
                <a:solidFill>
                  <a:srgbClr val="787882"/>
                </a:solidFill>
                <a:latin typeface="Helvetica"/>
              </a:rPr>
              <a:t>  — pet-id 有自己的独立 registry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0000" y="6418000"/>
            <a:ext cx="50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787882"/>
                </a:solidFill>
                <a:latin typeface="Helvetica"/>
              </a:rPr>
              <a:t>Train-Pet-Pipeline · Technical Overview · matrix 2026.10-ecosystem-cleanup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0000" y="6358000"/>
            <a:ext cx="50000" cy="220000"/>
          </a:xfrm>
          <a:prstGeom prst="rect">
            <a:avLst/>
          </a:prstGeom>
          <a:solidFill>
            <a:srgbClr val="435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0000" y="6368000"/>
            <a:ext cx="20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435EB8"/>
                </a:solidFill>
                <a:latin typeface="Menlo"/>
              </a:rPr>
              <a:t>pet-schema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0000"/>
          </a:xfrm>
          <a:prstGeom prst="rect">
            <a:avLst/>
          </a:prstGeom>
          <a:solidFill>
            <a:srgbClr val="435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60000" y="200000"/>
            <a:ext cx="2000000" cy="3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435EB8"/>
                </a:solidFill>
                <a:latin typeface="Helvetica"/>
              </a:rPr>
              <a:t>§1 · pet-schema (2/3)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0000" y="420000"/>
            <a:ext cx="11272000" cy="6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1A2A44"/>
                </a:solidFill>
                <a:latin typeface="Helvetica"/>
              </a:rPr>
              <a:t>pet-schema — 核心模块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0000" y="1020000"/>
            <a:ext cx="112720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787882"/>
                </a:solidFill>
                <a:latin typeface="Helvetica"/>
              </a:rPr>
              <a:t>5 个域模型 + 验证器 + 迁移，全部 extra='forbid'</a:t>
            </a:r>
          </a:p>
        </p:txBody>
      </p:sp>
      <p:sp>
        <p:nvSpPr>
          <p:cNvPr id="6" name="Rectangle 5"/>
          <p:cNvSpPr/>
          <p:nvPr/>
        </p:nvSpPr>
        <p:spPr>
          <a:xfrm>
            <a:off x="460000" y="1460000"/>
            <a:ext cx="11272000" cy="15000"/>
          </a:xfrm>
          <a:prstGeom prst="rect">
            <a:avLst/>
          </a:prstGeom>
          <a:solidFill>
            <a:srgbClr val="C8C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60000" y="1750000"/>
            <a:ext cx="3477333" cy="70000"/>
          </a:xfrm>
          <a:prstGeom prst="rect">
            <a:avLst/>
          </a:prstGeom>
          <a:solidFill>
            <a:srgbClr val="435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0000" y="1870000"/>
            <a:ext cx="3317333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435EB8"/>
                </a:solidFill>
                <a:latin typeface="Helvetica"/>
              </a:rPr>
              <a:t>训练契约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" y="2270000"/>
            <a:ext cx="3477333" cy="1209333"/>
          </a:xfrm>
          <a:prstGeom prst="rect">
            <a:avLst/>
          </a:prstGeom>
          <a:solidFill>
            <a:srgbClr val="FFFFFF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330000"/>
            <a:ext cx="3317333" cy="3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A2A44"/>
                </a:solidFill>
                <a:latin typeface="Menlo"/>
              </a:rPr>
              <a:t>Sample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0000" y="2670000"/>
            <a:ext cx="3317333" cy="7693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787882"/>
                </a:solidFill>
                <a:latin typeface="Helvetica"/>
              </a:rPr>
              <a:t>VisionSample / AudioSample</a:t>
            </a:r>
          </a:p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787882"/>
                </a:solidFill>
                <a:latin typeface="Helvetica"/>
              </a:rPr>
              <a:t>多模态采样帧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0000" y="3539333"/>
            <a:ext cx="3477333" cy="1209333"/>
          </a:xfrm>
          <a:prstGeom prst="rect">
            <a:avLst/>
          </a:prstGeom>
          <a:solidFill>
            <a:srgbClr val="FFFFFF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599333"/>
            <a:ext cx="3317333" cy="3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A2A44"/>
                </a:solidFill>
                <a:latin typeface="Menlo"/>
              </a:rPr>
              <a:t>SFTSample / ShareGPTSFTSample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0000" y="3939333"/>
            <a:ext cx="3317333" cy="7693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787882"/>
                </a:solidFill>
                <a:latin typeface="Helvetica"/>
              </a:rPr>
              <a:t>LLaMA-Factory JSONL 契约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" y="4808666"/>
            <a:ext cx="3477333" cy="1209333"/>
          </a:xfrm>
          <a:prstGeom prst="rect">
            <a:avLst/>
          </a:prstGeom>
          <a:solidFill>
            <a:srgbClr val="FFFFFF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868666"/>
            <a:ext cx="3317333" cy="3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A2A44"/>
                </a:solidFill>
                <a:latin typeface="Menlo"/>
              </a:rPr>
              <a:t>DPOSample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0000" y="5208666"/>
            <a:ext cx="3317333" cy="7693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787882"/>
                </a:solidFill>
                <a:latin typeface="Helvetica"/>
              </a:rPr>
              <a:t>preference alignment 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57333" y="1750000"/>
            <a:ext cx="3477333" cy="70000"/>
          </a:xfrm>
          <a:prstGeom prst="rect">
            <a:avLst/>
          </a:prstGeom>
          <a:solidFill>
            <a:srgbClr val="435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17333" y="1870000"/>
            <a:ext cx="3317333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435EB8"/>
                </a:solidFill>
                <a:latin typeface="Helvetica"/>
              </a:rPr>
              <a:t>编排 + 产物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57333" y="2270000"/>
            <a:ext cx="3477333" cy="1209333"/>
          </a:xfrm>
          <a:prstGeom prst="rect">
            <a:avLst/>
          </a:prstGeom>
          <a:solidFill>
            <a:srgbClr val="FFFFFF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17333" y="2330000"/>
            <a:ext cx="3317333" cy="3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A2A44"/>
                </a:solidFill>
                <a:latin typeface="Menlo"/>
              </a:rPr>
              <a:t>ExperimentRecipe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17333" y="2670000"/>
            <a:ext cx="3317333" cy="7693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787882"/>
                </a:solidFill>
                <a:latin typeface="Helvetica"/>
              </a:rPr>
              <a:t>Hydra composable recipe</a:t>
            </a:r>
          </a:p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787882"/>
                </a:solidFill>
                <a:latin typeface="Helvetica"/>
              </a:rPr>
              <a:t>stages + variations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57333" y="3539333"/>
            <a:ext cx="3477333" cy="1209333"/>
          </a:xfrm>
          <a:prstGeom prst="rect">
            <a:avLst/>
          </a:prstGeom>
          <a:solidFill>
            <a:srgbClr val="FFFFFF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17333" y="3599333"/>
            <a:ext cx="3317333" cy="3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A2A44"/>
                </a:solidFill>
                <a:latin typeface="Menlo"/>
              </a:rPr>
              <a:t>ModelCard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17333" y="3939333"/>
            <a:ext cx="3317333" cy="7693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787882"/>
                </a:solidFill>
                <a:latin typeface="Helvetica"/>
              </a:rPr>
              <a:t>训练 → eval → quantize → ota</a:t>
            </a:r>
          </a:p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787882"/>
                </a:solidFill>
                <a:latin typeface="Helvetica"/>
              </a:rPr>
              <a:t>全链 artifact 元数据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57333" y="4808666"/>
            <a:ext cx="3477333" cy="1209333"/>
          </a:xfrm>
          <a:prstGeom prst="rect">
            <a:avLst/>
          </a:prstGeom>
          <a:solidFill>
            <a:srgbClr val="FFFFFF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17333" y="4868666"/>
            <a:ext cx="3317333" cy="3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A2A44"/>
                </a:solidFill>
                <a:latin typeface="Menlo"/>
              </a:rPr>
              <a:t>EdgeArtifact + QuantConfig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17333" y="5208666"/>
            <a:ext cx="3317333" cy="7693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787882"/>
                </a:solidFill>
                <a:latin typeface="Helvetica"/>
              </a:rPr>
              <a:t>on-device 产物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54666" y="1750000"/>
            <a:ext cx="3477333" cy="70000"/>
          </a:xfrm>
          <a:prstGeom prst="rect">
            <a:avLst/>
          </a:prstGeom>
          <a:solidFill>
            <a:srgbClr val="435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14666" y="1870000"/>
            <a:ext cx="3317333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435EB8"/>
                </a:solidFill>
                <a:latin typeface="Helvetica"/>
              </a:rPr>
              <a:t>运行时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54666" y="2270000"/>
            <a:ext cx="3477333" cy="1209333"/>
          </a:xfrm>
          <a:prstGeom prst="rect">
            <a:avLst/>
          </a:prstGeom>
          <a:solidFill>
            <a:srgbClr val="FFFFFF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14666" y="2330000"/>
            <a:ext cx="3317333" cy="3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A2A44"/>
                </a:solidFill>
                <a:latin typeface="Menlo"/>
              </a:rPr>
              <a:t>validator.py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14666" y="2670000"/>
            <a:ext cx="3317333" cy="7693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787882"/>
                </a:solidFill>
                <a:latin typeface="Helvetica"/>
              </a:rPr>
              <a:t>VLM JSON schema 合规检查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054666" y="3539333"/>
            <a:ext cx="3477333" cy="1209333"/>
          </a:xfrm>
          <a:prstGeom prst="rect">
            <a:avLst/>
          </a:prstGeom>
          <a:solidFill>
            <a:srgbClr val="FFFFFF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14666" y="3599333"/>
            <a:ext cx="3317333" cy="3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A2A44"/>
                </a:solidFill>
                <a:latin typeface="Menlo"/>
              </a:rPr>
              <a:t>render_prompt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14666" y="3939333"/>
            <a:ext cx="3317333" cy="7693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787882"/>
                </a:solidFill>
                <a:latin typeface="Helvetica"/>
              </a:rPr>
              <a:t>train / infer 同源 prompt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054666" y="4808666"/>
            <a:ext cx="3477333" cy="1209333"/>
          </a:xfrm>
          <a:prstGeom prst="rect">
            <a:avLst/>
          </a:prstGeom>
          <a:solidFill>
            <a:srgbClr val="FFFFFF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14666" y="4868666"/>
            <a:ext cx="3317333" cy="3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A2A44"/>
                </a:solidFill>
                <a:latin typeface="Menlo"/>
              </a:rPr>
              <a:t>Alembic migrations/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14666" y="5208666"/>
            <a:ext cx="3317333" cy="7693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787882"/>
                </a:solidFill>
                <a:latin typeface="Helvetica"/>
              </a:rPr>
              <a:t>DB schema 演化</a:t>
            </a:r>
          </a:p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787882"/>
                </a:solidFill>
                <a:latin typeface="Helvetica"/>
              </a:rPr>
              <a:t>历史 immutable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0000" y="6418000"/>
            <a:ext cx="50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787882"/>
                </a:solidFill>
                <a:latin typeface="Helvetica"/>
              </a:rPr>
              <a:t>Train-Pet-Pipeline · Technical Overview · matrix 2026.10-ecosystem-cleanup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60000" y="6358000"/>
            <a:ext cx="50000" cy="220000"/>
          </a:xfrm>
          <a:prstGeom prst="rect">
            <a:avLst/>
          </a:prstGeom>
          <a:solidFill>
            <a:srgbClr val="435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0000" y="6368000"/>
            <a:ext cx="20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435EB8"/>
                </a:solidFill>
                <a:latin typeface="Menlo"/>
              </a:rPr>
              <a:t>pet-schema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0000"/>
          </a:xfrm>
          <a:prstGeom prst="rect">
            <a:avLst/>
          </a:prstGeom>
          <a:solidFill>
            <a:srgbClr val="435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60000" y="200000"/>
            <a:ext cx="2000000" cy="3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435EB8"/>
                </a:solidFill>
                <a:latin typeface="Helvetica"/>
              </a:rPr>
              <a:t>§1 · pet-schema (3/3)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0000" y="420000"/>
            <a:ext cx="11272000" cy="6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1A2A44"/>
                </a:solidFill>
                <a:latin typeface="Helvetica"/>
              </a:rPr>
              <a:t>pet-schema — 关键设计决策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0000" y="1020000"/>
            <a:ext cx="112720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787882"/>
                </a:solidFill>
                <a:latin typeface="Helvetica"/>
              </a:rPr>
              <a:t>为什么是链头，为什么 Alembic 历史 immutable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460000" y="1460000"/>
            <a:ext cx="11272000" cy="15000"/>
          </a:xfrm>
          <a:prstGeom prst="rect">
            <a:avLst/>
          </a:prstGeom>
          <a:solidFill>
            <a:srgbClr val="C8C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60000" y="1790000"/>
            <a:ext cx="4600000" cy="1322666"/>
          </a:xfrm>
          <a:prstGeom prst="rect">
            <a:avLst/>
          </a:prstGeom>
          <a:solidFill>
            <a:srgbClr val="FFFFFF"/>
          </a:solidFill>
          <a:ln w="12700">
            <a:solidFill>
              <a:srgbClr val="435E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60000" y="1790000"/>
            <a:ext cx="100000" cy="1322666"/>
          </a:xfrm>
          <a:prstGeom prst="rect">
            <a:avLst/>
          </a:prstGeom>
          <a:solidFill>
            <a:srgbClr val="435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0000" y="1850000"/>
            <a:ext cx="4400000" cy="12526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1A2A44"/>
                </a:solidFill>
                <a:latin typeface="Helvetica"/>
              </a:rPr>
              <a:t>零 pet-* 上游依赖</a:t>
            </a:r>
          </a:p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1A2A44"/>
                </a:solidFill>
                <a:latin typeface="Helvetica"/>
              </a:rPr>
              <a:t>chain head 地位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60000" y="1790000"/>
            <a:ext cx="6072000" cy="1322666"/>
          </a:xfrm>
          <a:prstGeom prst="rect">
            <a:avLst/>
          </a:prstGeom>
          <a:solidFill>
            <a:srgbClr val="F0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40000" y="1850000"/>
            <a:ext cx="5772000" cy="12526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1">
                <a:solidFill>
                  <a:srgbClr val="3C404C"/>
                </a:solidFill>
                <a:latin typeface="Helvetica"/>
              </a:rPr>
              <a:t>失去 SSOT — 任何下游可以擅自定义重复的 ModelCard，</a:t>
            </a:r>
          </a:p>
          <a:p>
            <a:pPr algn="l">
              <a:lnSpc>
                <a:spcPct val="135000"/>
              </a:lnSpc>
            </a:pPr>
            <a:r>
              <a:rPr sz="1100" b="0" i="1">
                <a:solidFill>
                  <a:srgbClr val="3C404C"/>
                </a:solidFill>
                <a:latin typeface="Helvetica"/>
              </a:rPr>
              <a:t>8 仓分别维护契约 → 版本协商地狱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0000" y="3192666"/>
            <a:ext cx="4600000" cy="1322666"/>
          </a:xfrm>
          <a:prstGeom prst="rect">
            <a:avLst/>
          </a:prstGeom>
          <a:solidFill>
            <a:srgbClr val="FFFFFF"/>
          </a:solidFill>
          <a:ln w="12700">
            <a:solidFill>
              <a:srgbClr val="435E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000" y="3192666"/>
            <a:ext cx="100000" cy="1322666"/>
          </a:xfrm>
          <a:prstGeom prst="rect">
            <a:avLst/>
          </a:prstGeom>
          <a:solidFill>
            <a:srgbClr val="435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0000" y="3252666"/>
            <a:ext cx="4400000" cy="12526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1A2A44"/>
                </a:solidFill>
                <a:latin typeface="Helvetica"/>
              </a:rPr>
              <a:t>Alembic 历史文件 immutable</a:t>
            </a:r>
          </a:p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1A2A44"/>
                </a:solidFill>
                <a:latin typeface="Helvetica"/>
              </a:rPr>
              <a:t>只允许追加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60000" y="3192666"/>
            <a:ext cx="6072000" cy="1322666"/>
          </a:xfrm>
          <a:prstGeom prst="rect">
            <a:avLst/>
          </a:prstGeom>
          <a:solidFill>
            <a:srgbClr val="F0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40000" y="3252666"/>
            <a:ext cx="5772000" cy="12526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1">
                <a:solidFill>
                  <a:srgbClr val="3C404C"/>
                </a:solidFill>
                <a:latin typeface="Helvetica"/>
              </a:rPr>
              <a:t>失去生产 DB 可重放性 — 修旧 migration 会让历史 deploy</a:t>
            </a:r>
          </a:p>
          <a:p>
            <a:pPr algn="l">
              <a:lnSpc>
                <a:spcPct val="135000"/>
              </a:lnSpc>
            </a:pPr>
            <a:r>
              <a:rPr sz="1100" b="0" i="1">
                <a:solidFill>
                  <a:srgbClr val="3C404C"/>
                </a:solidFill>
                <a:latin typeface="Helvetica"/>
              </a:rPr>
              <a:t>无法 replay，debug 不了过往数据损坏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0000" y="4595332"/>
            <a:ext cx="4600000" cy="1322666"/>
          </a:xfrm>
          <a:prstGeom prst="rect">
            <a:avLst/>
          </a:prstGeom>
          <a:solidFill>
            <a:srgbClr val="FFFFFF"/>
          </a:solidFill>
          <a:ln w="12700">
            <a:solidFill>
              <a:srgbClr val="435E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60000" y="4595332"/>
            <a:ext cx="100000" cy="1322666"/>
          </a:xfrm>
          <a:prstGeom prst="rect">
            <a:avLst/>
          </a:prstGeom>
          <a:solidFill>
            <a:srgbClr val="435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0000" y="4655332"/>
            <a:ext cx="4400000" cy="12526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1A2A44"/>
                </a:solidFill>
                <a:latin typeface="Helvetica"/>
              </a:rPr>
              <a:t>extra='forbid' 严格校验</a:t>
            </a:r>
          </a:p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1A2A44"/>
                </a:solidFill>
                <a:latin typeface="Helvetica"/>
              </a:rPr>
              <a:t>strict=True pydantic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60000" y="4595332"/>
            <a:ext cx="6072000" cy="1322666"/>
          </a:xfrm>
          <a:prstGeom prst="rect">
            <a:avLst/>
          </a:prstGeom>
          <a:solidFill>
            <a:srgbClr val="F0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40000" y="4655332"/>
            <a:ext cx="5772000" cy="12526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1">
                <a:solidFill>
                  <a:srgbClr val="3C404C"/>
                </a:solidFill>
                <a:latin typeface="Helvetica"/>
              </a:rPr>
              <a:t>拒绝未知字段 = 早失败。宽松模式会让下游</a:t>
            </a:r>
          </a:p>
          <a:p>
            <a:pPr algn="l">
              <a:lnSpc>
                <a:spcPct val="135000"/>
              </a:lnSpc>
            </a:pPr>
            <a:r>
              <a:rPr sz="1100" b="0" i="1">
                <a:solidFill>
                  <a:srgbClr val="3C404C"/>
                </a:solidFill>
                <a:latin typeface="Helvetica"/>
              </a:rPr>
              <a:t>默默累积未验证字段，运行时惊吓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0000" y="6418000"/>
            <a:ext cx="50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787882"/>
                </a:solidFill>
                <a:latin typeface="Helvetica"/>
              </a:rPr>
              <a:t>Train-Pet-Pipeline · Technical Overview · matrix 2026.10-ecosystem-cleanup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0000" y="6358000"/>
            <a:ext cx="50000" cy="220000"/>
          </a:xfrm>
          <a:prstGeom prst="rect">
            <a:avLst/>
          </a:prstGeom>
          <a:solidFill>
            <a:srgbClr val="435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0000" y="6368000"/>
            <a:ext cx="20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435EB8"/>
                </a:solidFill>
                <a:latin typeface="Menlo"/>
              </a:rPr>
              <a:t>pet-schema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0000"/>
          </a:xfrm>
          <a:prstGeom prst="rect">
            <a:avLst/>
          </a:prstGeom>
          <a:solidFill>
            <a:srgbClr val="2F6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60000" y="200000"/>
            <a:ext cx="2000000" cy="3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F6AB8"/>
                </a:solidFill>
                <a:latin typeface="Helvetica"/>
              </a:rPr>
              <a:t>§2 · pet-infra (1/3)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0000" y="420000"/>
            <a:ext cx="11272000" cy="6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1A2A44"/>
                </a:solidFill>
                <a:latin typeface="Helvetica"/>
              </a:rPr>
              <a:t>pet-infra — 共享运行时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0000" y="1020000"/>
            <a:ext cx="112720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787882"/>
                </a:solidFill>
                <a:latin typeface="Helvetica"/>
              </a:rPr>
              <a:t>7 个 registry + plugin discovery + compose + orchestrator + storage + replay + CLI</a:t>
            </a:r>
          </a:p>
        </p:txBody>
      </p:sp>
      <p:sp>
        <p:nvSpPr>
          <p:cNvPr id="6" name="Rectangle 5"/>
          <p:cNvSpPr/>
          <p:nvPr/>
        </p:nvSpPr>
        <p:spPr>
          <a:xfrm>
            <a:off x="460000" y="1460000"/>
            <a:ext cx="11272000" cy="15000"/>
          </a:xfrm>
          <a:prstGeom prst="rect">
            <a:avLst/>
          </a:prstGeom>
          <a:solidFill>
            <a:srgbClr val="C8C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591000" y="1650000"/>
            <a:ext cx="95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591000" y="1650000"/>
            <a:ext cx="950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787882"/>
                </a:solidFill>
                <a:latin typeface="Menlo"/>
              </a:rPr>
              <a:t>pet-schema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6000" y="1825000"/>
            <a:ext cx="50000" cy="10000"/>
          </a:xfrm>
          <a:prstGeom prst="rect">
            <a:avLst/>
          </a:prstGeom>
          <a:solidFill>
            <a:srgbClr val="C8C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01000" y="1650000"/>
            <a:ext cx="95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01000" y="1650000"/>
            <a:ext cx="950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787882"/>
                </a:solidFill>
                <a:latin typeface="Menlo"/>
              </a:rPr>
              <a:t>pet-data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56000" y="1825000"/>
            <a:ext cx="50000" cy="10000"/>
          </a:xfrm>
          <a:prstGeom prst="rect">
            <a:avLst/>
          </a:prstGeom>
          <a:solidFill>
            <a:srgbClr val="C8C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611000" y="1650000"/>
            <a:ext cx="95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11000" y="1650000"/>
            <a:ext cx="950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787882"/>
                </a:solidFill>
                <a:latin typeface="Menlo"/>
              </a:rPr>
              <a:t>pet-annotation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566000" y="1825000"/>
            <a:ext cx="50000" cy="10000"/>
          </a:xfrm>
          <a:prstGeom prst="rect">
            <a:avLst/>
          </a:prstGeom>
          <a:solidFill>
            <a:srgbClr val="C8C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1000" y="1650000"/>
            <a:ext cx="95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21000" y="1650000"/>
            <a:ext cx="950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787882"/>
                </a:solidFill>
                <a:latin typeface="Menlo"/>
              </a:rPr>
              <a:t>pet-train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76000" y="1825000"/>
            <a:ext cx="50000" cy="10000"/>
          </a:xfrm>
          <a:prstGeom prst="rect">
            <a:avLst/>
          </a:prstGeom>
          <a:solidFill>
            <a:srgbClr val="C8C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631000" y="1650000"/>
            <a:ext cx="95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31000" y="1650000"/>
            <a:ext cx="950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787882"/>
                </a:solidFill>
                <a:latin typeface="Menlo"/>
              </a:rPr>
              <a:t>pet-eval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586000" y="1825000"/>
            <a:ext cx="50000" cy="10000"/>
          </a:xfrm>
          <a:prstGeom prst="rect">
            <a:avLst/>
          </a:prstGeom>
          <a:solidFill>
            <a:srgbClr val="C8C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41000" y="1650000"/>
            <a:ext cx="95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41000" y="1650000"/>
            <a:ext cx="950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787882"/>
                </a:solidFill>
                <a:latin typeface="Menlo"/>
              </a:rPr>
              <a:t>pet-quantize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596000" y="1825000"/>
            <a:ext cx="50000" cy="10000"/>
          </a:xfrm>
          <a:prstGeom prst="rect">
            <a:avLst/>
          </a:prstGeom>
          <a:solidFill>
            <a:srgbClr val="C8C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651000" y="1650000"/>
            <a:ext cx="95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51000" y="1650000"/>
            <a:ext cx="950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787882"/>
                </a:solidFill>
                <a:latin typeface="Menlo"/>
              </a:rPr>
              <a:t>pet-ota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591000" y="2130000"/>
            <a:ext cx="7010000" cy="140000"/>
          </a:xfrm>
          <a:prstGeom prst="rect">
            <a:avLst/>
          </a:prstGeom>
          <a:solidFill>
            <a:srgbClr val="2F6AB8"/>
          </a:solidFill>
          <a:ln w="15240">
            <a:solidFill>
              <a:srgbClr val="2F6A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591000" y="2130000"/>
            <a:ext cx="7010000" cy="14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FFFFFF"/>
                </a:solidFill>
                <a:latin typeface="Menlo"/>
              </a:rPr>
              <a:t>pet-infra · shared runtime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01000" y="2350000"/>
            <a:ext cx="1400000" cy="180000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7A57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01000" y="2350000"/>
            <a:ext cx="1400000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7A57A8"/>
                </a:solidFill>
                <a:latin typeface="Menlo"/>
              </a:rPr>
              <a:t>pet-id · independent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60000" y="2600000"/>
            <a:ext cx="5100000" cy="70000"/>
          </a:xfrm>
          <a:prstGeom prst="rect">
            <a:avLst/>
          </a:prstGeom>
          <a:solidFill>
            <a:srgbClr val="2F6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0000" y="2740000"/>
            <a:ext cx="5100000" cy="3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F6AB8"/>
                </a:solidFill>
                <a:latin typeface="Helvetica"/>
              </a:rPr>
              <a:t>做什么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0000" y="3160000"/>
            <a:ext cx="4940000" cy="2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2F6AB8"/>
                </a:solidFill>
                <a:latin typeface="Helvetica"/>
              </a:rPr>
              <a:t>▪  </a:t>
            </a:r>
            <a:r>
              <a:rPr sz="1250">
                <a:solidFill>
                  <a:srgbClr val="1A2A44"/>
                </a:solidFill>
                <a:latin typeface="Helvetica"/>
              </a:rPr>
              <a:t>7 个全局 Registry</a:t>
            </a:r>
            <a:r>
              <a:rPr sz="1150" i="1">
                <a:solidFill>
                  <a:srgbClr val="787882"/>
                </a:solidFill>
                <a:latin typeface="Helvetica"/>
              </a:rPr>
              <a:t>  — TRAINERS / EVALUATORS / CONVERTERS / METRICS / DATASETS / STORAGE / OTA</a:t>
            </a:r>
          </a:p>
          <a:p>
            <a:pPr algn="l">
              <a:lnSpc>
                <a:spcPct val="135000"/>
              </a:lnSpc>
            </a:pPr>
            <a:r>
              <a:rPr sz="1250" b="1">
                <a:solidFill>
                  <a:srgbClr val="2F6AB8"/>
                </a:solidFill>
                <a:latin typeface="Helvetica"/>
              </a:rPr>
              <a:t>▪  </a:t>
            </a:r>
            <a:r>
              <a:rPr sz="1250">
                <a:solidFill>
                  <a:srgbClr val="1A2A44"/>
                </a:solidFill>
                <a:latin typeface="Helvetica"/>
              </a:rPr>
              <a:t>Plugin Discovery</a:t>
            </a:r>
            <a:r>
              <a:rPr sz="1150" i="1">
                <a:solidFill>
                  <a:srgbClr val="787882"/>
                </a:solidFill>
                <a:latin typeface="Helvetica"/>
              </a:rPr>
              <a:t>  — entry-point group: pet_infra.plugins</a:t>
            </a:r>
          </a:p>
          <a:p>
            <a:pPr algn="l">
              <a:lnSpc>
                <a:spcPct val="135000"/>
              </a:lnSpc>
            </a:pPr>
            <a:r>
              <a:rPr sz="1250" b="1">
                <a:solidFill>
                  <a:srgbClr val="2F6AB8"/>
                </a:solidFill>
                <a:latin typeface="Helvetica"/>
              </a:rPr>
              <a:t>▪  </a:t>
            </a:r>
            <a:r>
              <a:rPr sz="1250">
                <a:solidFill>
                  <a:srgbClr val="1A2A44"/>
                </a:solidFill>
                <a:latin typeface="Helvetica"/>
              </a:rPr>
              <a:t>Config Composition</a:t>
            </a:r>
            <a:r>
              <a:rPr sz="1150" i="1">
                <a:solidFill>
                  <a:srgbClr val="787882"/>
                </a:solidFill>
                <a:latin typeface="Helvetica"/>
              </a:rPr>
              <a:t>  — compose_recipe() Hydra defaults-list + override</a:t>
            </a:r>
          </a:p>
          <a:p>
            <a:pPr algn="l">
              <a:lnSpc>
                <a:spcPct val="135000"/>
              </a:lnSpc>
            </a:pPr>
            <a:r>
              <a:rPr sz="1250" b="1">
                <a:solidFill>
                  <a:srgbClr val="2F6AB8"/>
                </a:solidFill>
                <a:latin typeface="Helvetica"/>
              </a:rPr>
              <a:t>▪  </a:t>
            </a:r>
            <a:r>
              <a:rPr sz="1250">
                <a:solidFill>
                  <a:srgbClr val="1A2A44"/>
                </a:solidFill>
                <a:latin typeface="Helvetica"/>
              </a:rPr>
              <a:t>Orchestrator</a:t>
            </a:r>
            <a:r>
              <a:rPr sz="1150" i="1">
                <a:solidFill>
                  <a:srgbClr val="787882"/>
                </a:solidFill>
                <a:latin typeface="Helvetica"/>
              </a:rPr>
              <a:t>  — BaseStageRunner + 5 runners · pet_run()</a:t>
            </a:r>
          </a:p>
          <a:p>
            <a:pPr algn="l">
              <a:lnSpc>
                <a:spcPct val="135000"/>
              </a:lnSpc>
            </a:pPr>
            <a:r>
              <a:rPr sz="1250" b="1">
                <a:solidFill>
                  <a:srgbClr val="2F6AB8"/>
                </a:solidFill>
                <a:latin typeface="Helvetica"/>
              </a:rPr>
              <a:t>▪  </a:t>
            </a:r>
            <a:r>
              <a:rPr sz="1250">
                <a:solidFill>
                  <a:srgbClr val="1A2A44"/>
                </a:solidFill>
                <a:latin typeface="Helvetica"/>
              </a:rPr>
              <a:t>Storage 抽象</a:t>
            </a:r>
            <a:r>
              <a:rPr sz="1150" i="1">
                <a:solidFill>
                  <a:srgbClr val="787882"/>
                </a:solidFill>
                <a:latin typeface="Helvetica"/>
              </a:rPr>
              <a:t>  — Local / S3 / HTTP 三后端</a:t>
            </a:r>
          </a:p>
          <a:p>
            <a:pPr algn="l">
              <a:lnSpc>
                <a:spcPct val="135000"/>
              </a:lnSpc>
            </a:pPr>
            <a:r>
              <a:rPr sz="1250" b="1">
                <a:solidFill>
                  <a:srgbClr val="2F6AB8"/>
                </a:solidFill>
                <a:latin typeface="Helvetica"/>
              </a:rPr>
              <a:t>▪  </a:t>
            </a:r>
            <a:r>
              <a:rPr sz="1250">
                <a:solidFill>
                  <a:srgbClr val="1A2A44"/>
                </a:solidFill>
                <a:latin typeface="Helvetica"/>
              </a:rPr>
              <a:t>ClearMLLogger + Replay</a:t>
            </a:r>
            <a:r>
              <a:rPr sz="1150" i="1">
                <a:solidFill>
                  <a:srgbClr val="787882"/>
                </a:solidFill>
                <a:latin typeface="Helvetica"/>
              </a:rPr>
              <a:t>  — W&amp;B 已于 Phase 4 完全移除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40000" y="2600000"/>
            <a:ext cx="5100000" cy="70000"/>
          </a:xfrm>
          <a:prstGeom prst="rect">
            <a:avLst/>
          </a:prstGeom>
          <a:solidFill>
            <a:srgbClr val="C8C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00000" y="2740000"/>
            <a:ext cx="5100000" cy="3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787882"/>
                </a:solidFill>
                <a:latin typeface="Helvetica"/>
              </a:rPr>
              <a:t>不做什么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00000" y="3160000"/>
            <a:ext cx="4940000" cy="2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C8CCD2"/>
                </a:solidFill>
                <a:latin typeface="Helvetica"/>
              </a:rPr>
              <a:t>▪  </a:t>
            </a:r>
            <a:r>
              <a:rPr sz="1250">
                <a:solidFill>
                  <a:srgbClr val="787882"/>
                </a:solidFill>
                <a:latin typeface="Helvetica"/>
              </a:rPr>
              <a:t>不实现具体 trainer / evaluator</a:t>
            </a:r>
            <a:r>
              <a:rPr sz="1150" i="1">
                <a:solidFill>
                  <a:srgbClr val="787882"/>
                </a:solidFill>
                <a:latin typeface="Helvetica"/>
              </a:rPr>
              <a:t>  — 下游仓注册为 plugin</a:t>
            </a:r>
          </a:p>
          <a:p>
            <a:pPr algn="l">
              <a:lnSpc>
                <a:spcPct val="135000"/>
              </a:lnSpc>
            </a:pPr>
            <a:r>
              <a:rPr sz="1250" b="1">
                <a:solidFill>
                  <a:srgbClr val="C8CCD2"/>
                </a:solidFill>
                <a:latin typeface="Helvetica"/>
              </a:rPr>
              <a:t>▪  </a:t>
            </a:r>
            <a:r>
              <a:rPr sz="1250">
                <a:solidFill>
                  <a:srgbClr val="787882"/>
                </a:solidFill>
                <a:latin typeface="Helvetica"/>
              </a:rPr>
              <a:t>不定义契约类型</a:t>
            </a:r>
            <a:r>
              <a:rPr sz="1150" i="1">
                <a:solidFill>
                  <a:srgbClr val="787882"/>
                </a:solidFill>
                <a:latin typeface="Helvetica"/>
              </a:rPr>
              <a:t>  — pet-schema 负责</a:t>
            </a:r>
          </a:p>
          <a:p>
            <a:pPr algn="l">
              <a:lnSpc>
                <a:spcPct val="135000"/>
              </a:lnSpc>
            </a:pPr>
            <a:r>
              <a:rPr sz="1250" b="1">
                <a:solidFill>
                  <a:srgbClr val="C8CCD2"/>
                </a:solidFill>
                <a:latin typeface="Helvetica"/>
              </a:rPr>
              <a:t>▪  </a:t>
            </a:r>
            <a:r>
              <a:rPr sz="1250">
                <a:solidFill>
                  <a:srgbClr val="787882"/>
                </a:solidFill>
                <a:latin typeface="Helvetica"/>
              </a:rPr>
              <a:t>不做硬件推理</a:t>
            </a:r>
            <a:r>
              <a:rPr sz="1150" i="1">
                <a:solidFill>
                  <a:srgbClr val="787882"/>
                </a:solidFill>
                <a:latin typeface="Helvetica"/>
              </a:rPr>
              <a:t>  — pet-quantize 负责</a:t>
            </a:r>
          </a:p>
          <a:p>
            <a:pPr algn="l">
              <a:lnSpc>
                <a:spcPct val="135000"/>
              </a:lnSpc>
            </a:pPr>
            <a:r>
              <a:rPr sz="1250" b="1">
                <a:solidFill>
                  <a:srgbClr val="C8CCD2"/>
                </a:solidFill>
                <a:latin typeface="Helvetica"/>
              </a:rPr>
              <a:t>▪  </a:t>
            </a:r>
            <a:r>
              <a:rPr sz="1250">
                <a:solidFill>
                  <a:srgbClr val="787882"/>
                </a:solidFill>
                <a:latin typeface="Helvetica"/>
              </a:rPr>
              <a:t>不保存训练数据</a:t>
            </a:r>
            <a:r>
              <a:rPr sz="1150" i="1">
                <a:solidFill>
                  <a:srgbClr val="787882"/>
                </a:solidFill>
                <a:latin typeface="Helvetica"/>
              </a:rPr>
              <a:t>  — pet-data 负责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0000" y="6418000"/>
            <a:ext cx="50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787882"/>
                </a:solidFill>
                <a:latin typeface="Helvetica"/>
              </a:rPr>
              <a:t>Train-Pet-Pipeline · Technical Overview · matrix 2026.10-ecosystem-cleanup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0000" y="6358000"/>
            <a:ext cx="50000" cy="220000"/>
          </a:xfrm>
          <a:prstGeom prst="rect">
            <a:avLst/>
          </a:prstGeom>
          <a:solidFill>
            <a:srgbClr val="2F6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0000" y="6368000"/>
            <a:ext cx="20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F6AB8"/>
                </a:solidFill>
                <a:latin typeface="Menlo"/>
              </a:rPr>
              <a:t>pet-infra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0000"/>
          </a:xfrm>
          <a:prstGeom prst="rect">
            <a:avLst/>
          </a:prstGeom>
          <a:solidFill>
            <a:srgbClr val="2F6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60000" y="200000"/>
            <a:ext cx="2000000" cy="3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F6AB8"/>
                </a:solidFill>
                <a:latin typeface="Helvetica"/>
              </a:rPr>
              <a:t>§2 · pet-infra (2/3)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0000" y="420000"/>
            <a:ext cx="11272000" cy="6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1A2A44"/>
                </a:solidFill>
                <a:latin typeface="Helvetica"/>
              </a:rPr>
              <a:t>pet-infra — 7 Registries + 编排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0000" y="1020000"/>
            <a:ext cx="112720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787882"/>
                </a:solidFill>
                <a:latin typeface="Helvetica"/>
              </a:rPr>
              <a:t>所有下游仓通过 entry-point 注册 · DAG 驱动 · ClearML 唯一 tracker</a:t>
            </a:r>
          </a:p>
        </p:txBody>
      </p:sp>
      <p:sp>
        <p:nvSpPr>
          <p:cNvPr id="6" name="Rectangle 5"/>
          <p:cNvSpPr/>
          <p:nvPr/>
        </p:nvSpPr>
        <p:spPr>
          <a:xfrm>
            <a:off x="460000" y="1460000"/>
            <a:ext cx="11272000" cy="15000"/>
          </a:xfrm>
          <a:prstGeom prst="rect">
            <a:avLst/>
          </a:prstGeom>
          <a:solidFill>
            <a:srgbClr val="C8C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60000" y="1750000"/>
            <a:ext cx="3477333" cy="70000"/>
          </a:xfrm>
          <a:prstGeom prst="rect">
            <a:avLst/>
          </a:prstGeom>
          <a:solidFill>
            <a:srgbClr val="2F6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0000" y="1870000"/>
            <a:ext cx="3317333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F6AB8"/>
                </a:solidFill>
                <a:latin typeface="Helvetica"/>
              </a:rPr>
              <a:t>注册表层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" y="2270000"/>
            <a:ext cx="3477333" cy="892000"/>
          </a:xfrm>
          <a:prstGeom prst="rect">
            <a:avLst/>
          </a:prstGeom>
          <a:solidFill>
            <a:srgbClr val="FFFFFF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330000"/>
            <a:ext cx="3317333" cy="3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A2A44"/>
                </a:solidFill>
                <a:latin typeface="Menlo"/>
              </a:rPr>
              <a:t>TRAINERS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0000" y="2670000"/>
            <a:ext cx="3317333" cy="4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787882"/>
                </a:solidFill>
                <a:latin typeface="Helvetica"/>
              </a:rPr>
              <a:t>llamafactory_sft / dpo / tiny_test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0000" y="3222000"/>
            <a:ext cx="3477333" cy="892000"/>
          </a:xfrm>
          <a:prstGeom prst="rect">
            <a:avLst/>
          </a:prstGeom>
          <a:solidFill>
            <a:srgbClr val="FFFFFF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282000"/>
            <a:ext cx="3317333" cy="3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A2A44"/>
                </a:solidFill>
                <a:latin typeface="Menlo"/>
              </a:rPr>
              <a:t>EVALUATORS / METRICS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0000" y="3622000"/>
            <a:ext cx="3317333" cy="4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787882"/>
                </a:solidFill>
                <a:latin typeface="Helvetica"/>
              </a:rPr>
              <a:t>8 metrics + 6 evaluators</a:t>
            </a:r>
          </a:p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787882"/>
                </a:solidFill>
                <a:latin typeface="Helvetica"/>
              </a:rPr>
              <a:t>(vlm/audio/quantized + 3 fusion)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" y="4174000"/>
            <a:ext cx="3477333" cy="892000"/>
          </a:xfrm>
          <a:prstGeom prst="rect">
            <a:avLst/>
          </a:prstGeom>
          <a:solidFill>
            <a:srgbClr val="FFFFFF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234000"/>
            <a:ext cx="3317333" cy="3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A2A44"/>
                </a:solidFill>
                <a:latin typeface="Menlo"/>
              </a:rPr>
              <a:t>CONVERTERS / DATASETS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0000" y="4574000"/>
            <a:ext cx="3317333" cy="4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787882"/>
                </a:solidFill>
                <a:latin typeface="Helvetica"/>
              </a:rPr>
              <a:t>4 + 3 plugins</a:t>
            </a:r>
          </a:p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787882"/>
                </a:solidFill>
                <a:latin typeface="Helvetica"/>
              </a:rPr>
              <a:t>pet-quantize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0000" y="5126000"/>
            <a:ext cx="3477333" cy="892000"/>
          </a:xfrm>
          <a:prstGeom prst="rect">
            <a:avLst/>
          </a:prstGeom>
          <a:solidFill>
            <a:srgbClr val="FFFFFF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000" y="5186000"/>
            <a:ext cx="3317333" cy="3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A2A44"/>
                </a:solidFill>
                <a:latin typeface="Menlo"/>
              </a:rPr>
              <a:t>OTA / STORAGE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0000" y="5526000"/>
            <a:ext cx="3317333" cy="4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787882"/>
                </a:solidFill>
                <a:latin typeface="Helvetica"/>
              </a:rPr>
              <a:t>local / s3 / http</a:t>
            </a:r>
          </a:p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787882"/>
                </a:solidFill>
                <a:latin typeface="Helvetica"/>
              </a:rPr>
              <a:t>共用 STORAGE schema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57333" y="1750000"/>
            <a:ext cx="3477333" cy="70000"/>
          </a:xfrm>
          <a:prstGeom prst="rect">
            <a:avLst/>
          </a:prstGeom>
          <a:solidFill>
            <a:srgbClr val="2F6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17333" y="1870000"/>
            <a:ext cx="3317333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F6AB8"/>
                </a:solidFill>
                <a:latin typeface="Helvetica"/>
              </a:rPr>
              <a:t>编排层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57333" y="2270000"/>
            <a:ext cx="3477333" cy="892000"/>
          </a:xfrm>
          <a:prstGeom prst="rect">
            <a:avLst/>
          </a:prstGeom>
          <a:solidFill>
            <a:srgbClr val="FFFFFF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17333" y="2330000"/>
            <a:ext cx="3317333" cy="3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A2A44"/>
                </a:solidFill>
                <a:latin typeface="Menlo"/>
              </a:rPr>
              <a:t>compose.py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17333" y="2670000"/>
            <a:ext cx="3317333" cy="4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787882"/>
                </a:solidFill>
                <a:latin typeface="Helvetica"/>
              </a:rPr>
              <a:t>compose_recipe()</a:t>
            </a:r>
          </a:p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787882"/>
                </a:solidFill>
                <a:latin typeface="Helvetica"/>
              </a:rPr>
              <a:t>Hydra + override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57333" y="3222000"/>
            <a:ext cx="3477333" cy="892000"/>
          </a:xfrm>
          <a:prstGeom prst="rect">
            <a:avLst/>
          </a:prstGeom>
          <a:solidFill>
            <a:srgbClr val="FFFFFF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17333" y="3282000"/>
            <a:ext cx="3317333" cy="3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A2A44"/>
                </a:solidFill>
                <a:latin typeface="Menlo"/>
              </a:rPr>
              <a:t>orchestrator/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17333" y="3622000"/>
            <a:ext cx="3317333" cy="4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787882"/>
                </a:solidFill>
                <a:latin typeface="Helvetica"/>
              </a:rPr>
              <a:t>BaseStageRunner</a:t>
            </a:r>
          </a:p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787882"/>
                </a:solidFill>
                <a:latin typeface="Helvetica"/>
              </a:rPr>
              <a:t>DAG 执行器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57333" y="4174000"/>
            <a:ext cx="3477333" cy="892000"/>
          </a:xfrm>
          <a:prstGeom prst="rect">
            <a:avLst/>
          </a:prstGeom>
          <a:solidFill>
            <a:srgbClr val="FFFFFF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17333" y="4234000"/>
            <a:ext cx="3317333" cy="3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A2A44"/>
                </a:solidFill>
                <a:latin typeface="Menlo"/>
              </a:rPr>
              <a:t>pet_run()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17333" y="4574000"/>
            <a:ext cx="3317333" cy="4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787882"/>
                </a:solidFill>
                <a:latin typeface="Helvetica"/>
              </a:rPr>
              <a:t>串行 stage 执行</a:t>
            </a:r>
          </a:p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787882"/>
                </a:solidFill>
                <a:latin typeface="Helvetica"/>
              </a:rPr>
              <a:t>Resume-from-cache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57333" y="5126000"/>
            <a:ext cx="3477333" cy="892000"/>
          </a:xfrm>
          <a:prstGeom prst="rect">
            <a:avLst/>
          </a:prstGeom>
          <a:solidFill>
            <a:srgbClr val="FFFFFF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17333" y="5186000"/>
            <a:ext cx="3317333" cy="3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A2A44"/>
                </a:solidFill>
                <a:latin typeface="Menlo"/>
              </a:rPr>
              <a:t>replay.py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17333" y="5526000"/>
            <a:ext cx="3317333" cy="4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787882"/>
                </a:solidFill>
                <a:latin typeface="Helvetica"/>
              </a:rPr>
              <a:t>ModelCard 确定性重放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054666" y="1750000"/>
            <a:ext cx="3477333" cy="70000"/>
          </a:xfrm>
          <a:prstGeom prst="rect">
            <a:avLst/>
          </a:prstGeom>
          <a:solidFill>
            <a:srgbClr val="2F6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14666" y="1870000"/>
            <a:ext cx="3317333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F6AB8"/>
                </a:solidFill>
                <a:latin typeface="Helvetica"/>
              </a:rPr>
              <a:t>基础设施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054666" y="2270000"/>
            <a:ext cx="3477333" cy="892000"/>
          </a:xfrm>
          <a:prstGeom prst="rect">
            <a:avLst/>
          </a:prstGeom>
          <a:solidFill>
            <a:srgbClr val="FFFFFF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14666" y="2330000"/>
            <a:ext cx="3317333" cy="3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A2A44"/>
                </a:solidFill>
                <a:latin typeface="Menlo"/>
              </a:rPr>
              <a:t>storage/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14666" y="2670000"/>
            <a:ext cx="3317333" cy="4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787882"/>
                </a:solidFill>
                <a:latin typeface="Helvetica"/>
              </a:rPr>
              <a:t>Local + S3 + HTTP</a:t>
            </a:r>
          </a:p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787882"/>
                </a:solidFill>
                <a:latin typeface="Helvetica"/>
              </a:rPr>
              <a:t>URI scheme dispatch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054666" y="3222000"/>
            <a:ext cx="3477333" cy="892000"/>
          </a:xfrm>
          <a:prstGeom prst="rect">
            <a:avLst/>
          </a:prstGeom>
          <a:solidFill>
            <a:srgbClr val="FFFFFF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14666" y="3282000"/>
            <a:ext cx="3317333" cy="3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A2A44"/>
                </a:solidFill>
                <a:latin typeface="Menlo"/>
              </a:rPr>
              <a:t>ClearMLLogger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14666" y="3622000"/>
            <a:ext cx="3317333" cy="4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787882"/>
                </a:solidFill>
                <a:latin typeface="Helvetica"/>
              </a:rPr>
              <a:t>唯一实验追踪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054666" y="4174000"/>
            <a:ext cx="3477333" cy="892000"/>
          </a:xfrm>
          <a:prstGeom prst="rect">
            <a:avLst/>
          </a:prstGeom>
          <a:solidFill>
            <a:srgbClr val="FFFFFF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214666" y="4234000"/>
            <a:ext cx="3317333" cy="3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A2A44"/>
                </a:solidFill>
                <a:latin typeface="Menlo"/>
              </a:rPr>
              <a:t>cli.py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14666" y="4574000"/>
            <a:ext cx="3317333" cy="4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787882"/>
                </a:solidFill>
                <a:latin typeface="Helvetica"/>
              </a:rPr>
              <a:t>pet run / replay / sweep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054666" y="5126000"/>
            <a:ext cx="3477333" cy="892000"/>
          </a:xfrm>
          <a:prstGeom prst="rect">
            <a:avLst/>
          </a:prstGeom>
          <a:solidFill>
            <a:srgbClr val="FFFFFF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214666" y="5186000"/>
            <a:ext cx="3317333" cy="3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A2A44"/>
                </a:solidFill>
                <a:latin typeface="Menlo"/>
              </a:rPr>
              <a:t>registry.py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14666" y="5526000"/>
            <a:ext cx="3317333" cy="4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787882"/>
                </a:solidFill>
                <a:latin typeface="Helvetica"/>
              </a:rPr>
              <a:t>mmengine Registry 基座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60000" y="6418000"/>
            <a:ext cx="50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787882"/>
                </a:solidFill>
                <a:latin typeface="Helvetica"/>
              </a:rPr>
              <a:t>Train-Pet-Pipeline · Technical Overview · matrix 2026.10-ecosystem-cleanup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60000" y="6358000"/>
            <a:ext cx="50000" cy="220000"/>
          </a:xfrm>
          <a:prstGeom prst="rect">
            <a:avLst/>
          </a:prstGeom>
          <a:solidFill>
            <a:srgbClr val="2F6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0000" y="6368000"/>
            <a:ext cx="20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F6AB8"/>
                </a:solidFill>
                <a:latin typeface="Menlo"/>
              </a:rPr>
              <a:t>pet-infra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0000"/>
          </a:xfrm>
          <a:prstGeom prst="rect">
            <a:avLst/>
          </a:prstGeom>
          <a:solidFill>
            <a:srgbClr val="2F6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60000" y="200000"/>
            <a:ext cx="2000000" cy="3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F6AB8"/>
                </a:solidFill>
                <a:latin typeface="Helvetica"/>
              </a:rPr>
              <a:t>§2 · pet-infra (3/3)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0000" y="420000"/>
            <a:ext cx="11272000" cy="6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1A2A44"/>
                </a:solidFill>
                <a:latin typeface="Helvetica"/>
              </a:rPr>
              <a:t>pet-infra — 关键设计决策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0000" y="1020000"/>
            <a:ext cx="112720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787882"/>
                </a:solidFill>
                <a:latin typeface="Helvetica"/>
              </a:rPr>
              <a:t>peer-dep 模式 · cross-repo-smoke-install CI 契约</a:t>
            </a:r>
          </a:p>
        </p:txBody>
      </p:sp>
      <p:sp>
        <p:nvSpPr>
          <p:cNvPr id="6" name="Rectangle 5"/>
          <p:cNvSpPr/>
          <p:nvPr/>
        </p:nvSpPr>
        <p:spPr>
          <a:xfrm>
            <a:off x="460000" y="1460000"/>
            <a:ext cx="11272000" cy="15000"/>
          </a:xfrm>
          <a:prstGeom prst="rect">
            <a:avLst/>
          </a:prstGeom>
          <a:solidFill>
            <a:srgbClr val="C8C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60000" y="1790000"/>
            <a:ext cx="4600000" cy="1322666"/>
          </a:xfrm>
          <a:prstGeom prst="rect">
            <a:avLst/>
          </a:prstGeom>
          <a:solidFill>
            <a:srgbClr val="FFFFFF"/>
          </a:solidFill>
          <a:ln w="12700">
            <a:solidFill>
              <a:srgbClr val="2F6A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60000" y="1790000"/>
            <a:ext cx="100000" cy="1322666"/>
          </a:xfrm>
          <a:prstGeom prst="rect">
            <a:avLst/>
          </a:prstGeom>
          <a:solidFill>
            <a:srgbClr val="2F6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0000" y="1850000"/>
            <a:ext cx="4400000" cy="12526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1A2A44"/>
                </a:solidFill>
                <a:latin typeface="Helvetica"/>
              </a:rPr>
              <a:t>β peer-dep 模式</a:t>
            </a:r>
          </a:p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1A2A44"/>
                </a:solidFill>
                <a:latin typeface="Helvetica"/>
              </a:rPr>
              <a:t>(非 pyproject.dependencies)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60000" y="1790000"/>
            <a:ext cx="6072000" cy="1322666"/>
          </a:xfrm>
          <a:prstGeom prst="rect">
            <a:avLst/>
          </a:prstGeom>
          <a:solidFill>
            <a:srgbClr val="F0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40000" y="1850000"/>
            <a:ext cx="5772000" cy="12526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1">
                <a:solidFill>
                  <a:srgbClr val="3C404C"/>
                </a:solidFill>
                <a:latin typeface="Helvetica"/>
              </a:rPr>
              <a:t>失去 CI / dev 装序清晰 — hardpin 会把 pet-infra</a:t>
            </a:r>
          </a:p>
          <a:p>
            <a:pPr algn="l">
              <a:lnSpc>
                <a:spcPct val="135000"/>
              </a:lnSpc>
            </a:pPr>
            <a:r>
              <a:rPr sz="1100" b="0" i="1">
                <a:solidFill>
                  <a:srgbClr val="3C404C"/>
                </a:solidFill>
                <a:latin typeface="Helvetica"/>
              </a:rPr>
              <a:t>每次 bump 扩散到 7 个下游 pyproject diff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0000" y="3192666"/>
            <a:ext cx="4600000" cy="1322666"/>
          </a:xfrm>
          <a:prstGeom prst="rect">
            <a:avLst/>
          </a:prstGeom>
          <a:solidFill>
            <a:srgbClr val="FFFFFF"/>
          </a:solidFill>
          <a:ln w="12700">
            <a:solidFill>
              <a:srgbClr val="2F6A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000" y="3192666"/>
            <a:ext cx="100000" cy="1322666"/>
          </a:xfrm>
          <a:prstGeom prst="rect">
            <a:avLst/>
          </a:prstGeom>
          <a:solidFill>
            <a:srgbClr val="2F6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0000" y="3252666"/>
            <a:ext cx="4400000" cy="12526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1A2A44"/>
                </a:solidFill>
                <a:latin typeface="Helvetica"/>
              </a:rPr>
              <a:t>cross-repo-smoke-install.yml</a:t>
            </a:r>
          </a:p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1A2A44"/>
                </a:solidFill>
                <a:latin typeface="Helvetica"/>
              </a:rPr>
              <a:t>装序矩阵 = 实际行为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60000" y="3192666"/>
            <a:ext cx="6072000" cy="1322666"/>
          </a:xfrm>
          <a:prstGeom prst="rect">
            <a:avLst/>
          </a:prstGeom>
          <a:solidFill>
            <a:srgbClr val="F0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40000" y="3252666"/>
            <a:ext cx="5772000" cy="12526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1">
                <a:solidFill>
                  <a:srgbClr val="3C404C"/>
                </a:solidFill>
                <a:latin typeface="Helvetica"/>
              </a:rPr>
              <a:t>失去「文档 = 实际」契约 — OVERVIEW §4 装序表</a:t>
            </a:r>
          </a:p>
          <a:p>
            <a:pPr algn="l">
              <a:lnSpc>
                <a:spcPct val="135000"/>
              </a:lnSpc>
            </a:pPr>
            <a:r>
              <a:rPr sz="1100" b="0" i="1">
                <a:solidFill>
                  <a:srgbClr val="3C404C"/>
                </a:solidFill>
                <a:latin typeface="Helvetica"/>
              </a:rPr>
              <a:t>会悄悄和各仓 CI 漂移，Phase-N 再发现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0000" y="4595332"/>
            <a:ext cx="4600000" cy="1322666"/>
          </a:xfrm>
          <a:prstGeom prst="rect">
            <a:avLst/>
          </a:prstGeom>
          <a:solidFill>
            <a:srgbClr val="FFFFFF"/>
          </a:solidFill>
          <a:ln w="12700">
            <a:solidFill>
              <a:srgbClr val="2F6A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60000" y="4595332"/>
            <a:ext cx="100000" cy="1322666"/>
          </a:xfrm>
          <a:prstGeom prst="rect">
            <a:avLst/>
          </a:prstGeom>
          <a:solidFill>
            <a:srgbClr val="2F6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0000" y="4655332"/>
            <a:ext cx="4400000" cy="12526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1A2A44"/>
                </a:solidFill>
                <a:latin typeface="Helvetica"/>
              </a:rPr>
              <a:t>ClearML 单一 tracker</a:t>
            </a:r>
          </a:p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1A2A44"/>
                </a:solidFill>
                <a:latin typeface="Helvetica"/>
              </a:rPr>
              <a:t>no-wandb-residue guard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60000" y="4595332"/>
            <a:ext cx="6072000" cy="1322666"/>
          </a:xfrm>
          <a:prstGeom prst="rect">
            <a:avLst/>
          </a:prstGeom>
          <a:solidFill>
            <a:srgbClr val="F0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40000" y="4655332"/>
            <a:ext cx="5772000" cy="12526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1">
                <a:solidFill>
                  <a:srgbClr val="3C404C"/>
                </a:solidFill>
                <a:latin typeface="Helvetica"/>
              </a:rPr>
              <a:t>失去「一套日志工具」确定性 — W&amp;B 加回来就要</a:t>
            </a:r>
          </a:p>
          <a:p>
            <a:pPr algn="l">
              <a:lnSpc>
                <a:spcPct val="135000"/>
              </a:lnSpc>
            </a:pPr>
            <a:r>
              <a:rPr sz="1100" b="0" i="1">
                <a:solidFill>
                  <a:srgbClr val="3C404C"/>
                </a:solidFill>
                <a:latin typeface="Helvetica"/>
              </a:rPr>
              <a:t>同步 6 仓的 config + logger 抽象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0000" y="6418000"/>
            <a:ext cx="50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787882"/>
                </a:solidFill>
                <a:latin typeface="Helvetica"/>
              </a:rPr>
              <a:t>Train-Pet-Pipeline · Technical Overview · matrix 2026.10-ecosystem-cleanup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0000" y="6358000"/>
            <a:ext cx="50000" cy="220000"/>
          </a:xfrm>
          <a:prstGeom prst="rect">
            <a:avLst/>
          </a:prstGeom>
          <a:solidFill>
            <a:srgbClr val="2F6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0000" y="6368000"/>
            <a:ext cx="20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F6AB8"/>
                </a:solidFill>
                <a:latin typeface="Menlo"/>
              </a:rPr>
              <a:t>pet-infra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0000" y="2000000"/>
            <a:ext cx="14000" cy="2800000"/>
          </a:xfrm>
          <a:prstGeom prst="rect">
            <a:avLst/>
          </a:prstGeom>
          <a:solidFill>
            <a:srgbClr val="367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0000" y="2000000"/>
            <a:ext cx="8000000" cy="5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367BD6"/>
                </a:solidFill>
                <a:latin typeface="Helvetica"/>
              </a:rPr>
              <a:t>SECTION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0000" y="2500000"/>
            <a:ext cx="10000000" cy="11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>
                <a:solidFill>
                  <a:srgbClr val="FFFFFF"/>
                </a:solidFill>
                <a:latin typeface="Helvetica"/>
              </a:rPr>
              <a:t>数据流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0000" y="3750000"/>
            <a:ext cx="10000000" cy="5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1">
                <a:solidFill>
                  <a:srgbClr val="C8CCD2"/>
                </a:solidFill>
                <a:latin typeface="Helvetica"/>
              </a:rPr>
              <a:t>pet-data · pet-annotation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0000" y="4450000"/>
            <a:ext cx="100000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367BD6"/>
                </a:solidFill>
                <a:latin typeface="Menlo"/>
              </a:rPr>
              <a:t>Slides 13 – 16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0000"/>
          </a:xfrm>
          <a:prstGeom prst="rect">
            <a:avLst/>
          </a:prstGeom>
          <a:solidFill>
            <a:srgbClr val="2985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60000" y="200000"/>
            <a:ext cx="2000000" cy="3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985A8"/>
                </a:solidFill>
                <a:latin typeface="Helvetica"/>
              </a:rPr>
              <a:t>§3 · pet-data (1/2)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0000" y="420000"/>
            <a:ext cx="11272000" cy="6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1A2A44"/>
                </a:solidFill>
                <a:latin typeface="Helvetica"/>
              </a:rPr>
              <a:t>pet-data — 数据采集 + 清洗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0000" y="1020000"/>
            <a:ext cx="112720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787882"/>
                </a:solidFill>
                <a:latin typeface="Helvetica"/>
              </a:rPr>
              <a:t>7 个 ingester · dedup · quality filter · anomaly scoring · SQLite store</a:t>
            </a:r>
          </a:p>
        </p:txBody>
      </p:sp>
      <p:sp>
        <p:nvSpPr>
          <p:cNvPr id="6" name="Rectangle 5"/>
          <p:cNvSpPr/>
          <p:nvPr/>
        </p:nvSpPr>
        <p:spPr>
          <a:xfrm>
            <a:off x="460000" y="1460000"/>
            <a:ext cx="11272000" cy="15000"/>
          </a:xfrm>
          <a:prstGeom prst="rect">
            <a:avLst/>
          </a:prstGeom>
          <a:solidFill>
            <a:srgbClr val="C8C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591000" y="1650000"/>
            <a:ext cx="95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591000" y="1650000"/>
            <a:ext cx="950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787882"/>
                </a:solidFill>
                <a:latin typeface="Menlo"/>
              </a:rPr>
              <a:t>pet-schema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6000" y="1825000"/>
            <a:ext cx="50000" cy="10000"/>
          </a:xfrm>
          <a:prstGeom prst="rect">
            <a:avLst/>
          </a:prstGeom>
          <a:solidFill>
            <a:srgbClr val="C8C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01000" y="1650000"/>
            <a:ext cx="950000" cy="360000"/>
          </a:xfrm>
          <a:prstGeom prst="rect">
            <a:avLst/>
          </a:prstGeom>
          <a:solidFill>
            <a:srgbClr val="2985A8"/>
          </a:solidFill>
          <a:ln w="15240">
            <a:solidFill>
              <a:srgbClr val="2985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01000" y="1650000"/>
            <a:ext cx="950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Menlo"/>
              </a:rPr>
              <a:t>pet-data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56000" y="1825000"/>
            <a:ext cx="50000" cy="10000"/>
          </a:xfrm>
          <a:prstGeom prst="rect">
            <a:avLst/>
          </a:prstGeom>
          <a:solidFill>
            <a:srgbClr val="C8C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611000" y="1650000"/>
            <a:ext cx="95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11000" y="1650000"/>
            <a:ext cx="950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787882"/>
                </a:solidFill>
                <a:latin typeface="Menlo"/>
              </a:rPr>
              <a:t>pet-annotation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566000" y="1825000"/>
            <a:ext cx="50000" cy="10000"/>
          </a:xfrm>
          <a:prstGeom prst="rect">
            <a:avLst/>
          </a:prstGeom>
          <a:solidFill>
            <a:srgbClr val="C8C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1000" y="1650000"/>
            <a:ext cx="95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21000" y="1650000"/>
            <a:ext cx="950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787882"/>
                </a:solidFill>
                <a:latin typeface="Menlo"/>
              </a:rPr>
              <a:t>pet-train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76000" y="1825000"/>
            <a:ext cx="50000" cy="10000"/>
          </a:xfrm>
          <a:prstGeom prst="rect">
            <a:avLst/>
          </a:prstGeom>
          <a:solidFill>
            <a:srgbClr val="C8C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631000" y="1650000"/>
            <a:ext cx="95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31000" y="1650000"/>
            <a:ext cx="950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787882"/>
                </a:solidFill>
                <a:latin typeface="Menlo"/>
              </a:rPr>
              <a:t>pet-eval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586000" y="1825000"/>
            <a:ext cx="50000" cy="10000"/>
          </a:xfrm>
          <a:prstGeom prst="rect">
            <a:avLst/>
          </a:prstGeom>
          <a:solidFill>
            <a:srgbClr val="C8C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41000" y="1650000"/>
            <a:ext cx="95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41000" y="1650000"/>
            <a:ext cx="950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787882"/>
                </a:solidFill>
                <a:latin typeface="Menlo"/>
              </a:rPr>
              <a:t>pet-quantize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596000" y="1825000"/>
            <a:ext cx="50000" cy="10000"/>
          </a:xfrm>
          <a:prstGeom prst="rect">
            <a:avLst/>
          </a:prstGeom>
          <a:solidFill>
            <a:srgbClr val="C8C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651000" y="1650000"/>
            <a:ext cx="95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51000" y="1650000"/>
            <a:ext cx="950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787882"/>
                </a:solidFill>
                <a:latin typeface="Menlo"/>
              </a:rPr>
              <a:t>pet-ota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591000" y="2130000"/>
            <a:ext cx="7010000" cy="140000"/>
          </a:xfrm>
          <a:prstGeom prst="rect">
            <a:avLst/>
          </a:prstGeom>
          <a:solidFill>
            <a:srgbClr val="F0F1F4"/>
          </a:solidFill>
          <a:ln w="7620">
            <a:solidFill>
              <a:srgbClr val="2F6A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591000" y="2130000"/>
            <a:ext cx="7010000" cy="14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787882"/>
                </a:solidFill>
                <a:latin typeface="Menlo"/>
              </a:rPr>
              <a:t>pet-infra · shared runtime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01000" y="2350000"/>
            <a:ext cx="1400000" cy="180000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7A57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01000" y="2350000"/>
            <a:ext cx="1400000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7A57A8"/>
                </a:solidFill>
                <a:latin typeface="Menlo"/>
              </a:rPr>
              <a:t>pet-id · independent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60000" y="2600000"/>
            <a:ext cx="5100000" cy="70000"/>
          </a:xfrm>
          <a:prstGeom prst="rect">
            <a:avLst/>
          </a:prstGeom>
          <a:solidFill>
            <a:srgbClr val="2985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0000" y="2740000"/>
            <a:ext cx="5100000" cy="3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985A8"/>
                </a:solidFill>
                <a:latin typeface="Helvetica"/>
              </a:rPr>
              <a:t>做什么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0000" y="3160000"/>
            <a:ext cx="4940000" cy="2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2985A8"/>
                </a:solidFill>
                <a:latin typeface="Helvetica"/>
              </a:rPr>
              <a:t>▪  </a:t>
            </a:r>
            <a:r>
              <a:rPr sz="1250">
                <a:solidFill>
                  <a:srgbClr val="1A2A44"/>
                </a:solidFill>
                <a:latin typeface="Helvetica"/>
              </a:rPr>
              <a:t>7 种 Ingester</a:t>
            </a:r>
            <a:r>
              <a:rPr sz="1150" i="1">
                <a:solidFill>
                  <a:srgbClr val="787882"/>
                </a:solidFill>
                <a:latin typeface="Helvetica"/>
              </a:rPr>
              <a:t>  — youtube / community / selfshot / mock / ...</a:t>
            </a:r>
          </a:p>
          <a:p>
            <a:pPr algn="l">
              <a:lnSpc>
                <a:spcPct val="135000"/>
              </a:lnSpc>
            </a:pPr>
            <a:r>
              <a:rPr sz="1250" b="1">
                <a:solidFill>
                  <a:srgbClr val="2985A8"/>
                </a:solidFill>
                <a:latin typeface="Helvetica"/>
              </a:rPr>
              <a:t>▪  </a:t>
            </a:r>
            <a:r>
              <a:rPr sz="1250">
                <a:solidFill>
                  <a:srgbClr val="1A2A44"/>
                </a:solidFill>
                <a:latin typeface="Helvetica"/>
              </a:rPr>
              <a:t>Dedup + QualityFilter</a:t>
            </a:r>
            <a:r>
              <a:rPr sz="1150" i="1">
                <a:solidFill>
                  <a:srgbClr val="787882"/>
                </a:solidFill>
                <a:latin typeface="Helvetica"/>
              </a:rPr>
              <a:t>  — 相似度 + 模糊 + 亮度三联闸</a:t>
            </a:r>
          </a:p>
          <a:p>
            <a:pPr algn="l">
              <a:lnSpc>
                <a:spcPct val="135000"/>
              </a:lnSpc>
            </a:pPr>
            <a:r>
              <a:rPr sz="1250" b="1">
                <a:solidFill>
                  <a:srgbClr val="2985A8"/>
                </a:solidFill>
                <a:latin typeface="Helvetica"/>
              </a:rPr>
              <a:t>▪  </a:t>
            </a:r>
            <a:r>
              <a:rPr sz="1250">
                <a:solidFill>
                  <a:srgbClr val="1A2A44"/>
                </a:solidFill>
                <a:latin typeface="Helvetica"/>
              </a:rPr>
              <a:t>Anomaly Scoring</a:t>
            </a:r>
            <a:r>
              <a:rPr sz="1150" i="1">
                <a:solidFill>
                  <a:srgbClr val="787882"/>
                </a:solidFill>
                <a:latin typeface="Helvetica"/>
              </a:rPr>
              <a:t>  — 弱监督打分 → 标注任务优先级</a:t>
            </a:r>
          </a:p>
          <a:p>
            <a:pPr algn="l">
              <a:lnSpc>
                <a:spcPct val="135000"/>
              </a:lnSpc>
            </a:pPr>
            <a:r>
              <a:rPr sz="1250" b="1">
                <a:solidFill>
                  <a:srgbClr val="2985A8"/>
                </a:solidFill>
                <a:latin typeface="Helvetica"/>
              </a:rPr>
              <a:t>▪  </a:t>
            </a:r>
            <a:r>
              <a:rPr sz="1250">
                <a:solidFill>
                  <a:srgbClr val="1A2A44"/>
                </a:solidFill>
                <a:latin typeface="Helvetica"/>
              </a:rPr>
              <a:t>SQLite Store</a:t>
            </a:r>
            <a:r>
              <a:rPr sz="1150" i="1">
                <a:solidFill>
                  <a:srgbClr val="787882"/>
                </a:solidFill>
                <a:latin typeface="Helvetica"/>
              </a:rPr>
              <a:t>  — frames + audio_samples 两表
Alembic 004 migration</a:t>
            </a:r>
          </a:p>
          <a:p>
            <a:pPr algn="l">
              <a:lnSpc>
                <a:spcPct val="135000"/>
              </a:lnSpc>
            </a:pPr>
            <a:r>
              <a:rPr sz="1250" b="1">
                <a:solidFill>
                  <a:srgbClr val="2985A8"/>
                </a:solidFill>
                <a:latin typeface="Helvetica"/>
              </a:rPr>
              <a:t>▪  </a:t>
            </a:r>
            <a:r>
              <a:rPr sz="1250">
                <a:solidFill>
                  <a:srgbClr val="1A2A44"/>
                </a:solidFill>
                <a:latin typeface="Helvetica"/>
              </a:rPr>
              <a:t>DATASETS plugin</a:t>
            </a:r>
            <a:r>
              <a:rPr sz="1150" i="1">
                <a:solidFill>
                  <a:srgbClr val="787882"/>
                </a:solidFill>
                <a:latin typeface="Helvetica"/>
              </a:rPr>
              <a:t>  — VisionSample / AudioSample export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40000" y="2600000"/>
            <a:ext cx="5100000" cy="70000"/>
          </a:xfrm>
          <a:prstGeom prst="rect">
            <a:avLst/>
          </a:prstGeom>
          <a:solidFill>
            <a:srgbClr val="C8C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00000" y="2740000"/>
            <a:ext cx="5100000" cy="3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787882"/>
                </a:solidFill>
                <a:latin typeface="Helvetica"/>
              </a:rPr>
              <a:t>不做什么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00000" y="3160000"/>
            <a:ext cx="4940000" cy="2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C8CCD2"/>
                </a:solidFill>
                <a:latin typeface="Helvetica"/>
              </a:rPr>
              <a:t>▪  </a:t>
            </a:r>
            <a:r>
              <a:rPr sz="1250">
                <a:solidFill>
                  <a:srgbClr val="787882"/>
                </a:solidFill>
                <a:latin typeface="Helvetica"/>
              </a:rPr>
              <a:t>不做结构化标注</a:t>
            </a:r>
            <a:r>
              <a:rPr sz="1150" i="1">
                <a:solidFill>
                  <a:srgbClr val="787882"/>
                </a:solidFill>
                <a:latin typeface="Helvetica"/>
              </a:rPr>
              <a:t>  — pet-annotation 负责</a:t>
            </a:r>
          </a:p>
          <a:p>
            <a:pPr algn="l">
              <a:lnSpc>
                <a:spcPct val="135000"/>
              </a:lnSpc>
            </a:pPr>
            <a:r>
              <a:rPr sz="1250" b="1">
                <a:solidFill>
                  <a:srgbClr val="C8CCD2"/>
                </a:solidFill>
                <a:latin typeface="Helvetica"/>
              </a:rPr>
              <a:t>▪  </a:t>
            </a:r>
            <a:r>
              <a:rPr sz="1250">
                <a:solidFill>
                  <a:srgbClr val="787882"/>
                </a:solidFill>
                <a:latin typeface="Helvetica"/>
              </a:rPr>
              <a:t>不训练</a:t>
            </a:r>
            <a:r>
              <a:rPr sz="1150" i="1">
                <a:solidFill>
                  <a:srgbClr val="787882"/>
                </a:solidFill>
                <a:latin typeface="Helvetica"/>
              </a:rPr>
              <a:t>  — pet-train 负责</a:t>
            </a:r>
          </a:p>
          <a:p>
            <a:pPr algn="l">
              <a:lnSpc>
                <a:spcPct val="135000"/>
              </a:lnSpc>
            </a:pPr>
            <a:r>
              <a:rPr sz="1250" b="1">
                <a:solidFill>
                  <a:srgbClr val="C8CCD2"/>
                </a:solidFill>
                <a:latin typeface="Helvetica"/>
              </a:rPr>
              <a:t>▪  </a:t>
            </a:r>
            <a:r>
              <a:rPr sz="1250">
                <a:solidFill>
                  <a:srgbClr val="787882"/>
                </a:solidFill>
                <a:latin typeface="Helvetica"/>
              </a:rPr>
              <a:t>不 skip dedup</a:t>
            </a:r>
            <a:r>
              <a:rPr sz="1150" i="1">
                <a:solidFill>
                  <a:srgbClr val="787882"/>
                </a:solidFill>
                <a:latin typeface="Helvetica"/>
              </a:rPr>
              <a:t>  — feedback_no_manual_workaround 铁律</a:t>
            </a:r>
          </a:p>
          <a:p>
            <a:pPr algn="l">
              <a:lnSpc>
                <a:spcPct val="135000"/>
              </a:lnSpc>
            </a:pPr>
            <a:r>
              <a:rPr sz="1250" b="1">
                <a:solidFill>
                  <a:srgbClr val="C8CCD2"/>
                </a:solidFill>
                <a:latin typeface="Helvetica"/>
              </a:rPr>
              <a:t>▪  </a:t>
            </a:r>
            <a:r>
              <a:rPr sz="1250">
                <a:solidFill>
                  <a:srgbClr val="787882"/>
                </a:solidFill>
                <a:latin typeface="Helvetica"/>
              </a:rPr>
              <a:t>不直连 DB</a:t>
            </a:r>
            <a:r>
              <a:rPr sz="1150" i="1">
                <a:solidFill>
                  <a:srgbClr val="787882"/>
                </a:solidFill>
                <a:latin typeface="Helvetica"/>
              </a:rPr>
              <a:t>  — 只通过 store.py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0000" y="6418000"/>
            <a:ext cx="50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787882"/>
                </a:solidFill>
                <a:latin typeface="Helvetica"/>
              </a:rPr>
              <a:t>Train-Pet-Pipeline · Technical Overview · matrix 2026.10-ecosystem-cleanup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0000" y="6358000"/>
            <a:ext cx="50000" cy="220000"/>
          </a:xfrm>
          <a:prstGeom prst="rect">
            <a:avLst/>
          </a:prstGeom>
          <a:solidFill>
            <a:srgbClr val="2985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0000" y="6368000"/>
            <a:ext cx="20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985A8"/>
                </a:solidFill>
                <a:latin typeface="Menlo"/>
              </a:rPr>
              <a:t>pet-data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0000"/>
          </a:xfrm>
          <a:prstGeom prst="rect">
            <a:avLst/>
          </a:prstGeom>
          <a:solidFill>
            <a:srgbClr val="2985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60000" y="200000"/>
            <a:ext cx="2000000" cy="3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985A8"/>
                </a:solidFill>
                <a:latin typeface="Helvetica"/>
              </a:rPr>
              <a:t>§3 · pet-data (2/2)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0000" y="420000"/>
            <a:ext cx="11272000" cy="6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1A2A44"/>
                </a:solidFill>
                <a:latin typeface="Helvetica"/>
              </a:rPr>
              <a:t>pet-data — 关键设计决策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0000" y="1020000"/>
            <a:ext cx="112720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787882"/>
                </a:solidFill>
                <a:latin typeface="Helvetica"/>
              </a:rPr>
              <a:t>概念分离 · immutable migrations · 不跳 dedup</a:t>
            </a:r>
          </a:p>
        </p:txBody>
      </p:sp>
      <p:sp>
        <p:nvSpPr>
          <p:cNvPr id="6" name="Rectangle 5"/>
          <p:cNvSpPr/>
          <p:nvPr/>
        </p:nvSpPr>
        <p:spPr>
          <a:xfrm>
            <a:off x="460000" y="1460000"/>
            <a:ext cx="11272000" cy="15000"/>
          </a:xfrm>
          <a:prstGeom prst="rect">
            <a:avLst/>
          </a:prstGeom>
          <a:solidFill>
            <a:srgbClr val="C8C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60000" y="1790000"/>
            <a:ext cx="4600000" cy="1322666"/>
          </a:xfrm>
          <a:prstGeom prst="rect">
            <a:avLst/>
          </a:prstGeom>
          <a:solidFill>
            <a:srgbClr val="FFFFFF"/>
          </a:solidFill>
          <a:ln w="12700">
            <a:solidFill>
              <a:srgbClr val="2985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60000" y="1790000"/>
            <a:ext cx="100000" cy="1322666"/>
          </a:xfrm>
          <a:prstGeom prst="rect">
            <a:avLst/>
          </a:prstGeom>
          <a:solidFill>
            <a:srgbClr val="2985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0000" y="1850000"/>
            <a:ext cx="4400000" cy="12526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1A2A44"/>
                </a:solidFill>
                <a:latin typeface="Helvetica"/>
              </a:rPr>
              <a:t>ingester_name (类名) vs</a:t>
            </a:r>
          </a:p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1A2A44"/>
                </a:solidFill>
                <a:latin typeface="Helvetica"/>
              </a:rPr>
              <a:t>default_provenance (语义)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60000" y="1790000"/>
            <a:ext cx="6072000" cy="1322666"/>
          </a:xfrm>
          <a:prstGeom prst="rect">
            <a:avLst/>
          </a:prstGeom>
          <a:solidFill>
            <a:srgbClr val="F0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40000" y="1850000"/>
            <a:ext cx="5772000" cy="12526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1">
                <a:solidFill>
                  <a:srgbClr val="3C404C"/>
                </a:solidFill>
                <a:latin typeface="Helvetica"/>
              </a:rPr>
              <a:t>Phase 3 生态优化抽出。合并会让 CommunityIngester 默认打</a:t>
            </a:r>
          </a:p>
          <a:p>
            <a:pPr algn="l">
              <a:lnSpc>
                <a:spcPct val="135000"/>
              </a:lnSpc>
            </a:pPr>
            <a:r>
              <a:rPr sz="1100" b="0" i="1">
                <a:solidFill>
                  <a:srgbClr val="3C404C"/>
                </a:solidFill>
                <a:latin typeface="Helvetica"/>
              </a:rPr>
              <a:t>provenance=community，SelfshotIngester 继承后变 selfshot,</a:t>
            </a:r>
          </a:p>
          <a:p>
            <a:pPr algn="l">
              <a:lnSpc>
                <a:spcPct val="135000"/>
              </a:lnSpc>
            </a:pPr>
            <a:r>
              <a:rPr sz="1100" b="0" i="1">
                <a:solidFill>
                  <a:srgbClr val="3C404C"/>
                </a:solidFill>
                <a:latin typeface="Helvetica"/>
              </a:rPr>
              <a:t>混编历史数据的 provenance 永远错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0000" y="3192666"/>
            <a:ext cx="4600000" cy="1322666"/>
          </a:xfrm>
          <a:prstGeom prst="rect">
            <a:avLst/>
          </a:prstGeom>
          <a:solidFill>
            <a:srgbClr val="FFFFFF"/>
          </a:solidFill>
          <a:ln w="12700">
            <a:solidFill>
              <a:srgbClr val="2985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000" y="3192666"/>
            <a:ext cx="100000" cy="1322666"/>
          </a:xfrm>
          <a:prstGeom prst="rect">
            <a:avLst/>
          </a:prstGeom>
          <a:solidFill>
            <a:srgbClr val="2985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0000" y="3252666"/>
            <a:ext cx="4400000" cy="12526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1A2A44"/>
                </a:solidFill>
                <a:latin typeface="Helvetica"/>
              </a:rPr>
              <a:t>dedup 强制执行</a:t>
            </a:r>
          </a:p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1A2A44"/>
                </a:solidFill>
                <a:latin typeface="Helvetica"/>
              </a:rPr>
              <a:t>不给 skip 旗标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60000" y="3192666"/>
            <a:ext cx="6072000" cy="1322666"/>
          </a:xfrm>
          <a:prstGeom prst="rect">
            <a:avLst/>
          </a:prstGeom>
          <a:solidFill>
            <a:srgbClr val="F0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40000" y="3252666"/>
            <a:ext cx="5772000" cy="12526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1">
                <a:solidFill>
                  <a:srgbClr val="3C404C"/>
                </a:solidFill>
                <a:latin typeface="Helvetica"/>
              </a:rPr>
              <a:t>失去数据质量底线 — 重复帧流入标注会被打多次</a:t>
            </a:r>
          </a:p>
          <a:p>
            <a:pPr algn="l">
              <a:lnSpc>
                <a:spcPct val="135000"/>
              </a:lnSpc>
            </a:pPr>
            <a:r>
              <a:rPr sz="1100" b="0" i="1">
                <a:solidFill>
                  <a:srgbClr val="3C404C"/>
                </a:solidFill>
                <a:latin typeface="Helvetica"/>
              </a:rPr>
              <a:t>（钱浪费）+ 训练集偏斜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0000" y="4595332"/>
            <a:ext cx="4600000" cy="1322666"/>
          </a:xfrm>
          <a:prstGeom prst="rect">
            <a:avLst/>
          </a:prstGeom>
          <a:solidFill>
            <a:srgbClr val="FFFFFF"/>
          </a:solidFill>
          <a:ln w="12700">
            <a:solidFill>
              <a:srgbClr val="2985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60000" y="4595332"/>
            <a:ext cx="100000" cy="1322666"/>
          </a:xfrm>
          <a:prstGeom prst="rect">
            <a:avLst/>
          </a:prstGeom>
          <a:solidFill>
            <a:srgbClr val="2985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0000" y="4655332"/>
            <a:ext cx="4400000" cy="12526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1A2A44"/>
                </a:solidFill>
                <a:latin typeface="Helvetica"/>
              </a:rPr>
              <a:t>Alembic 004 migration 路径</a:t>
            </a:r>
          </a:p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1A2A44"/>
                </a:solidFill>
                <a:latin typeface="Helvetica"/>
              </a:rPr>
              <a:t>历史不变只加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60000" y="4595332"/>
            <a:ext cx="6072000" cy="1322666"/>
          </a:xfrm>
          <a:prstGeom prst="rect">
            <a:avLst/>
          </a:prstGeom>
          <a:solidFill>
            <a:srgbClr val="F0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40000" y="4655332"/>
            <a:ext cx="5772000" cy="12526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1">
                <a:solidFill>
                  <a:srgbClr val="3C404C"/>
                </a:solidFill>
                <a:latin typeface="Helvetica"/>
              </a:rPr>
              <a:t>生产 DB 的 schema 演化可追溯 + downgrade/upgrade 可重放</a:t>
            </a:r>
          </a:p>
          <a:p>
            <a:pPr algn="l">
              <a:lnSpc>
                <a:spcPct val="135000"/>
              </a:lnSpc>
            </a:pPr>
            <a:r>
              <a:rPr sz="1100" b="0" i="1">
                <a:solidFill>
                  <a:srgbClr val="3C404C"/>
                </a:solidFill>
                <a:latin typeface="Helvetica"/>
              </a:rPr>
              <a:t>删旧 migration 会让过去的 deploy 无法恢复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0000" y="6418000"/>
            <a:ext cx="50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787882"/>
                </a:solidFill>
                <a:latin typeface="Helvetica"/>
              </a:rPr>
              <a:t>Train-Pet-Pipeline · Technical Overview · matrix 2026.10-ecosystem-cleanup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0000" y="6358000"/>
            <a:ext cx="50000" cy="220000"/>
          </a:xfrm>
          <a:prstGeom prst="rect">
            <a:avLst/>
          </a:prstGeom>
          <a:solidFill>
            <a:srgbClr val="2985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0000" y="6368000"/>
            <a:ext cx="20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985A8"/>
                </a:solidFill>
                <a:latin typeface="Menlo"/>
              </a:rPr>
              <a:t>pet-data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0000"/>
          </a:xfrm>
          <a:prstGeom prst="rect">
            <a:avLst/>
          </a:prstGeom>
          <a:solidFill>
            <a:srgbClr val="26A2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60000" y="200000"/>
            <a:ext cx="2000000" cy="3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6A29C"/>
                </a:solidFill>
                <a:latin typeface="Helvetica"/>
              </a:rPr>
              <a:t>§4 · pet-annotation (1/2)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0000" y="420000"/>
            <a:ext cx="11272000" cy="6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1A2A44"/>
                </a:solidFill>
                <a:latin typeface="Helvetica"/>
              </a:rPr>
              <a:t>pet-annotation — 4 范式打标引擎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0000" y="1020000"/>
            <a:ext cx="112720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787882"/>
                </a:solidFill>
                <a:latin typeface="Helvetica"/>
              </a:rPr>
              <a:t>LLM / classifier / rule / human 并行打标 · SFT/DPO JSONL 导出</a:t>
            </a:r>
          </a:p>
        </p:txBody>
      </p:sp>
      <p:sp>
        <p:nvSpPr>
          <p:cNvPr id="6" name="Rectangle 5"/>
          <p:cNvSpPr/>
          <p:nvPr/>
        </p:nvSpPr>
        <p:spPr>
          <a:xfrm>
            <a:off x="460000" y="1460000"/>
            <a:ext cx="11272000" cy="15000"/>
          </a:xfrm>
          <a:prstGeom prst="rect">
            <a:avLst/>
          </a:prstGeom>
          <a:solidFill>
            <a:srgbClr val="C8C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591000" y="1650000"/>
            <a:ext cx="95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591000" y="1650000"/>
            <a:ext cx="950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787882"/>
                </a:solidFill>
                <a:latin typeface="Menlo"/>
              </a:rPr>
              <a:t>pet-schema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6000" y="1825000"/>
            <a:ext cx="50000" cy="10000"/>
          </a:xfrm>
          <a:prstGeom prst="rect">
            <a:avLst/>
          </a:prstGeom>
          <a:solidFill>
            <a:srgbClr val="C8C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01000" y="1650000"/>
            <a:ext cx="95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01000" y="1650000"/>
            <a:ext cx="950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787882"/>
                </a:solidFill>
                <a:latin typeface="Menlo"/>
              </a:rPr>
              <a:t>pet-data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56000" y="1825000"/>
            <a:ext cx="50000" cy="10000"/>
          </a:xfrm>
          <a:prstGeom prst="rect">
            <a:avLst/>
          </a:prstGeom>
          <a:solidFill>
            <a:srgbClr val="C8C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611000" y="1650000"/>
            <a:ext cx="950000" cy="360000"/>
          </a:xfrm>
          <a:prstGeom prst="rect">
            <a:avLst/>
          </a:prstGeom>
          <a:solidFill>
            <a:srgbClr val="26A29C"/>
          </a:solidFill>
          <a:ln w="15240">
            <a:solidFill>
              <a:srgbClr val="26A2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11000" y="1650000"/>
            <a:ext cx="950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Menlo"/>
              </a:rPr>
              <a:t>pet-annotation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566000" y="1825000"/>
            <a:ext cx="50000" cy="10000"/>
          </a:xfrm>
          <a:prstGeom prst="rect">
            <a:avLst/>
          </a:prstGeom>
          <a:solidFill>
            <a:srgbClr val="C8C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1000" y="1650000"/>
            <a:ext cx="95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21000" y="1650000"/>
            <a:ext cx="950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787882"/>
                </a:solidFill>
                <a:latin typeface="Menlo"/>
              </a:rPr>
              <a:t>pet-train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76000" y="1825000"/>
            <a:ext cx="50000" cy="10000"/>
          </a:xfrm>
          <a:prstGeom prst="rect">
            <a:avLst/>
          </a:prstGeom>
          <a:solidFill>
            <a:srgbClr val="C8C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631000" y="1650000"/>
            <a:ext cx="95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31000" y="1650000"/>
            <a:ext cx="950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787882"/>
                </a:solidFill>
                <a:latin typeface="Menlo"/>
              </a:rPr>
              <a:t>pet-eval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586000" y="1825000"/>
            <a:ext cx="50000" cy="10000"/>
          </a:xfrm>
          <a:prstGeom prst="rect">
            <a:avLst/>
          </a:prstGeom>
          <a:solidFill>
            <a:srgbClr val="C8C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41000" y="1650000"/>
            <a:ext cx="95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41000" y="1650000"/>
            <a:ext cx="950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787882"/>
                </a:solidFill>
                <a:latin typeface="Menlo"/>
              </a:rPr>
              <a:t>pet-quantize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596000" y="1825000"/>
            <a:ext cx="50000" cy="10000"/>
          </a:xfrm>
          <a:prstGeom prst="rect">
            <a:avLst/>
          </a:prstGeom>
          <a:solidFill>
            <a:srgbClr val="C8C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651000" y="1650000"/>
            <a:ext cx="95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51000" y="1650000"/>
            <a:ext cx="950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787882"/>
                </a:solidFill>
                <a:latin typeface="Menlo"/>
              </a:rPr>
              <a:t>pet-ota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591000" y="2130000"/>
            <a:ext cx="7010000" cy="140000"/>
          </a:xfrm>
          <a:prstGeom prst="rect">
            <a:avLst/>
          </a:prstGeom>
          <a:solidFill>
            <a:srgbClr val="F0F1F4"/>
          </a:solidFill>
          <a:ln w="7620">
            <a:solidFill>
              <a:srgbClr val="2F6A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591000" y="2130000"/>
            <a:ext cx="7010000" cy="14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787882"/>
                </a:solidFill>
                <a:latin typeface="Menlo"/>
              </a:rPr>
              <a:t>pet-infra · shared runtime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01000" y="2350000"/>
            <a:ext cx="1400000" cy="180000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7A57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01000" y="2350000"/>
            <a:ext cx="1400000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7A57A8"/>
                </a:solidFill>
                <a:latin typeface="Menlo"/>
              </a:rPr>
              <a:t>pet-id · independent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60000" y="2600000"/>
            <a:ext cx="5100000" cy="70000"/>
          </a:xfrm>
          <a:prstGeom prst="rect">
            <a:avLst/>
          </a:prstGeom>
          <a:solidFill>
            <a:srgbClr val="26A2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0000" y="2740000"/>
            <a:ext cx="5100000" cy="3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6A29C"/>
                </a:solidFill>
                <a:latin typeface="Helvetica"/>
              </a:rPr>
              <a:t>做什么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0000" y="3160000"/>
            <a:ext cx="4940000" cy="2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26A29C"/>
                </a:solidFill>
                <a:latin typeface="Helvetica"/>
              </a:rPr>
              <a:t>▪  </a:t>
            </a:r>
            <a:r>
              <a:rPr sz="1250">
                <a:solidFill>
                  <a:srgbClr val="1A2A44"/>
                </a:solidFill>
                <a:latin typeface="Helvetica"/>
              </a:rPr>
              <a:t>拉 pending targets</a:t>
            </a:r>
            <a:r>
              <a:rPr sz="1150" i="1">
                <a:solidFill>
                  <a:srgbClr val="787882"/>
                </a:solidFill>
                <a:latin typeface="Helvetica"/>
              </a:rPr>
              <a:t>  — 从 pet-data frames 表只读</a:t>
            </a:r>
          </a:p>
          <a:p>
            <a:pPr algn="l">
              <a:lnSpc>
                <a:spcPct val="135000"/>
              </a:lnSpc>
            </a:pPr>
            <a:r>
              <a:rPr sz="1250" b="1">
                <a:solidFill>
                  <a:srgbClr val="26A29C"/>
                </a:solidFill>
                <a:latin typeface="Helvetica"/>
              </a:rPr>
              <a:t>▪  </a:t>
            </a:r>
            <a:r>
              <a:rPr sz="1250">
                <a:solidFill>
                  <a:srgbClr val="1A2A44"/>
                </a:solidFill>
                <a:latin typeface="Helvetica"/>
              </a:rPr>
              <a:t>4 范式并行打标</a:t>
            </a:r>
            <a:r>
              <a:rPr sz="1150" i="1">
                <a:solidFill>
                  <a:srgbClr val="787882"/>
                </a:solidFill>
                <a:latin typeface="Helvetica"/>
              </a:rPr>
              <a:t>  — LLM + classifier + rule + human</a:t>
            </a:r>
          </a:p>
          <a:p>
            <a:pPr algn="l">
              <a:lnSpc>
                <a:spcPct val="135000"/>
              </a:lnSpc>
            </a:pPr>
            <a:r>
              <a:rPr sz="1250" b="1">
                <a:solidFill>
                  <a:srgbClr val="26A29C"/>
                </a:solidFill>
                <a:latin typeface="Helvetica"/>
              </a:rPr>
              <a:t>▪  </a:t>
            </a:r>
            <a:r>
              <a:rPr sz="1250">
                <a:solidFill>
                  <a:srgbClr val="1A2A44"/>
                </a:solidFill>
                <a:latin typeface="Helvetica"/>
              </a:rPr>
              <a:t>AnnotationOrchestrator</a:t>
            </a:r>
            <a:r>
              <a:rPr sz="1150" i="1">
                <a:solidFill>
                  <a:srgbClr val="787882"/>
                </a:solidFill>
                <a:latin typeface="Helvetica"/>
              </a:rPr>
              <a:t>  — 并发调度 (target × annotator) 组合</a:t>
            </a:r>
          </a:p>
          <a:p>
            <a:pPr algn="l">
              <a:lnSpc>
                <a:spcPct val="135000"/>
              </a:lnSpc>
            </a:pPr>
            <a:r>
              <a:rPr sz="1250" b="1">
                <a:solidFill>
                  <a:srgbClr val="26A29C"/>
                </a:solidFill>
                <a:latin typeface="Helvetica"/>
              </a:rPr>
              <a:t>▪  </a:t>
            </a:r>
            <a:r>
              <a:rPr sz="1250">
                <a:solidFill>
                  <a:srgbClr val="1A2A44"/>
                </a:solidFill>
                <a:latin typeface="Helvetica"/>
              </a:rPr>
              <a:t>写 4 范式各自表</a:t>
            </a:r>
            <a:r>
              <a:rPr sz="1150" i="1">
                <a:solidFill>
                  <a:srgbClr val="787882"/>
                </a:solidFill>
                <a:latin typeface="Helvetica"/>
              </a:rPr>
              <a:t>  — 每 annotator 独立列不融合</a:t>
            </a:r>
          </a:p>
          <a:p>
            <a:pPr algn="l">
              <a:lnSpc>
                <a:spcPct val="135000"/>
              </a:lnSpc>
            </a:pPr>
            <a:r>
              <a:rPr sz="1250" b="1">
                <a:solidFill>
                  <a:srgbClr val="26A29C"/>
                </a:solidFill>
                <a:latin typeface="Helvetica"/>
              </a:rPr>
              <a:t>▪  </a:t>
            </a:r>
            <a:r>
              <a:rPr sz="1250">
                <a:solidFill>
                  <a:srgbClr val="1A2A44"/>
                </a:solidFill>
                <a:latin typeface="Helvetica"/>
              </a:rPr>
              <a:t>export SFT/DPO JSONL</a:t>
            </a:r>
            <a:r>
              <a:rPr sz="1150" i="1">
                <a:solidFill>
                  <a:srgbClr val="787882"/>
                </a:solidFill>
                <a:latin typeface="Helvetica"/>
              </a:rPr>
              <a:t>  — sft_dpo.py → pet-train 消费</a:t>
            </a:r>
          </a:p>
          <a:p>
            <a:pPr algn="l">
              <a:lnSpc>
                <a:spcPct val="135000"/>
              </a:lnSpc>
            </a:pPr>
            <a:r>
              <a:rPr sz="1250" b="1">
                <a:solidFill>
                  <a:srgbClr val="26A29C"/>
                </a:solidFill>
                <a:latin typeface="Helvetica"/>
              </a:rPr>
              <a:t>▪  </a:t>
            </a:r>
            <a:r>
              <a:rPr sz="1250">
                <a:solidFill>
                  <a:srgbClr val="1A2A44"/>
                </a:solidFill>
                <a:latin typeface="Helvetica"/>
              </a:rPr>
              <a:t>Label Studio 1.23 integration</a:t>
            </a:r>
            <a:r>
              <a:rPr sz="1150" i="1">
                <a:solidFill>
                  <a:srgbClr val="787882"/>
                </a:solidFill>
                <a:latin typeface="Helvetica"/>
              </a:rPr>
              <a:t>  — session auth + import/export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40000" y="2600000"/>
            <a:ext cx="5100000" cy="70000"/>
          </a:xfrm>
          <a:prstGeom prst="rect">
            <a:avLst/>
          </a:prstGeom>
          <a:solidFill>
            <a:srgbClr val="C8C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00000" y="2740000"/>
            <a:ext cx="5100000" cy="3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787882"/>
                </a:solidFill>
                <a:latin typeface="Helvetica"/>
              </a:rPr>
              <a:t>不做什么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00000" y="3160000"/>
            <a:ext cx="4940000" cy="2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C8CCD2"/>
                </a:solidFill>
                <a:latin typeface="Helvetica"/>
              </a:rPr>
              <a:t>▪  </a:t>
            </a:r>
            <a:r>
              <a:rPr sz="1250">
                <a:solidFill>
                  <a:srgbClr val="787882"/>
                </a:solidFill>
                <a:latin typeface="Helvetica"/>
              </a:rPr>
              <a:t>不 ingest 原始数据</a:t>
            </a:r>
            <a:r>
              <a:rPr sz="1150" i="1">
                <a:solidFill>
                  <a:srgbClr val="787882"/>
                </a:solidFill>
                <a:latin typeface="Helvetica"/>
              </a:rPr>
              <a:t>  — pet-data 负责</a:t>
            </a:r>
          </a:p>
          <a:p>
            <a:pPr algn="l">
              <a:lnSpc>
                <a:spcPct val="135000"/>
              </a:lnSpc>
            </a:pPr>
            <a:r>
              <a:rPr sz="1250" b="1">
                <a:solidFill>
                  <a:srgbClr val="C8CCD2"/>
                </a:solidFill>
                <a:latin typeface="Helvetica"/>
              </a:rPr>
              <a:t>▪  </a:t>
            </a:r>
            <a:r>
              <a:rPr sz="1250">
                <a:solidFill>
                  <a:srgbClr val="787882"/>
                </a:solidFill>
                <a:latin typeface="Helvetica"/>
              </a:rPr>
              <a:t>不训练模型</a:t>
            </a:r>
            <a:r>
              <a:rPr sz="1150" i="1">
                <a:solidFill>
                  <a:srgbClr val="787882"/>
                </a:solidFill>
                <a:latin typeface="Helvetica"/>
              </a:rPr>
              <a:t>  — pet-train 负责</a:t>
            </a:r>
          </a:p>
          <a:p>
            <a:pPr algn="l">
              <a:lnSpc>
                <a:spcPct val="135000"/>
              </a:lnSpc>
            </a:pPr>
            <a:r>
              <a:rPr sz="1250" b="1">
                <a:solidFill>
                  <a:srgbClr val="C8CCD2"/>
                </a:solidFill>
                <a:latin typeface="Helvetica"/>
              </a:rPr>
              <a:t>▪  </a:t>
            </a:r>
            <a:r>
              <a:rPr sz="1250">
                <a:solidFill>
                  <a:srgbClr val="787882"/>
                </a:solidFill>
                <a:latin typeface="Helvetica"/>
              </a:rPr>
              <a:t>不写 pet-data DB</a:t>
            </a:r>
            <a:r>
              <a:rPr sz="1150" i="1">
                <a:solidFill>
                  <a:srgbClr val="787882"/>
                </a:solidFill>
                <a:latin typeface="Helvetica"/>
              </a:rPr>
              <a:t>  — 只读跨仓</a:t>
            </a:r>
          </a:p>
          <a:p>
            <a:pPr algn="l">
              <a:lnSpc>
                <a:spcPct val="135000"/>
              </a:lnSpc>
            </a:pPr>
            <a:r>
              <a:rPr sz="1250" b="1">
                <a:solidFill>
                  <a:srgbClr val="C8CCD2"/>
                </a:solidFill>
                <a:latin typeface="Helvetica"/>
              </a:rPr>
              <a:t>▪  </a:t>
            </a:r>
            <a:r>
              <a:rPr sz="1250">
                <a:solidFill>
                  <a:srgbClr val="787882"/>
                </a:solidFill>
                <a:latin typeface="Helvetica"/>
              </a:rPr>
              <a:t>不跨 annotator reconcile</a:t>
            </a:r>
            <a:r>
              <a:rPr sz="1150" i="1">
                <a:solidFill>
                  <a:srgbClr val="787882"/>
                </a:solidFill>
                <a:latin typeface="Helvetica"/>
              </a:rPr>
              <a:t>  — D4 决策：独立存储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0000" y="6418000"/>
            <a:ext cx="50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787882"/>
                </a:solidFill>
                <a:latin typeface="Helvetica"/>
              </a:rPr>
              <a:t>Train-Pet-Pipeline · Technical Overview · matrix 2026.10-ecosystem-cleanup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0000" y="6358000"/>
            <a:ext cx="50000" cy="220000"/>
          </a:xfrm>
          <a:prstGeom prst="rect">
            <a:avLst/>
          </a:prstGeom>
          <a:solidFill>
            <a:srgbClr val="26A2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0000" y="6368000"/>
            <a:ext cx="20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6A29C"/>
                </a:solidFill>
                <a:latin typeface="Menlo"/>
              </a:rPr>
              <a:t>pet-annotation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0000"/>
          </a:xfrm>
          <a:prstGeom prst="rect">
            <a:avLst/>
          </a:prstGeom>
          <a:solidFill>
            <a:srgbClr val="26A2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60000" y="200000"/>
            <a:ext cx="2000000" cy="3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6A29C"/>
                </a:solidFill>
                <a:latin typeface="Helvetica"/>
              </a:rPr>
              <a:t>§4 · pet-annotation (2/2)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0000" y="420000"/>
            <a:ext cx="11272000" cy="6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1A2A44"/>
                </a:solidFill>
                <a:latin typeface="Helvetica"/>
              </a:rPr>
              <a:t>pet-annotation — 关键设计决策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0000" y="1020000"/>
            <a:ext cx="112720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787882"/>
                </a:solidFill>
                <a:latin typeface="Helvetica"/>
              </a:rPr>
              <a:t>4 范式独立存 · α 导出 · producer-side 校验</a:t>
            </a:r>
          </a:p>
        </p:txBody>
      </p:sp>
      <p:sp>
        <p:nvSpPr>
          <p:cNvPr id="6" name="Rectangle 5"/>
          <p:cNvSpPr/>
          <p:nvPr/>
        </p:nvSpPr>
        <p:spPr>
          <a:xfrm>
            <a:off x="460000" y="1460000"/>
            <a:ext cx="11272000" cy="15000"/>
          </a:xfrm>
          <a:prstGeom prst="rect">
            <a:avLst/>
          </a:prstGeom>
          <a:solidFill>
            <a:srgbClr val="C8C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60000" y="1790000"/>
            <a:ext cx="4600000" cy="1322666"/>
          </a:xfrm>
          <a:prstGeom prst="rect">
            <a:avLst/>
          </a:prstGeom>
          <a:solidFill>
            <a:srgbClr val="FFFFFF"/>
          </a:solidFill>
          <a:ln w="12700">
            <a:solidFill>
              <a:srgbClr val="26A2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60000" y="1790000"/>
            <a:ext cx="100000" cy="1322666"/>
          </a:xfrm>
          <a:prstGeom prst="rect">
            <a:avLst/>
          </a:prstGeom>
          <a:solidFill>
            <a:srgbClr val="26A2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0000" y="1850000"/>
            <a:ext cx="4400000" cy="12526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1A2A44"/>
                </a:solidFill>
                <a:latin typeface="Helvetica"/>
              </a:rPr>
              <a:t>4 annotator 各写各表</a:t>
            </a:r>
          </a:p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1A2A44"/>
                </a:solidFill>
                <a:latin typeface="Helvetica"/>
              </a:rPr>
              <a:t>不做 majority-vote 融合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60000" y="1790000"/>
            <a:ext cx="6072000" cy="1322666"/>
          </a:xfrm>
          <a:prstGeom prst="rect">
            <a:avLst/>
          </a:prstGeom>
          <a:solidFill>
            <a:srgbClr val="F0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40000" y="1850000"/>
            <a:ext cx="5772000" cy="12526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1">
                <a:solidFill>
                  <a:srgbClr val="3C404C"/>
                </a:solidFill>
                <a:latin typeface="Helvetica"/>
              </a:rPr>
              <a:t>失去真值集构建灵活度 — 融合策略应属评估阶段</a:t>
            </a:r>
          </a:p>
          <a:p>
            <a:pPr algn="l">
              <a:lnSpc>
                <a:spcPct val="135000"/>
              </a:lnSpc>
            </a:pPr>
            <a:r>
              <a:rPr sz="1100" b="0" i="1">
                <a:solidFill>
                  <a:srgbClr val="3C404C"/>
                </a:solidFill>
                <a:latin typeface="Helvetica"/>
              </a:rPr>
              <a:t>而不是固化在数据层。未来 voting / bayesian fusion</a:t>
            </a:r>
          </a:p>
          <a:p>
            <a:pPr algn="l">
              <a:lnSpc>
                <a:spcPct val="135000"/>
              </a:lnSpc>
            </a:pPr>
            <a:r>
              <a:rPr sz="1100" b="0" i="1">
                <a:solidFill>
                  <a:srgbClr val="3C404C"/>
                </a:solidFill>
                <a:latin typeface="Helvetica"/>
              </a:rPr>
              <a:t>可以上层做，下层保留原始数据是前提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0000" y="3192666"/>
            <a:ext cx="4600000" cy="1322666"/>
          </a:xfrm>
          <a:prstGeom prst="rect">
            <a:avLst/>
          </a:prstGeom>
          <a:solidFill>
            <a:srgbClr val="FFFFFF"/>
          </a:solidFill>
          <a:ln w="12700">
            <a:solidFill>
              <a:srgbClr val="26A2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000" y="3192666"/>
            <a:ext cx="100000" cy="1322666"/>
          </a:xfrm>
          <a:prstGeom prst="rect">
            <a:avLst/>
          </a:prstGeom>
          <a:solidFill>
            <a:srgbClr val="26A2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0000" y="3252666"/>
            <a:ext cx="4400000" cy="12526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1A2A44"/>
                </a:solidFill>
                <a:latin typeface="Helvetica"/>
              </a:rPr>
              <a:t>α 方向导出</a:t>
            </a:r>
          </a:p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1A2A44"/>
                </a:solidFill>
                <a:latin typeface="Helvetica"/>
              </a:rPr>
              <a:t>重写为 LLaMA-Factory JSONL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60000" y="3192666"/>
            <a:ext cx="6072000" cy="1322666"/>
          </a:xfrm>
          <a:prstGeom prst="rect">
            <a:avLst/>
          </a:prstGeom>
          <a:solidFill>
            <a:srgbClr val="F0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40000" y="3252666"/>
            <a:ext cx="5772000" cy="12526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1">
                <a:solidFill>
                  <a:srgbClr val="3C404C"/>
                </a:solidFill>
                <a:latin typeface="Helvetica"/>
              </a:rPr>
              <a:t>Phase 5 决策：pet-annotation 内部不做 backward compat shim</a:t>
            </a:r>
          </a:p>
          <a:p>
            <a:pPr algn="l">
              <a:lnSpc>
                <a:spcPct val="135000"/>
              </a:lnSpc>
            </a:pPr>
            <a:r>
              <a:rPr sz="1100" b="0" i="1">
                <a:solidFill>
                  <a:srgbClr val="3C404C"/>
                </a:solidFill>
                <a:latin typeface="Helvetica"/>
              </a:rPr>
              <a:t>消费方 pet-train 直接用 LlamaFactory run_sft/run_dpo 契约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0000" y="4595332"/>
            <a:ext cx="4600000" cy="1322666"/>
          </a:xfrm>
          <a:prstGeom prst="rect">
            <a:avLst/>
          </a:prstGeom>
          <a:solidFill>
            <a:srgbClr val="FFFFFF"/>
          </a:solidFill>
          <a:ln w="12700">
            <a:solidFill>
              <a:srgbClr val="26A2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60000" y="4595332"/>
            <a:ext cx="100000" cy="1322666"/>
          </a:xfrm>
          <a:prstGeom prst="rect">
            <a:avLst/>
          </a:prstGeom>
          <a:solidFill>
            <a:srgbClr val="26A2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0000" y="4655332"/>
            <a:ext cx="4400000" cy="12526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1A2A44"/>
                </a:solidFill>
                <a:latin typeface="Helvetica"/>
              </a:rPr>
              <a:t>F11 producer-side validator</a:t>
            </a:r>
          </a:p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1A2A44"/>
                </a:solidFill>
                <a:latin typeface="Helvetica"/>
              </a:rPr>
              <a:t>导出前 DPOSample.model_validate()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60000" y="4595332"/>
            <a:ext cx="6072000" cy="1322666"/>
          </a:xfrm>
          <a:prstGeom prst="rect">
            <a:avLst/>
          </a:prstGeom>
          <a:solidFill>
            <a:srgbClr val="F0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40000" y="4655332"/>
            <a:ext cx="5772000" cy="12526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1">
                <a:solidFill>
                  <a:srgbClr val="3C404C"/>
                </a:solidFill>
                <a:latin typeface="Helvetica"/>
              </a:rPr>
              <a:t>失去与下游 consumer (pet-train) 的验证冗余 —</a:t>
            </a:r>
          </a:p>
          <a:p>
            <a:pPr algn="l">
              <a:lnSpc>
                <a:spcPct val="135000"/>
              </a:lnSpc>
            </a:pPr>
            <a:r>
              <a:rPr sz="1100" b="0" i="1">
                <a:solidFill>
                  <a:srgbClr val="3C404C"/>
                </a:solidFill>
                <a:latin typeface="Helvetica"/>
              </a:rPr>
              <a:t>分工契约是「双端都验」，单端跳过坏数据流到训练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0000" y="6418000"/>
            <a:ext cx="50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787882"/>
                </a:solidFill>
                <a:latin typeface="Helvetica"/>
              </a:rPr>
              <a:t>Train-Pet-Pipeline · Technical Overview · matrix 2026.10-ecosystem-cleanup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0000" y="6358000"/>
            <a:ext cx="50000" cy="220000"/>
          </a:xfrm>
          <a:prstGeom prst="rect">
            <a:avLst/>
          </a:prstGeom>
          <a:solidFill>
            <a:srgbClr val="26A2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0000" y="6368000"/>
            <a:ext cx="20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6A29C"/>
                </a:solidFill>
                <a:latin typeface="Menlo"/>
              </a:rPr>
              <a:t>pet-annotation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0000" y="2000000"/>
            <a:ext cx="14000" cy="2800000"/>
          </a:xfrm>
          <a:prstGeom prst="rect">
            <a:avLst/>
          </a:prstGeom>
          <a:solidFill>
            <a:srgbClr val="367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0000" y="2000000"/>
            <a:ext cx="8000000" cy="5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367BD6"/>
                </a:solidFill>
                <a:latin typeface="Helvetica"/>
              </a:rPr>
              <a:t>SECTION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0000" y="2500000"/>
            <a:ext cx="10000000" cy="11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>
                <a:solidFill>
                  <a:srgbClr val="FFFFFF"/>
                </a:solidFill>
                <a:latin typeface="Helvetica"/>
              </a:rPr>
              <a:t>训练与评估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0000" y="3750000"/>
            <a:ext cx="10000000" cy="5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1">
                <a:solidFill>
                  <a:srgbClr val="C8CCD2"/>
                </a:solidFill>
                <a:latin typeface="Helvetica"/>
              </a:rPr>
              <a:t>pet-train · pet-eval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0000" y="4450000"/>
            <a:ext cx="100000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367BD6"/>
                </a:solidFill>
                <a:latin typeface="Menlo"/>
              </a:rPr>
              <a:t>Slides 18 – 23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0000"/>
          </a:xfrm>
          <a:prstGeom prst="rect">
            <a:avLst/>
          </a:prstGeom>
          <a:solidFill>
            <a:srgbClr val="5AA3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60000" y="200000"/>
            <a:ext cx="2000000" cy="3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5AA35E"/>
                </a:solidFill>
                <a:latin typeface="Helvetica"/>
              </a:rPr>
              <a:t>§5 · pet-train (1/3)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0000" y="420000"/>
            <a:ext cx="11272000" cy="6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1A2A44"/>
                </a:solidFill>
                <a:latin typeface="Helvetica"/>
              </a:rPr>
              <a:t>pet-train — 训练引擎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0000" y="1020000"/>
            <a:ext cx="112720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787882"/>
                </a:solidFill>
                <a:latin typeface="Helvetica"/>
              </a:rPr>
              <a:t>3 trainer 插件 + audio PANNs · 输出 ModelCard 给下游</a:t>
            </a:r>
          </a:p>
        </p:txBody>
      </p:sp>
      <p:sp>
        <p:nvSpPr>
          <p:cNvPr id="6" name="Rectangle 5"/>
          <p:cNvSpPr/>
          <p:nvPr/>
        </p:nvSpPr>
        <p:spPr>
          <a:xfrm>
            <a:off x="460000" y="1460000"/>
            <a:ext cx="11272000" cy="15000"/>
          </a:xfrm>
          <a:prstGeom prst="rect">
            <a:avLst/>
          </a:prstGeom>
          <a:solidFill>
            <a:srgbClr val="C8C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591000" y="1650000"/>
            <a:ext cx="95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591000" y="1650000"/>
            <a:ext cx="950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787882"/>
                </a:solidFill>
                <a:latin typeface="Menlo"/>
              </a:rPr>
              <a:t>pet-schema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6000" y="1825000"/>
            <a:ext cx="50000" cy="10000"/>
          </a:xfrm>
          <a:prstGeom prst="rect">
            <a:avLst/>
          </a:prstGeom>
          <a:solidFill>
            <a:srgbClr val="C8C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01000" y="1650000"/>
            <a:ext cx="95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01000" y="1650000"/>
            <a:ext cx="950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787882"/>
                </a:solidFill>
                <a:latin typeface="Menlo"/>
              </a:rPr>
              <a:t>pet-data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56000" y="1825000"/>
            <a:ext cx="50000" cy="10000"/>
          </a:xfrm>
          <a:prstGeom prst="rect">
            <a:avLst/>
          </a:prstGeom>
          <a:solidFill>
            <a:srgbClr val="C8C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611000" y="1650000"/>
            <a:ext cx="95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11000" y="1650000"/>
            <a:ext cx="950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787882"/>
                </a:solidFill>
                <a:latin typeface="Menlo"/>
              </a:rPr>
              <a:t>pet-annotation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566000" y="1825000"/>
            <a:ext cx="50000" cy="10000"/>
          </a:xfrm>
          <a:prstGeom prst="rect">
            <a:avLst/>
          </a:prstGeom>
          <a:solidFill>
            <a:srgbClr val="C8C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1000" y="1650000"/>
            <a:ext cx="950000" cy="360000"/>
          </a:xfrm>
          <a:prstGeom prst="rect">
            <a:avLst/>
          </a:prstGeom>
          <a:solidFill>
            <a:srgbClr val="5AA35E"/>
          </a:solidFill>
          <a:ln w="15240">
            <a:solidFill>
              <a:srgbClr val="5AA3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21000" y="1650000"/>
            <a:ext cx="950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Menlo"/>
              </a:rPr>
              <a:t>pet-train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76000" y="1825000"/>
            <a:ext cx="50000" cy="10000"/>
          </a:xfrm>
          <a:prstGeom prst="rect">
            <a:avLst/>
          </a:prstGeom>
          <a:solidFill>
            <a:srgbClr val="C8C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631000" y="1650000"/>
            <a:ext cx="95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31000" y="1650000"/>
            <a:ext cx="950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787882"/>
                </a:solidFill>
                <a:latin typeface="Menlo"/>
              </a:rPr>
              <a:t>pet-eval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586000" y="1825000"/>
            <a:ext cx="50000" cy="10000"/>
          </a:xfrm>
          <a:prstGeom prst="rect">
            <a:avLst/>
          </a:prstGeom>
          <a:solidFill>
            <a:srgbClr val="C8C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41000" y="1650000"/>
            <a:ext cx="95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41000" y="1650000"/>
            <a:ext cx="950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787882"/>
                </a:solidFill>
                <a:latin typeface="Menlo"/>
              </a:rPr>
              <a:t>pet-quantize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596000" y="1825000"/>
            <a:ext cx="50000" cy="10000"/>
          </a:xfrm>
          <a:prstGeom prst="rect">
            <a:avLst/>
          </a:prstGeom>
          <a:solidFill>
            <a:srgbClr val="C8C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651000" y="1650000"/>
            <a:ext cx="95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51000" y="1650000"/>
            <a:ext cx="950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787882"/>
                </a:solidFill>
                <a:latin typeface="Menlo"/>
              </a:rPr>
              <a:t>pet-ota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591000" y="2130000"/>
            <a:ext cx="7010000" cy="140000"/>
          </a:xfrm>
          <a:prstGeom prst="rect">
            <a:avLst/>
          </a:prstGeom>
          <a:solidFill>
            <a:srgbClr val="F0F1F4"/>
          </a:solidFill>
          <a:ln w="7620">
            <a:solidFill>
              <a:srgbClr val="2F6A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591000" y="2130000"/>
            <a:ext cx="7010000" cy="14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787882"/>
                </a:solidFill>
                <a:latin typeface="Menlo"/>
              </a:rPr>
              <a:t>pet-infra · shared runtime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01000" y="2350000"/>
            <a:ext cx="1400000" cy="180000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7A57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01000" y="2350000"/>
            <a:ext cx="1400000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7A57A8"/>
                </a:solidFill>
                <a:latin typeface="Menlo"/>
              </a:rPr>
              <a:t>pet-id · independent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60000" y="2600000"/>
            <a:ext cx="5100000" cy="70000"/>
          </a:xfrm>
          <a:prstGeom prst="rect">
            <a:avLst/>
          </a:prstGeom>
          <a:solidFill>
            <a:srgbClr val="5AA3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0000" y="2740000"/>
            <a:ext cx="5100000" cy="3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5AA35E"/>
                </a:solidFill>
                <a:latin typeface="Helvetica"/>
              </a:rPr>
              <a:t>做什么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0000" y="3160000"/>
            <a:ext cx="4940000" cy="2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5AA35E"/>
                </a:solidFill>
                <a:latin typeface="Helvetica"/>
              </a:rPr>
              <a:t>▪  </a:t>
            </a:r>
            <a:r>
              <a:rPr sz="1250">
                <a:solidFill>
                  <a:srgbClr val="1A2A44"/>
                </a:solidFill>
                <a:latin typeface="Helvetica"/>
              </a:rPr>
              <a:t>llamafactory_sft</a:t>
            </a:r>
            <a:r>
              <a:rPr sz="1150" i="1">
                <a:solidFill>
                  <a:srgbClr val="787882"/>
                </a:solidFill>
                <a:latin typeface="Helvetica"/>
              </a:rPr>
              <a:t>  — VLM SFT fine-tuning (LoRA)</a:t>
            </a:r>
          </a:p>
          <a:p>
            <a:pPr algn="l">
              <a:lnSpc>
                <a:spcPct val="135000"/>
              </a:lnSpc>
            </a:pPr>
            <a:r>
              <a:rPr sz="1250" b="1">
                <a:solidFill>
                  <a:srgbClr val="5AA35E"/>
                </a:solidFill>
                <a:latin typeface="Helvetica"/>
              </a:rPr>
              <a:t>▪  </a:t>
            </a:r>
            <a:r>
              <a:rPr sz="1250">
                <a:solidFill>
                  <a:srgbClr val="1A2A44"/>
                </a:solidFill>
                <a:latin typeface="Helvetica"/>
              </a:rPr>
              <a:t>llamafactory_dpo</a:t>
            </a:r>
            <a:r>
              <a:rPr sz="1150" i="1">
                <a:solidFill>
                  <a:srgbClr val="787882"/>
                </a:solidFill>
                <a:latin typeface="Helvetica"/>
              </a:rPr>
              <a:t>  — preference alignment (pref_beta=0.1)</a:t>
            </a:r>
          </a:p>
          <a:p>
            <a:pPr algn="l">
              <a:lnSpc>
                <a:spcPct val="135000"/>
              </a:lnSpc>
            </a:pPr>
            <a:r>
              <a:rPr sz="1250" b="1">
                <a:solidFill>
                  <a:srgbClr val="5AA35E"/>
                </a:solidFill>
                <a:latin typeface="Helvetica"/>
              </a:rPr>
              <a:t>▪  </a:t>
            </a:r>
            <a:r>
              <a:rPr sz="1250">
                <a:solidFill>
                  <a:srgbClr val="1A2A44"/>
                </a:solidFill>
                <a:latin typeface="Helvetica"/>
              </a:rPr>
              <a:t>tiny_test</a:t>
            </a:r>
            <a:r>
              <a:rPr sz="1150" i="1">
                <a:solidFill>
                  <a:srgbClr val="787882"/>
                </a:solidFill>
                <a:latin typeface="Helvetica"/>
              </a:rPr>
              <a:t>  — CPU-only smoke (&lt; 2min)</a:t>
            </a:r>
          </a:p>
          <a:p>
            <a:pPr algn="l">
              <a:lnSpc>
                <a:spcPct val="135000"/>
              </a:lnSpc>
            </a:pPr>
            <a:r>
              <a:rPr sz="1250" b="1">
                <a:solidFill>
                  <a:srgbClr val="5AA35E"/>
                </a:solidFill>
                <a:latin typeface="Helvetica"/>
              </a:rPr>
              <a:t>▪  </a:t>
            </a:r>
            <a:r>
              <a:rPr sz="1250">
                <a:solidFill>
                  <a:srgbClr val="1A2A44"/>
                </a:solidFill>
                <a:latin typeface="Helvetica"/>
              </a:rPr>
              <a:t>PANNs audio</a:t>
            </a:r>
            <a:r>
              <a:rPr sz="1150" i="1">
                <a:solidFill>
                  <a:srgbClr val="787882"/>
                </a:solidFill>
                <a:latin typeface="Helvetica"/>
              </a:rPr>
              <a:t>  — MobileNetV2AudioSet + AudioInference
被 pet-eval 跨仓 import</a:t>
            </a:r>
          </a:p>
          <a:p>
            <a:pPr algn="l">
              <a:lnSpc>
                <a:spcPct val="135000"/>
              </a:lnSpc>
            </a:pPr>
            <a:r>
              <a:rPr sz="1250" b="1">
                <a:solidFill>
                  <a:srgbClr val="5AA35E"/>
                </a:solidFill>
                <a:latin typeface="Helvetica"/>
              </a:rPr>
              <a:t>▪  </a:t>
            </a:r>
            <a:r>
              <a:rPr sz="1250">
                <a:solidFill>
                  <a:srgbClr val="1A2A44"/>
                </a:solidFill>
                <a:latin typeface="Helvetica"/>
              </a:rPr>
              <a:t>F11 consumer validator</a:t>
            </a:r>
            <a:r>
              <a:rPr sz="1150" i="1">
                <a:solidFill>
                  <a:srgbClr val="787882"/>
                </a:solidFill>
                <a:latin typeface="Helvetica"/>
              </a:rPr>
              <a:t>  — SFT/DPO JSONL 训练前校验</a:t>
            </a:r>
          </a:p>
          <a:p>
            <a:pPr algn="l">
              <a:lnSpc>
                <a:spcPct val="135000"/>
              </a:lnSpc>
            </a:pPr>
            <a:r>
              <a:rPr sz="1250" b="1">
                <a:solidFill>
                  <a:srgbClr val="5AA35E"/>
                </a:solidFill>
                <a:latin typeface="Helvetica"/>
              </a:rPr>
              <a:t>▪  </a:t>
            </a:r>
            <a:r>
              <a:rPr sz="1250">
                <a:solidFill>
                  <a:srgbClr val="1A2A44"/>
                </a:solidFill>
                <a:latin typeface="Helvetica"/>
              </a:rPr>
              <a:t>ModelCard output</a:t>
            </a:r>
            <a:r>
              <a:rPr sz="1150" i="1">
                <a:solidFill>
                  <a:srgbClr val="787882"/>
                </a:solidFill>
                <a:latin typeface="Helvetica"/>
              </a:rPr>
              <a:t>  — checkpoint_uri + 运行时 metrics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40000" y="2600000"/>
            <a:ext cx="5100000" cy="70000"/>
          </a:xfrm>
          <a:prstGeom prst="rect">
            <a:avLst/>
          </a:prstGeom>
          <a:solidFill>
            <a:srgbClr val="C8C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00000" y="2740000"/>
            <a:ext cx="5100000" cy="3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787882"/>
                </a:solidFill>
                <a:latin typeface="Helvetica"/>
              </a:rPr>
              <a:t>不做什么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00000" y="3160000"/>
            <a:ext cx="4940000" cy="2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C8CCD2"/>
                </a:solidFill>
                <a:latin typeface="Helvetica"/>
              </a:rPr>
              <a:t>▪  </a:t>
            </a:r>
            <a:r>
              <a:rPr sz="1250">
                <a:solidFill>
                  <a:srgbClr val="787882"/>
                </a:solidFill>
                <a:latin typeface="Helvetica"/>
              </a:rPr>
              <a:t>不标注数据</a:t>
            </a:r>
            <a:r>
              <a:rPr sz="1150" i="1">
                <a:solidFill>
                  <a:srgbClr val="787882"/>
                </a:solidFill>
                <a:latin typeface="Helvetica"/>
              </a:rPr>
              <a:t>  — pet-annotation 负责</a:t>
            </a:r>
          </a:p>
          <a:p>
            <a:pPr algn="l">
              <a:lnSpc>
                <a:spcPct val="135000"/>
              </a:lnSpc>
            </a:pPr>
            <a:r>
              <a:rPr sz="1250" b="1">
                <a:solidFill>
                  <a:srgbClr val="C8CCD2"/>
                </a:solidFill>
                <a:latin typeface="Helvetica"/>
              </a:rPr>
              <a:t>▪  </a:t>
            </a:r>
            <a:r>
              <a:rPr sz="1250">
                <a:solidFill>
                  <a:srgbClr val="787882"/>
                </a:solidFill>
                <a:latin typeface="Helvetica"/>
              </a:rPr>
              <a:t>不评估 gate</a:t>
            </a:r>
            <a:r>
              <a:rPr sz="1150" i="1">
                <a:solidFill>
                  <a:srgbClr val="787882"/>
                </a:solidFill>
                <a:latin typeface="Helvetica"/>
              </a:rPr>
              <a:t>  — pet-eval 负责</a:t>
            </a:r>
          </a:p>
          <a:p>
            <a:pPr algn="l">
              <a:lnSpc>
                <a:spcPct val="135000"/>
              </a:lnSpc>
            </a:pPr>
            <a:r>
              <a:rPr sz="1250" b="1">
                <a:solidFill>
                  <a:srgbClr val="C8CCD2"/>
                </a:solidFill>
                <a:latin typeface="Helvetica"/>
              </a:rPr>
              <a:t>▪  </a:t>
            </a:r>
            <a:r>
              <a:rPr sz="1250">
                <a:solidFill>
                  <a:srgbClr val="787882"/>
                </a:solidFill>
                <a:latin typeface="Helvetica"/>
              </a:rPr>
              <a:t>不转换端侧格式</a:t>
            </a:r>
            <a:r>
              <a:rPr sz="1150" i="1">
                <a:solidFill>
                  <a:srgbClr val="787882"/>
                </a:solidFill>
                <a:latin typeface="Helvetica"/>
              </a:rPr>
              <a:t>  — pet-quantize 负责</a:t>
            </a:r>
          </a:p>
          <a:p>
            <a:pPr algn="l">
              <a:lnSpc>
                <a:spcPct val="135000"/>
              </a:lnSpc>
            </a:pPr>
            <a:r>
              <a:rPr sz="1250" b="1">
                <a:solidFill>
                  <a:srgbClr val="C8CCD2"/>
                </a:solidFill>
                <a:latin typeface="Helvetica"/>
              </a:rPr>
              <a:t>▪  </a:t>
            </a:r>
            <a:r>
              <a:rPr sz="1250">
                <a:solidFill>
                  <a:srgbClr val="787882"/>
                </a:solidFill>
                <a:latin typeface="Helvetica"/>
              </a:rPr>
              <a:t>不维护 LLaMA-Factory 上游</a:t>
            </a:r>
            <a:r>
              <a:rPr sz="1150" i="1">
                <a:solidFill>
                  <a:srgbClr val="787882"/>
                </a:solidFill>
                <a:latin typeface="Helvetica"/>
              </a:rPr>
              <a:t>  — vendor 只冻结 v0.9.4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0000" y="6418000"/>
            <a:ext cx="50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787882"/>
                </a:solidFill>
                <a:latin typeface="Helvetica"/>
              </a:rPr>
              <a:t>Train-Pet-Pipeline · Technical Overview · matrix 2026.10-ecosystem-cleanup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0000" y="6358000"/>
            <a:ext cx="50000" cy="220000"/>
          </a:xfrm>
          <a:prstGeom prst="rect">
            <a:avLst/>
          </a:prstGeom>
          <a:solidFill>
            <a:srgbClr val="5AA3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0000" y="6368000"/>
            <a:ext cx="20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5AA35E"/>
                </a:solidFill>
                <a:latin typeface="Menlo"/>
              </a:rPr>
              <a:t>pet-train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0000"/>
          </a:xfrm>
          <a:prstGeom prst="rect">
            <a:avLst/>
          </a:prstGeom>
          <a:solidFill>
            <a:srgbClr val="5AA3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60000" y="200000"/>
            <a:ext cx="2000000" cy="3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5AA35E"/>
                </a:solidFill>
                <a:latin typeface="Helvetica"/>
              </a:rPr>
              <a:t>§5 · pet-train (2/3)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0000" y="420000"/>
            <a:ext cx="11272000" cy="6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1A2A44"/>
                </a:solidFill>
                <a:latin typeface="Helvetica"/>
              </a:rPr>
              <a:t>pet-train — 核心模块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0000" y="1020000"/>
            <a:ext cx="112720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787882"/>
                </a:solidFill>
                <a:latin typeface="Helvetica"/>
              </a:rPr>
              <a:t>vendor/LLaMA-Factory@v0.9.4 · lazy import 屏蔽上游脆弱</a:t>
            </a:r>
          </a:p>
        </p:txBody>
      </p:sp>
      <p:sp>
        <p:nvSpPr>
          <p:cNvPr id="6" name="Rectangle 5"/>
          <p:cNvSpPr/>
          <p:nvPr/>
        </p:nvSpPr>
        <p:spPr>
          <a:xfrm>
            <a:off x="460000" y="1460000"/>
            <a:ext cx="11272000" cy="15000"/>
          </a:xfrm>
          <a:prstGeom prst="rect">
            <a:avLst/>
          </a:prstGeom>
          <a:solidFill>
            <a:srgbClr val="C8C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60000" y="1750000"/>
            <a:ext cx="3477333" cy="70000"/>
          </a:xfrm>
          <a:prstGeom prst="rect">
            <a:avLst/>
          </a:prstGeom>
          <a:solidFill>
            <a:srgbClr val="5AA3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0000" y="1870000"/>
            <a:ext cx="3317333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5AA35E"/>
                </a:solidFill>
                <a:latin typeface="Helvetica"/>
              </a:rPr>
              <a:t>Trainer Plugins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" y="2270000"/>
            <a:ext cx="3477333" cy="1209333"/>
          </a:xfrm>
          <a:prstGeom prst="rect">
            <a:avLst/>
          </a:prstGeom>
          <a:solidFill>
            <a:srgbClr val="FFFFFF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330000"/>
            <a:ext cx="3317333" cy="3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A2A44"/>
                </a:solidFill>
                <a:latin typeface="Menlo"/>
              </a:rPr>
              <a:t>llamafactory_sft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0000" y="2670000"/>
            <a:ext cx="3317333" cy="7693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787882"/>
                </a:solidFill>
                <a:latin typeface="Helvetica"/>
              </a:rPr>
              <a:t>run_sft 包装</a:t>
            </a:r>
          </a:p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787882"/>
                </a:solidFill>
                <a:latin typeface="Helvetica"/>
              </a:rPr>
              <a:t>lora_r/alpha/lr from params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0000" y="3539333"/>
            <a:ext cx="3477333" cy="1209333"/>
          </a:xfrm>
          <a:prstGeom prst="rect">
            <a:avLst/>
          </a:prstGeom>
          <a:solidFill>
            <a:srgbClr val="FFFFFF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599333"/>
            <a:ext cx="3317333" cy="3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A2A44"/>
                </a:solidFill>
                <a:latin typeface="Menlo"/>
              </a:rPr>
              <a:t>llamafactory_dpo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0000" y="3939333"/>
            <a:ext cx="3317333" cy="7693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787882"/>
                </a:solidFill>
                <a:latin typeface="Helvetica"/>
              </a:rPr>
              <a:t>run_dpo 包装</a:t>
            </a:r>
          </a:p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787882"/>
                </a:solidFill>
                <a:latin typeface="Helvetica"/>
              </a:rPr>
              <a:t>pref_beta + sft_adapter_path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" y="4808666"/>
            <a:ext cx="3477333" cy="1209333"/>
          </a:xfrm>
          <a:prstGeom prst="rect">
            <a:avLst/>
          </a:prstGeom>
          <a:solidFill>
            <a:srgbClr val="FFFFFF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868666"/>
            <a:ext cx="3317333" cy="3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A2A44"/>
                </a:solidFill>
                <a:latin typeface="Menlo"/>
              </a:rPr>
              <a:t>tiny_test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0000" y="5208666"/>
            <a:ext cx="3317333" cy="7693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787882"/>
                </a:solidFill>
                <a:latin typeface="Helvetica"/>
              </a:rPr>
              <a:t>CPU 2min smoke</a:t>
            </a:r>
          </a:p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787882"/>
                </a:solidFill>
                <a:latin typeface="Helvetica"/>
              </a:rPr>
              <a:t>PR-gate 验证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57333" y="1750000"/>
            <a:ext cx="3477333" cy="70000"/>
          </a:xfrm>
          <a:prstGeom prst="rect">
            <a:avLst/>
          </a:prstGeom>
          <a:solidFill>
            <a:srgbClr val="5AA3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17333" y="1870000"/>
            <a:ext cx="3317333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5AA35E"/>
                </a:solidFill>
                <a:latin typeface="Helvetica"/>
              </a:rPr>
              <a:t>Audio 子系统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57333" y="2270000"/>
            <a:ext cx="3477333" cy="1209333"/>
          </a:xfrm>
          <a:prstGeom prst="rect">
            <a:avLst/>
          </a:prstGeom>
          <a:solidFill>
            <a:srgbClr val="FFFFFF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17333" y="2330000"/>
            <a:ext cx="3317333" cy="3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A2A44"/>
                </a:solidFill>
                <a:latin typeface="Menlo"/>
              </a:rPr>
              <a:t>MobileNetV2AudioSet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17333" y="2670000"/>
            <a:ext cx="3317333" cy="7693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787882"/>
                </a:solidFill>
                <a:latin typeface="Helvetica"/>
              </a:rPr>
              <a:t>PANNs 527 class head</a:t>
            </a:r>
          </a:p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787882"/>
                </a:solidFill>
                <a:latin typeface="Helvetica"/>
              </a:rPr>
              <a:t>hardcoded (不可改)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57333" y="3539333"/>
            <a:ext cx="3477333" cy="1209333"/>
          </a:xfrm>
          <a:prstGeom prst="rect">
            <a:avLst/>
          </a:prstGeom>
          <a:solidFill>
            <a:srgbClr val="FFFFFF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17333" y="3599333"/>
            <a:ext cx="3317333" cy="3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A2A44"/>
                </a:solidFill>
                <a:latin typeface="Menlo"/>
              </a:rPr>
              <a:t>AudioInference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17333" y="3939333"/>
            <a:ext cx="3317333" cy="7693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787882"/>
                </a:solidFill>
                <a:latin typeface="Helvetica"/>
              </a:rPr>
              <a:t>zero-shot classification</a:t>
            </a:r>
          </a:p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787882"/>
                </a:solidFill>
                <a:latin typeface="Helvetica"/>
              </a:rPr>
              <a:t>5 类 → eating/drinking/...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57333" y="4808666"/>
            <a:ext cx="3477333" cy="1209333"/>
          </a:xfrm>
          <a:prstGeom prst="rect">
            <a:avLst/>
          </a:prstGeom>
          <a:solidFill>
            <a:srgbClr val="FFFFFF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17333" y="4868666"/>
            <a:ext cx="3317333" cy="3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A2A44"/>
                </a:solidFill>
                <a:latin typeface="Menlo"/>
              </a:rPr>
              <a:t>from_params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17333" y="5208666"/>
            <a:ext cx="3317333" cy="7693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787882"/>
                </a:solidFill>
                <a:latin typeface="Helvetica"/>
              </a:rPr>
              <a:t>factory · 所有数值</a:t>
            </a:r>
          </a:p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787882"/>
                </a:solidFill>
                <a:latin typeface="Helvetica"/>
              </a:rPr>
              <a:t>从 params.yaml 读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54666" y="1750000"/>
            <a:ext cx="3477333" cy="70000"/>
          </a:xfrm>
          <a:prstGeom prst="rect">
            <a:avLst/>
          </a:prstGeom>
          <a:solidFill>
            <a:srgbClr val="5AA3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14666" y="1870000"/>
            <a:ext cx="3317333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5AA35E"/>
                </a:solidFill>
                <a:latin typeface="Helvetica"/>
              </a:rPr>
              <a:t>数据 + 契约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54666" y="2270000"/>
            <a:ext cx="3477333" cy="1209333"/>
          </a:xfrm>
          <a:prstGeom prst="rect">
            <a:avLst/>
          </a:prstGeom>
          <a:solidFill>
            <a:srgbClr val="FFFFFF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14666" y="2330000"/>
            <a:ext cx="3317333" cy="3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A2A44"/>
                </a:solidFill>
                <a:latin typeface="Menlo"/>
              </a:rPr>
              <a:t>data_validation.py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14666" y="2670000"/>
            <a:ext cx="3317333" cy="7693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787882"/>
                </a:solidFill>
                <a:latin typeface="Helvetica"/>
              </a:rPr>
              <a:t>validate_sft_jsonl</a:t>
            </a:r>
          </a:p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787882"/>
                </a:solidFill>
                <a:latin typeface="Helvetica"/>
              </a:rPr>
              <a:t>validate_dpo_jsonl F11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054666" y="3539333"/>
            <a:ext cx="3477333" cy="1209333"/>
          </a:xfrm>
          <a:prstGeom prst="rect">
            <a:avLst/>
          </a:prstGeom>
          <a:solidFill>
            <a:srgbClr val="FFFFFF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14666" y="3599333"/>
            <a:ext cx="3317333" cy="3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A2A44"/>
                </a:solidFill>
                <a:latin typeface="Menlo"/>
              </a:rPr>
              <a:t>Lazy run_sft import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14666" y="3939333"/>
            <a:ext cx="3317333" cy="7693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787882"/>
                </a:solidFill>
                <a:latin typeface="Helvetica"/>
              </a:rPr>
              <a:t>module-load 不拉</a:t>
            </a:r>
          </a:p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787882"/>
                </a:solidFill>
                <a:latin typeface="Helvetica"/>
              </a:rPr>
              <a:t>llamafactory (脆弱)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054666" y="4808666"/>
            <a:ext cx="3477333" cy="1209333"/>
          </a:xfrm>
          <a:prstGeom prst="rect">
            <a:avLst/>
          </a:prstGeom>
          <a:solidFill>
            <a:srgbClr val="FFFFFF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14666" y="4868666"/>
            <a:ext cx="3317333" cy="3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A2A44"/>
                </a:solidFill>
                <a:latin typeface="Menlo"/>
              </a:rPr>
              <a:t>_register.py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14666" y="5208666"/>
            <a:ext cx="3317333" cy="7693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787882"/>
                </a:solidFill>
                <a:latin typeface="Helvetica"/>
              </a:rPr>
              <a:t>β dual guard</a:t>
            </a:r>
          </a:p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787882"/>
                </a:solidFill>
                <a:latin typeface="Helvetica"/>
              </a:rPr>
              <a:t>+ fail-fast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0000" y="6138000"/>
            <a:ext cx="10872000" cy="2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787882"/>
                </a:solidFill>
                <a:latin typeface="Helvetica"/>
              </a:rPr>
              <a:t>vendored LLaMA-Factory：git clone 即有，无需 submodule update；NOTICE 记录 Apache-2.0 来源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0000" y="6418000"/>
            <a:ext cx="50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787882"/>
                </a:solidFill>
                <a:latin typeface="Helvetica"/>
              </a:rPr>
              <a:t>Train-Pet-Pipeline · Technical Overview · matrix 2026.10-ecosystem-cleanup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60000" y="6358000"/>
            <a:ext cx="50000" cy="220000"/>
          </a:xfrm>
          <a:prstGeom prst="rect">
            <a:avLst/>
          </a:prstGeom>
          <a:solidFill>
            <a:srgbClr val="5AA3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40000" y="6368000"/>
            <a:ext cx="20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5AA35E"/>
                </a:solidFill>
                <a:latin typeface="Menlo"/>
              </a:rPr>
              <a:t>pet-train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0000"/>
          </a:xfrm>
          <a:prstGeom prst="rect">
            <a:avLst/>
          </a:prstGeom>
          <a:solidFill>
            <a:srgbClr val="5AA3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60000" y="200000"/>
            <a:ext cx="2000000" cy="3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5AA35E"/>
                </a:solidFill>
                <a:latin typeface="Helvetica"/>
              </a:rPr>
              <a:t>§5 · pet-train (3/3)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0000" y="420000"/>
            <a:ext cx="11272000" cy="6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1A2A44"/>
                </a:solidFill>
                <a:latin typeface="Helvetica"/>
              </a:rPr>
              <a:t>pet-train — 关键设计决策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0000" y="1020000"/>
            <a:ext cx="112720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787882"/>
                </a:solidFill>
                <a:latin typeface="Helvetica"/>
              </a:rPr>
              <a:t>vendor / lazy import / num_classes=527 / JSONL 后缀校验</a:t>
            </a:r>
          </a:p>
        </p:txBody>
      </p:sp>
      <p:sp>
        <p:nvSpPr>
          <p:cNvPr id="6" name="Rectangle 5"/>
          <p:cNvSpPr/>
          <p:nvPr/>
        </p:nvSpPr>
        <p:spPr>
          <a:xfrm>
            <a:off x="460000" y="1460000"/>
            <a:ext cx="11272000" cy="15000"/>
          </a:xfrm>
          <a:prstGeom prst="rect">
            <a:avLst/>
          </a:prstGeom>
          <a:solidFill>
            <a:srgbClr val="C8C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60000" y="1790000"/>
            <a:ext cx="4600000" cy="1322666"/>
          </a:xfrm>
          <a:prstGeom prst="rect">
            <a:avLst/>
          </a:prstGeom>
          <a:solidFill>
            <a:srgbClr val="FFFFFF"/>
          </a:solidFill>
          <a:ln w="12700">
            <a:solidFill>
              <a:srgbClr val="5AA3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60000" y="1790000"/>
            <a:ext cx="100000" cy="1322666"/>
          </a:xfrm>
          <a:prstGeom prst="rect">
            <a:avLst/>
          </a:prstGeom>
          <a:solidFill>
            <a:srgbClr val="5AA3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0000" y="1850000"/>
            <a:ext cx="4400000" cy="12526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1A2A44"/>
                </a:solidFill>
                <a:latin typeface="Helvetica"/>
              </a:rPr>
              <a:t>LLaMA-Factory plain-directory vendor</a:t>
            </a:r>
          </a:p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1A2A44"/>
                </a:solidFill>
                <a:latin typeface="Helvetica"/>
              </a:rPr>
              <a:t>(不做 submodule)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60000" y="1790000"/>
            <a:ext cx="6072000" cy="1322666"/>
          </a:xfrm>
          <a:prstGeom prst="rect">
            <a:avLst/>
          </a:prstGeom>
          <a:solidFill>
            <a:srgbClr val="F0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40000" y="1850000"/>
            <a:ext cx="5772000" cy="12526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1">
                <a:solidFill>
                  <a:srgbClr val="3C404C"/>
                </a:solidFill>
                <a:latin typeface="Helvetica"/>
              </a:rPr>
              <a:t>git clone + git pull 即完整可跑。submodule 要</a:t>
            </a:r>
          </a:p>
          <a:p>
            <a:pPr algn="l">
              <a:lnSpc>
                <a:spcPct val="135000"/>
              </a:lnSpc>
            </a:pPr>
            <a:r>
              <a:rPr sz="1100" b="0" i="1">
                <a:solidFill>
                  <a:srgbClr val="3C404C"/>
                </a:solidFill>
                <a:latin typeface="Helvetica"/>
              </a:rPr>
              <a:t>recursive update 每步都有人忘 → CI 红。NOTICE</a:t>
            </a:r>
          </a:p>
          <a:p>
            <a:pPr algn="l">
              <a:lnSpc>
                <a:spcPct val="135000"/>
              </a:lnSpc>
            </a:pPr>
            <a:r>
              <a:rPr sz="1100" b="0" i="1">
                <a:solidFill>
                  <a:srgbClr val="3C404C"/>
                </a:solidFill>
                <a:latin typeface="Helvetica"/>
              </a:rPr>
              <a:t>记 Apache-2.0 attribution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0000" y="3192666"/>
            <a:ext cx="4600000" cy="1322666"/>
          </a:xfrm>
          <a:prstGeom prst="rect">
            <a:avLst/>
          </a:prstGeom>
          <a:solidFill>
            <a:srgbClr val="FFFFFF"/>
          </a:solidFill>
          <a:ln w="12700">
            <a:solidFill>
              <a:srgbClr val="5AA3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000" y="3192666"/>
            <a:ext cx="100000" cy="1322666"/>
          </a:xfrm>
          <a:prstGeom prst="rect">
            <a:avLst/>
          </a:prstGeom>
          <a:solidFill>
            <a:srgbClr val="5AA3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0000" y="3252666"/>
            <a:ext cx="4400000" cy="12526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1A2A44"/>
                </a:solidFill>
                <a:latin typeface="Helvetica"/>
              </a:rPr>
              <a:t>num_classes=527 硬编码</a:t>
            </a:r>
          </a:p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1A2A44"/>
                </a:solidFill>
                <a:latin typeface="Helvetica"/>
              </a:rPr>
              <a:t>docstring 显式警告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60000" y="3192666"/>
            <a:ext cx="6072000" cy="1322666"/>
          </a:xfrm>
          <a:prstGeom prst="rect">
            <a:avLst/>
          </a:prstGeom>
          <a:solidFill>
            <a:srgbClr val="F0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40000" y="3252666"/>
            <a:ext cx="5772000" cy="12526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1">
                <a:solidFill>
                  <a:srgbClr val="3C404C"/>
                </a:solidFill>
                <a:latin typeface="Helvetica"/>
              </a:rPr>
              <a:t>PANNs AudioSet 固定 527 类 taxonomy。改这数就导致</a:t>
            </a:r>
          </a:p>
          <a:p>
            <a:pPr algn="l">
              <a:lnSpc>
                <a:spcPct val="135000"/>
              </a:lnSpc>
            </a:pPr>
            <a:r>
              <a:rPr sz="1100" b="0" i="1">
                <a:solidFill>
                  <a:srgbClr val="3C404C"/>
                </a:solidFill>
                <a:latin typeface="Helvetica"/>
              </a:rPr>
              <a:t>模型 load_state_dict 形状不匹配。从 params 传会</a:t>
            </a:r>
          </a:p>
          <a:p>
            <a:pPr algn="l">
              <a:lnSpc>
                <a:spcPct val="135000"/>
              </a:lnSpc>
            </a:pPr>
            <a:r>
              <a:rPr sz="1100" b="0" i="1">
                <a:solidFill>
                  <a:srgbClr val="3C404C"/>
                </a:solidFill>
                <a:latin typeface="Helvetica"/>
              </a:rPr>
              <a:t>让运维默默 load 一个随机初始化 head，静默退化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0000" y="4595332"/>
            <a:ext cx="4600000" cy="1322666"/>
          </a:xfrm>
          <a:prstGeom prst="rect">
            <a:avLst/>
          </a:prstGeom>
          <a:solidFill>
            <a:srgbClr val="FFFFFF"/>
          </a:solidFill>
          <a:ln w="12700">
            <a:solidFill>
              <a:srgbClr val="5AA3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60000" y="4595332"/>
            <a:ext cx="100000" cy="1322666"/>
          </a:xfrm>
          <a:prstGeom prst="rect">
            <a:avLst/>
          </a:prstGeom>
          <a:solidFill>
            <a:srgbClr val="5AA3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0000" y="4655332"/>
            <a:ext cx="4400000" cy="12526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1A2A44"/>
                </a:solidFill>
                <a:latin typeface="Helvetica"/>
              </a:rPr>
              <a:t>JSONL validator 只校 .jsonl 后缀</a:t>
            </a:r>
          </a:p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1A2A44"/>
                </a:solidFill>
                <a:latin typeface="Helvetica"/>
              </a:rPr>
              <a:t>非 .jsonl 静默通过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60000" y="4595332"/>
            <a:ext cx="6072000" cy="1322666"/>
          </a:xfrm>
          <a:prstGeom prst="rect">
            <a:avLst/>
          </a:prstGeom>
          <a:solidFill>
            <a:srgbClr val="F0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40000" y="4655332"/>
            <a:ext cx="5772000" cy="12526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1">
                <a:solidFill>
                  <a:srgbClr val="3C404C"/>
                </a:solidFill>
                <a:latin typeface="Helvetica"/>
              </a:rPr>
              <a:t>未来 Parquet / Arrow 是合理演进 —— 到时候给新格式</a:t>
            </a:r>
          </a:p>
          <a:p>
            <a:pPr algn="l">
              <a:lnSpc>
                <a:spcPct val="135000"/>
              </a:lnSpc>
            </a:pPr>
            <a:r>
              <a:rPr sz="1100" b="0" i="1">
                <a:solidFill>
                  <a:srgbClr val="3C404C"/>
                </a:solidFill>
                <a:latin typeface="Helvetica"/>
              </a:rPr>
              <a:t>注册新 validator。现在强制 .jsonl 会挡住所有新格式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0000" y="6418000"/>
            <a:ext cx="50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787882"/>
                </a:solidFill>
                <a:latin typeface="Helvetica"/>
              </a:rPr>
              <a:t>Train-Pet-Pipeline · Technical Overview · matrix 2026.10-ecosystem-cleanup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0000" y="6358000"/>
            <a:ext cx="50000" cy="220000"/>
          </a:xfrm>
          <a:prstGeom prst="rect">
            <a:avLst/>
          </a:prstGeom>
          <a:solidFill>
            <a:srgbClr val="5AA3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0000" y="6368000"/>
            <a:ext cx="20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5AA35E"/>
                </a:solidFill>
                <a:latin typeface="Menlo"/>
              </a:rPr>
              <a:t>pet-train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0000"/>
          </a:xfrm>
          <a:prstGeom prst="rect">
            <a:avLst/>
          </a:prstGeom>
          <a:solidFill>
            <a:srgbClr val="8EA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60000" y="200000"/>
            <a:ext cx="2000000" cy="3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8EA43A"/>
                </a:solidFill>
                <a:latin typeface="Helvetica"/>
              </a:rPr>
              <a:t>§6 · pet-eval (1/3)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0000" y="420000"/>
            <a:ext cx="11272000" cy="6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1A2A44"/>
                </a:solidFill>
                <a:latin typeface="Helvetica"/>
              </a:rPr>
              <a:t>pet-eval — 评估 + gate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0000" y="1020000"/>
            <a:ext cx="112720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787882"/>
                </a:solidFill>
                <a:latin typeface="Helvetica"/>
              </a:rPr>
              <a:t>8 metrics + 6 evaluators (3 primary + 3 fusion) · rule-based only</a:t>
            </a:r>
          </a:p>
        </p:txBody>
      </p:sp>
      <p:sp>
        <p:nvSpPr>
          <p:cNvPr id="6" name="Rectangle 5"/>
          <p:cNvSpPr/>
          <p:nvPr/>
        </p:nvSpPr>
        <p:spPr>
          <a:xfrm>
            <a:off x="460000" y="1460000"/>
            <a:ext cx="11272000" cy="15000"/>
          </a:xfrm>
          <a:prstGeom prst="rect">
            <a:avLst/>
          </a:prstGeom>
          <a:solidFill>
            <a:srgbClr val="C8C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591000" y="1650000"/>
            <a:ext cx="95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591000" y="1650000"/>
            <a:ext cx="950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787882"/>
                </a:solidFill>
                <a:latin typeface="Menlo"/>
              </a:rPr>
              <a:t>pet-schema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6000" y="1825000"/>
            <a:ext cx="50000" cy="10000"/>
          </a:xfrm>
          <a:prstGeom prst="rect">
            <a:avLst/>
          </a:prstGeom>
          <a:solidFill>
            <a:srgbClr val="C8C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01000" y="1650000"/>
            <a:ext cx="95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01000" y="1650000"/>
            <a:ext cx="950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787882"/>
                </a:solidFill>
                <a:latin typeface="Menlo"/>
              </a:rPr>
              <a:t>pet-data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56000" y="1825000"/>
            <a:ext cx="50000" cy="10000"/>
          </a:xfrm>
          <a:prstGeom prst="rect">
            <a:avLst/>
          </a:prstGeom>
          <a:solidFill>
            <a:srgbClr val="C8C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611000" y="1650000"/>
            <a:ext cx="95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11000" y="1650000"/>
            <a:ext cx="950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787882"/>
                </a:solidFill>
                <a:latin typeface="Menlo"/>
              </a:rPr>
              <a:t>pet-annotation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566000" y="1825000"/>
            <a:ext cx="50000" cy="10000"/>
          </a:xfrm>
          <a:prstGeom prst="rect">
            <a:avLst/>
          </a:prstGeom>
          <a:solidFill>
            <a:srgbClr val="C8C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1000" y="1650000"/>
            <a:ext cx="95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21000" y="1650000"/>
            <a:ext cx="950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787882"/>
                </a:solidFill>
                <a:latin typeface="Menlo"/>
              </a:rPr>
              <a:t>pet-train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76000" y="1825000"/>
            <a:ext cx="50000" cy="10000"/>
          </a:xfrm>
          <a:prstGeom prst="rect">
            <a:avLst/>
          </a:prstGeom>
          <a:solidFill>
            <a:srgbClr val="C8C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631000" y="1650000"/>
            <a:ext cx="950000" cy="360000"/>
          </a:xfrm>
          <a:prstGeom prst="rect">
            <a:avLst/>
          </a:prstGeom>
          <a:solidFill>
            <a:srgbClr val="8EA43A"/>
          </a:solidFill>
          <a:ln w="15240">
            <a:solidFill>
              <a:srgbClr val="8EA4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31000" y="1650000"/>
            <a:ext cx="950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Menlo"/>
              </a:rPr>
              <a:t>pet-eval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586000" y="1825000"/>
            <a:ext cx="50000" cy="10000"/>
          </a:xfrm>
          <a:prstGeom prst="rect">
            <a:avLst/>
          </a:prstGeom>
          <a:solidFill>
            <a:srgbClr val="C8C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41000" y="1650000"/>
            <a:ext cx="95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41000" y="1650000"/>
            <a:ext cx="950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787882"/>
                </a:solidFill>
                <a:latin typeface="Menlo"/>
              </a:rPr>
              <a:t>pet-quantize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596000" y="1825000"/>
            <a:ext cx="50000" cy="10000"/>
          </a:xfrm>
          <a:prstGeom prst="rect">
            <a:avLst/>
          </a:prstGeom>
          <a:solidFill>
            <a:srgbClr val="C8C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651000" y="1650000"/>
            <a:ext cx="95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51000" y="1650000"/>
            <a:ext cx="950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787882"/>
                </a:solidFill>
                <a:latin typeface="Menlo"/>
              </a:rPr>
              <a:t>pet-ota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591000" y="2130000"/>
            <a:ext cx="7010000" cy="140000"/>
          </a:xfrm>
          <a:prstGeom prst="rect">
            <a:avLst/>
          </a:prstGeom>
          <a:solidFill>
            <a:srgbClr val="F0F1F4"/>
          </a:solidFill>
          <a:ln w="7620">
            <a:solidFill>
              <a:srgbClr val="2F6A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591000" y="2130000"/>
            <a:ext cx="7010000" cy="14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787882"/>
                </a:solidFill>
                <a:latin typeface="Menlo"/>
              </a:rPr>
              <a:t>pet-infra · shared runtime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01000" y="2350000"/>
            <a:ext cx="1400000" cy="180000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7A57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01000" y="2350000"/>
            <a:ext cx="1400000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7A57A8"/>
                </a:solidFill>
                <a:latin typeface="Menlo"/>
              </a:rPr>
              <a:t>pet-id · independent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60000" y="2600000"/>
            <a:ext cx="5100000" cy="70000"/>
          </a:xfrm>
          <a:prstGeom prst="rect">
            <a:avLst/>
          </a:prstGeom>
          <a:solidFill>
            <a:srgbClr val="8EA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0000" y="2740000"/>
            <a:ext cx="5100000" cy="3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8EA43A"/>
                </a:solidFill>
                <a:latin typeface="Helvetica"/>
              </a:rPr>
              <a:t>做什么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0000" y="3160000"/>
            <a:ext cx="4940000" cy="2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8EA43A"/>
                </a:solidFill>
                <a:latin typeface="Helvetica"/>
              </a:rPr>
              <a:t>▪  </a:t>
            </a:r>
            <a:r>
              <a:rPr sz="1250">
                <a:solidFill>
                  <a:srgbClr val="1A2A44"/>
                </a:solidFill>
                <a:latin typeface="Helvetica"/>
              </a:rPr>
              <a:t>8 metrics</a:t>
            </a:r>
            <a:r>
              <a:rPr sz="1150" i="1">
                <a:solidFill>
                  <a:srgbClr val="787882"/>
                </a:solidFill>
                <a:latin typeface="Helvetica"/>
              </a:rPr>
              <a:t>  — schema / anomaly / mood / narrative
latency / audio / kl / calibration</a:t>
            </a:r>
          </a:p>
          <a:p>
            <a:pPr algn="l">
              <a:lnSpc>
                <a:spcPct val="135000"/>
              </a:lnSpc>
            </a:pPr>
            <a:r>
              <a:rPr sz="1250" b="1">
                <a:solidFill>
                  <a:srgbClr val="8EA43A"/>
                </a:solidFill>
                <a:latin typeface="Helvetica"/>
              </a:rPr>
              <a:t>▪  </a:t>
            </a:r>
            <a:r>
              <a:rPr sz="1250">
                <a:solidFill>
                  <a:srgbClr val="1A2A44"/>
                </a:solidFill>
                <a:latin typeface="Helvetica"/>
              </a:rPr>
              <a:t>VLMEvaluator</a:t>
            </a:r>
            <a:r>
              <a:rPr sz="1150" i="1">
                <a:solidFill>
                  <a:srgbClr val="787882"/>
                </a:solidFill>
                <a:latin typeface="Helvetica"/>
              </a:rPr>
              <a:t>  — LoRA adapter merge + gold set</a:t>
            </a:r>
          </a:p>
          <a:p>
            <a:pPr algn="l">
              <a:lnSpc>
                <a:spcPct val="135000"/>
              </a:lnSpc>
            </a:pPr>
            <a:r>
              <a:rPr sz="1250" b="1">
                <a:solidFill>
                  <a:srgbClr val="8EA43A"/>
                </a:solidFill>
                <a:latin typeface="Helvetica"/>
              </a:rPr>
              <a:t>▪  </a:t>
            </a:r>
            <a:r>
              <a:rPr sz="1250">
                <a:solidFill>
                  <a:srgbClr val="1A2A44"/>
                </a:solidFill>
                <a:latin typeface="Helvetica"/>
              </a:rPr>
              <a:t>AudioEvaluator</a:t>
            </a:r>
            <a:r>
              <a:rPr sz="1150" i="1">
                <a:solidFill>
                  <a:srgbClr val="787882"/>
                </a:solidFill>
                <a:latin typeface="Helvetica"/>
              </a:rPr>
              <a:t>  — 跨仓 import pet_train.audio</a:t>
            </a:r>
          </a:p>
          <a:p>
            <a:pPr algn="l">
              <a:lnSpc>
                <a:spcPct val="135000"/>
              </a:lnSpc>
            </a:pPr>
            <a:r>
              <a:rPr sz="1250" b="1">
                <a:solidFill>
                  <a:srgbClr val="8EA43A"/>
                </a:solidFill>
                <a:latin typeface="Helvetica"/>
              </a:rPr>
              <a:t>▪  </a:t>
            </a:r>
            <a:r>
              <a:rPr sz="1250">
                <a:solidFill>
                  <a:srgbClr val="1A2A44"/>
                </a:solidFill>
                <a:latin typeface="Helvetica"/>
              </a:rPr>
              <a:t>QuantizedVlmEvaluator</a:t>
            </a:r>
            <a:r>
              <a:rPr sz="1150" i="1">
                <a:solidFill>
                  <a:srgbClr val="787882"/>
                </a:solidFill>
                <a:latin typeface="Helvetica"/>
              </a:rPr>
              <a:t>  — 跨仓 import pet_quantize.rkllm_runner</a:t>
            </a:r>
          </a:p>
          <a:p>
            <a:pPr algn="l">
              <a:lnSpc>
                <a:spcPct val="135000"/>
              </a:lnSpc>
            </a:pPr>
            <a:r>
              <a:rPr sz="1250" b="1">
                <a:solidFill>
                  <a:srgbClr val="8EA43A"/>
                </a:solidFill>
                <a:latin typeface="Helvetica"/>
              </a:rPr>
              <a:t>▪  </a:t>
            </a:r>
            <a:r>
              <a:rPr sz="1250">
                <a:solidFill>
                  <a:srgbClr val="1A2A44"/>
                </a:solidFill>
                <a:latin typeface="Helvetica"/>
              </a:rPr>
              <a:t>3 rule-based fusion</a:t>
            </a:r>
            <a:r>
              <a:rPr sz="1150" i="1">
                <a:solidFill>
                  <a:srgbClr val="787882"/>
                </a:solidFill>
                <a:latin typeface="Helvetica"/>
              </a:rPr>
              <a:t>  — single_modal / and_gate / weighted</a:t>
            </a:r>
          </a:p>
          <a:p>
            <a:pPr algn="l">
              <a:lnSpc>
                <a:spcPct val="135000"/>
              </a:lnSpc>
            </a:pPr>
            <a:r>
              <a:rPr sz="1250" b="1">
                <a:solidFill>
                  <a:srgbClr val="8EA43A"/>
                </a:solidFill>
                <a:latin typeface="Helvetica"/>
              </a:rPr>
              <a:t>▪  </a:t>
            </a:r>
            <a:r>
              <a:rPr sz="1250">
                <a:solidFill>
                  <a:srgbClr val="1A2A44"/>
                </a:solidFill>
                <a:latin typeface="Helvetica"/>
              </a:rPr>
              <a:t>apply_gate(min_*/max_*)</a:t>
            </a:r>
            <a:r>
              <a:rPr sz="1150" i="1">
                <a:solidFill>
                  <a:srgbClr val="787882"/>
                </a:solidFill>
                <a:latin typeface="Helvetica"/>
              </a:rPr>
              <a:t>  — 通过/失败 + reason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40000" y="2600000"/>
            <a:ext cx="5100000" cy="70000"/>
          </a:xfrm>
          <a:prstGeom prst="rect">
            <a:avLst/>
          </a:prstGeom>
          <a:solidFill>
            <a:srgbClr val="C8C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00000" y="2740000"/>
            <a:ext cx="5100000" cy="3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787882"/>
                </a:solidFill>
                <a:latin typeface="Helvetica"/>
              </a:rPr>
              <a:t>不做什么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00000" y="3160000"/>
            <a:ext cx="4940000" cy="2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C8CCD2"/>
                </a:solidFill>
                <a:latin typeface="Helvetica"/>
              </a:rPr>
              <a:t>▪  </a:t>
            </a:r>
            <a:r>
              <a:rPr sz="1250">
                <a:solidFill>
                  <a:srgbClr val="787882"/>
                </a:solidFill>
                <a:latin typeface="Helvetica"/>
              </a:rPr>
              <a:t>不训练 checkpoint</a:t>
            </a:r>
            <a:r>
              <a:rPr sz="1150" i="1">
                <a:solidFill>
                  <a:srgbClr val="787882"/>
                </a:solidFill>
                <a:latin typeface="Helvetica"/>
              </a:rPr>
              <a:t>  — pet-train 负责</a:t>
            </a:r>
          </a:p>
          <a:p>
            <a:pPr algn="l">
              <a:lnSpc>
                <a:spcPct val="135000"/>
              </a:lnSpc>
            </a:pPr>
            <a:r>
              <a:rPr sz="1250" b="1">
                <a:solidFill>
                  <a:srgbClr val="C8CCD2"/>
                </a:solidFill>
                <a:latin typeface="Helvetica"/>
              </a:rPr>
              <a:t>▪  </a:t>
            </a:r>
            <a:r>
              <a:rPr sz="1250">
                <a:solidFill>
                  <a:srgbClr val="787882"/>
                </a:solidFill>
                <a:latin typeface="Helvetica"/>
              </a:rPr>
              <a:t>不量化转换</a:t>
            </a:r>
            <a:r>
              <a:rPr sz="1150" i="1">
                <a:solidFill>
                  <a:srgbClr val="787882"/>
                </a:solidFill>
                <a:latin typeface="Helvetica"/>
              </a:rPr>
              <a:t>  — pet-quantize 负责</a:t>
            </a:r>
          </a:p>
          <a:p>
            <a:pPr algn="l">
              <a:lnSpc>
                <a:spcPct val="135000"/>
              </a:lnSpc>
            </a:pPr>
            <a:r>
              <a:rPr sz="1250" b="1">
                <a:solidFill>
                  <a:srgbClr val="C8CCD2"/>
                </a:solidFill>
                <a:latin typeface="Helvetica"/>
              </a:rPr>
              <a:t>▪  </a:t>
            </a:r>
            <a:r>
              <a:rPr sz="1250">
                <a:solidFill>
                  <a:srgbClr val="787882"/>
                </a:solidFill>
                <a:latin typeface="Helvetica"/>
              </a:rPr>
              <a:t>不做 learned fusion</a:t>
            </a:r>
            <a:r>
              <a:rPr sz="1150" i="1">
                <a:solidFill>
                  <a:srgbClr val="787882"/>
                </a:solidFill>
                <a:latin typeface="Helvetica"/>
              </a:rPr>
              <a:t>  — feedback_no_learned_fusion</a:t>
            </a:r>
          </a:p>
          <a:p>
            <a:pPr algn="l">
              <a:lnSpc>
                <a:spcPct val="135000"/>
              </a:lnSpc>
            </a:pPr>
            <a:r>
              <a:rPr sz="1250" b="1">
                <a:solidFill>
                  <a:srgbClr val="C8CCD2"/>
                </a:solidFill>
                <a:latin typeface="Helvetica"/>
              </a:rPr>
              <a:t>▪  </a:t>
            </a:r>
            <a:r>
              <a:rPr sz="1250">
                <a:solidFill>
                  <a:srgbClr val="787882"/>
                </a:solidFill>
                <a:latin typeface="Helvetica"/>
              </a:rPr>
              <a:t>不做实验 tracking</a:t>
            </a:r>
            <a:r>
              <a:rPr sz="1150" i="1">
                <a:solidFill>
                  <a:srgbClr val="787882"/>
                </a:solidFill>
                <a:latin typeface="Helvetica"/>
              </a:rPr>
              <a:t>  — orchestrator + ClearMLLogger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0000" y="6418000"/>
            <a:ext cx="50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787882"/>
                </a:solidFill>
                <a:latin typeface="Helvetica"/>
              </a:rPr>
              <a:t>Train-Pet-Pipeline · Technical Overview · matrix 2026.10-ecosystem-cleanup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0000" y="6358000"/>
            <a:ext cx="50000" cy="220000"/>
          </a:xfrm>
          <a:prstGeom prst="rect">
            <a:avLst/>
          </a:prstGeom>
          <a:solidFill>
            <a:srgbClr val="8EA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0000" y="6368000"/>
            <a:ext cx="20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EA43A"/>
                </a:solidFill>
                <a:latin typeface="Menlo"/>
              </a:rPr>
              <a:t>pet-eval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0000"/>
          </a:xfrm>
          <a:prstGeom prst="rect">
            <a:avLst/>
          </a:prstGeom>
          <a:solidFill>
            <a:srgbClr val="8EA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60000" y="200000"/>
            <a:ext cx="2000000" cy="3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8EA43A"/>
                </a:solidFill>
                <a:latin typeface="Helvetica"/>
              </a:rPr>
              <a:t>§6 · pet-eval (2/3)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0000" y="420000"/>
            <a:ext cx="11272000" cy="6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1A2A44"/>
                </a:solidFill>
                <a:latin typeface="Helvetica"/>
              </a:rPr>
              <a:t>pet-eval — Registry 全景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0000" y="1020000"/>
            <a:ext cx="112720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787882"/>
                </a:solidFill>
                <a:latin typeface="Helvetica"/>
              </a:rPr>
              <a:t>METRICS × 8 + EVALUATORS × 6 · 所有通过 @register_module 装饰注册</a:t>
            </a:r>
          </a:p>
        </p:txBody>
      </p:sp>
      <p:sp>
        <p:nvSpPr>
          <p:cNvPr id="6" name="Rectangle 5"/>
          <p:cNvSpPr/>
          <p:nvPr/>
        </p:nvSpPr>
        <p:spPr>
          <a:xfrm>
            <a:off x="460000" y="1460000"/>
            <a:ext cx="11272000" cy="15000"/>
          </a:xfrm>
          <a:prstGeom prst="rect">
            <a:avLst/>
          </a:prstGeom>
          <a:solidFill>
            <a:srgbClr val="C8C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60000" y="1750000"/>
            <a:ext cx="3477333" cy="70000"/>
          </a:xfrm>
          <a:prstGeom prst="rect">
            <a:avLst/>
          </a:prstGeom>
          <a:solidFill>
            <a:srgbClr val="8EA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0000" y="1870000"/>
            <a:ext cx="3317333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8EA43A"/>
                </a:solidFill>
                <a:latin typeface="Helvetica"/>
              </a:rPr>
              <a:t>Metrics (8)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" y="2270000"/>
            <a:ext cx="3477333" cy="701600"/>
          </a:xfrm>
          <a:prstGeom prst="rect">
            <a:avLst/>
          </a:prstGeom>
          <a:solidFill>
            <a:srgbClr val="FFFFFF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330000"/>
            <a:ext cx="3317333" cy="3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A2A44"/>
                </a:solidFill>
                <a:latin typeface="Menlo"/>
              </a:rPr>
              <a:t>schema_compliance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0000" y="2670000"/>
            <a:ext cx="3317333" cy="26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787882"/>
                </a:solidFill>
                <a:latin typeface="Helvetica"/>
              </a:rPr>
              <a:t>VLM JSON 合规率 + 分布和差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0000" y="3031600"/>
            <a:ext cx="3477333" cy="701600"/>
          </a:xfrm>
          <a:prstGeom prst="rect">
            <a:avLst/>
          </a:prstGeom>
          <a:solidFill>
            <a:srgbClr val="FFFFFF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091600"/>
            <a:ext cx="3317333" cy="3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A2A44"/>
                </a:solidFill>
                <a:latin typeface="Menlo"/>
              </a:rPr>
              <a:t>anomaly_recall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0000" y="3431600"/>
            <a:ext cx="3317333" cy="26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787882"/>
                </a:solidFill>
                <a:latin typeface="Helvetica"/>
              </a:rPr>
              <a:t>异常召回 + FPR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" y="3793200"/>
            <a:ext cx="3477333" cy="701600"/>
          </a:xfrm>
          <a:prstGeom prst="rect">
            <a:avLst/>
          </a:prstGeom>
          <a:solidFill>
            <a:srgbClr val="FFFFFF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3853200"/>
            <a:ext cx="3317333" cy="3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A2A44"/>
                </a:solidFill>
                <a:latin typeface="Menlo"/>
              </a:rPr>
              <a:t>mood_correlation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0000" y="4193200"/>
            <a:ext cx="3317333" cy="26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787882"/>
                </a:solidFill>
                <a:latin typeface="Helvetica"/>
              </a:rPr>
              <a:t>mood_spearman 3 维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0000" y="4554800"/>
            <a:ext cx="3477333" cy="701600"/>
          </a:xfrm>
          <a:prstGeom prst="rect">
            <a:avLst/>
          </a:prstGeom>
          <a:solidFill>
            <a:srgbClr val="FFFFFF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000" y="4614800"/>
            <a:ext cx="3317333" cy="3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A2A44"/>
                </a:solidFill>
                <a:latin typeface="Menlo"/>
              </a:rPr>
              <a:t>narrative_quality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0000" y="4954800"/>
            <a:ext cx="3317333" cy="26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787882"/>
                </a:solidFill>
                <a:latin typeface="Helvetica"/>
              </a:rPr>
              <a:t>BERTScore F1 (Chinese)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" y="5316400"/>
            <a:ext cx="3477333" cy="701600"/>
          </a:xfrm>
          <a:prstGeom prst="rect">
            <a:avLst/>
          </a:prstGeom>
          <a:solidFill>
            <a:srgbClr val="FFFFFF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0000" y="5376400"/>
            <a:ext cx="3317333" cy="3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A2A44"/>
                </a:solidFill>
                <a:latin typeface="Menlo"/>
              </a:rPr>
              <a:t>latency / audio / kl / calibration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0000" y="5716400"/>
            <a:ext cx="3317333" cy="26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787882"/>
                </a:solidFill>
                <a:latin typeface="Helvetica"/>
              </a:rPr>
              <a:t>P95 / accuracy / KL / ECE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57333" y="1750000"/>
            <a:ext cx="3477333" cy="70000"/>
          </a:xfrm>
          <a:prstGeom prst="rect">
            <a:avLst/>
          </a:prstGeom>
          <a:solidFill>
            <a:srgbClr val="8EA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17333" y="1870000"/>
            <a:ext cx="3317333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8EA43A"/>
                </a:solidFill>
                <a:latin typeface="Helvetica"/>
              </a:rPr>
              <a:t>Primary Evaluators (3)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57333" y="2270000"/>
            <a:ext cx="3477333" cy="1209333"/>
          </a:xfrm>
          <a:prstGeom prst="rect">
            <a:avLst/>
          </a:prstGeom>
          <a:solidFill>
            <a:srgbClr val="FFFFFF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17333" y="2330000"/>
            <a:ext cx="3317333" cy="3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A2A44"/>
                </a:solidFill>
                <a:latin typeface="Menlo"/>
              </a:rPr>
              <a:t>vlm_evaluator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17333" y="2670000"/>
            <a:ext cx="3317333" cy="7693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787882"/>
                </a:solidFill>
                <a:latin typeface="Helvetica"/>
              </a:rPr>
              <a:t>LoRA merge + gold set inference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57333" y="3539333"/>
            <a:ext cx="3477333" cy="1209333"/>
          </a:xfrm>
          <a:prstGeom prst="rect">
            <a:avLst/>
          </a:prstGeom>
          <a:solidFill>
            <a:srgbClr val="FFFFFF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17333" y="3599333"/>
            <a:ext cx="3317333" cy="3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A2A44"/>
                </a:solidFill>
                <a:latin typeface="Menlo"/>
              </a:rPr>
              <a:t>audio_evaluator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17333" y="3939333"/>
            <a:ext cx="3317333" cy="7693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787882"/>
                </a:solidFill>
                <a:latin typeface="Helvetica"/>
              </a:rPr>
              <a:t>classify 5 class via pet_train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57333" y="4808666"/>
            <a:ext cx="3477333" cy="1209333"/>
          </a:xfrm>
          <a:prstGeom prst="rect">
            <a:avLst/>
          </a:prstGeom>
          <a:solidFill>
            <a:srgbClr val="FFFFFF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17333" y="4868666"/>
            <a:ext cx="3317333" cy="3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A2A44"/>
                </a:solidFill>
                <a:latin typeface="Menlo"/>
              </a:rPr>
              <a:t>quantized_vlm_evaluator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17333" y="5208666"/>
            <a:ext cx="3317333" cy="7693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787882"/>
                </a:solidFill>
                <a:latin typeface="Helvetica"/>
              </a:rPr>
              <a:t>RKLLMRunner lifecycle</a:t>
            </a:r>
          </a:p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787882"/>
                </a:solidFill>
                <a:latin typeface="Helvetica"/>
              </a:rPr>
              <a:t>init/generate/release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054666" y="1750000"/>
            <a:ext cx="3477333" cy="70000"/>
          </a:xfrm>
          <a:prstGeom prst="rect">
            <a:avLst/>
          </a:prstGeom>
          <a:solidFill>
            <a:srgbClr val="8EA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14666" y="1870000"/>
            <a:ext cx="3317333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8EA43A"/>
                </a:solidFill>
                <a:latin typeface="Helvetica"/>
              </a:rPr>
              <a:t>Fusion Evaluators (3)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054666" y="2270000"/>
            <a:ext cx="3477333" cy="1209333"/>
          </a:xfrm>
          <a:prstGeom prst="rect">
            <a:avLst/>
          </a:prstGeom>
          <a:solidFill>
            <a:srgbClr val="FFFFFF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14666" y="2330000"/>
            <a:ext cx="3317333" cy="3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A2A44"/>
                </a:solidFill>
                <a:latin typeface="Menlo"/>
              </a:rPr>
              <a:t>single_modal_fusion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14666" y="2670000"/>
            <a:ext cx="3317333" cy="7693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787882"/>
                </a:solidFill>
                <a:latin typeface="Helvetica"/>
              </a:rPr>
              <a:t>pass-through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054666" y="3539333"/>
            <a:ext cx="3477333" cy="1209333"/>
          </a:xfrm>
          <a:prstGeom prst="rect">
            <a:avLst/>
          </a:prstGeom>
          <a:solidFill>
            <a:srgbClr val="FFFFFF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14666" y="3599333"/>
            <a:ext cx="3317333" cy="3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A2A44"/>
                </a:solidFill>
                <a:latin typeface="Menlo"/>
              </a:rPr>
              <a:t>and_gate_fusion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14666" y="3939333"/>
            <a:ext cx="3317333" cy="7693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787882"/>
                </a:solidFill>
                <a:latin typeface="Helvetica"/>
              </a:rPr>
              <a:t>全 ≥ threshold</a:t>
            </a:r>
          </a:p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787882"/>
                </a:solidFill>
                <a:latin typeface="Helvetica"/>
              </a:rPr>
              <a:t>否则 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054666" y="4808666"/>
            <a:ext cx="3477333" cy="1209333"/>
          </a:xfrm>
          <a:prstGeom prst="rect">
            <a:avLst/>
          </a:prstGeom>
          <a:solidFill>
            <a:srgbClr val="FFFFFF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214666" y="4868666"/>
            <a:ext cx="3317333" cy="3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A2A44"/>
                </a:solidFill>
                <a:latin typeface="Menlo"/>
              </a:rPr>
              <a:t>weighted_fusion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14666" y="5208666"/>
            <a:ext cx="3317333" cy="7693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787882"/>
                </a:solidFill>
                <a:latin typeface="Helvetica"/>
              </a:rPr>
              <a:t>normalized weighted sum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0000" y="6418000"/>
            <a:ext cx="50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787882"/>
                </a:solidFill>
                <a:latin typeface="Helvetica"/>
              </a:rPr>
              <a:t>Train-Pet-Pipeline · Technical Overview · matrix 2026.10-ecosystem-cleanup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60000" y="6358000"/>
            <a:ext cx="50000" cy="220000"/>
          </a:xfrm>
          <a:prstGeom prst="rect">
            <a:avLst/>
          </a:prstGeom>
          <a:solidFill>
            <a:srgbClr val="8EA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40000" y="6368000"/>
            <a:ext cx="20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EA43A"/>
                </a:solidFill>
                <a:latin typeface="Menlo"/>
              </a:rPr>
              <a:t>pet-eval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0000"/>
          </a:xfrm>
          <a:prstGeom prst="rect">
            <a:avLst/>
          </a:prstGeom>
          <a:solidFill>
            <a:srgbClr val="8EA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60000" y="200000"/>
            <a:ext cx="2000000" cy="3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8EA43A"/>
                </a:solidFill>
                <a:latin typeface="Helvetica"/>
              </a:rPr>
              <a:t>§6 · pet-eval (3/3)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0000" y="420000"/>
            <a:ext cx="11272000" cy="6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1A2A44"/>
                </a:solidFill>
                <a:latin typeface="Helvetica"/>
              </a:rPr>
              <a:t>pet-eval — 关键设计决策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0000" y="1020000"/>
            <a:ext cx="112720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787882"/>
                </a:solidFill>
                <a:latin typeface="Helvetica"/>
              </a:rPr>
              <a:t>_FALLBACK_OUTPUT / 双 prompt_source / 跨仓 lazy import</a:t>
            </a:r>
          </a:p>
        </p:txBody>
      </p:sp>
      <p:sp>
        <p:nvSpPr>
          <p:cNvPr id="6" name="Rectangle 5"/>
          <p:cNvSpPr/>
          <p:nvPr/>
        </p:nvSpPr>
        <p:spPr>
          <a:xfrm>
            <a:off x="460000" y="1460000"/>
            <a:ext cx="11272000" cy="15000"/>
          </a:xfrm>
          <a:prstGeom prst="rect">
            <a:avLst/>
          </a:prstGeom>
          <a:solidFill>
            <a:srgbClr val="C8C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60000" y="1790000"/>
            <a:ext cx="4600000" cy="1322666"/>
          </a:xfrm>
          <a:prstGeom prst="rect">
            <a:avLst/>
          </a:prstGeom>
          <a:solidFill>
            <a:srgbClr val="FFFFFF"/>
          </a:solidFill>
          <a:ln w="12700">
            <a:solidFill>
              <a:srgbClr val="8EA4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60000" y="1790000"/>
            <a:ext cx="100000" cy="1322666"/>
          </a:xfrm>
          <a:prstGeom prst="rect">
            <a:avLst/>
          </a:prstGeom>
          <a:solidFill>
            <a:srgbClr val="8EA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0000" y="1850000"/>
            <a:ext cx="4400000" cy="12526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1A2A44"/>
                </a:solidFill>
                <a:latin typeface="Helvetica"/>
              </a:rPr>
              <a:t>_FALLBACK_OUTPUT 50-line</a:t>
            </a:r>
          </a:p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1A2A44"/>
                </a:solidFill>
                <a:latin typeface="Helvetica"/>
              </a:rPr>
              <a:t>硬编码安全 JSON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60000" y="1790000"/>
            <a:ext cx="6072000" cy="1322666"/>
          </a:xfrm>
          <a:prstGeom prst="rect">
            <a:avLst/>
          </a:prstGeom>
          <a:solidFill>
            <a:srgbClr val="F0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40000" y="1850000"/>
            <a:ext cx="5772000" cy="12526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1">
                <a:solidFill>
                  <a:srgbClr val="3C404C"/>
                </a:solidFill>
                <a:latin typeface="Helvetica"/>
              </a:rPr>
              <a:t>retry_on_failure=true 且重试仍无效时 emit。</a:t>
            </a:r>
          </a:p>
          <a:p>
            <a:pPr algn="l">
              <a:lnSpc>
                <a:spcPct val="135000"/>
              </a:lnSpc>
            </a:pPr>
            <a:r>
              <a:rPr sz="1100" b="0" i="1">
                <a:solidFill>
                  <a:srgbClr val="3C404C"/>
                </a:solidFill>
                <a:latin typeface="Helvetica"/>
              </a:rPr>
              <a:t>换 None 会让所有 metric 都要 null 分支;</a:t>
            </a:r>
          </a:p>
          <a:p>
            <a:pPr algn="l">
              <a:lnSpc>
                <a:spcPct val="135000"/>
              </a:lnSpc>
            </a:pPr>
            <a:r>
              <a:rPr sz="1100" b="0" i="1">
                <a:solidFill>
                  <a:srgbClr val="3C404C"/>
                </a:solidFill>
                <a:latin typeface="Helvetica"/>
              </a:rPr>
              <a:t>换 skip 会让合规率分母错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0000" y="3192666"/>
            <a:ext cx="4600000" cy="1322666"/>
          </a:xfrm>
          <a:prstGeom prst="rect">
            <a:avLst/>
          </a:prstGeom>
          <a:solidFill>
            <a:srgbClr val="FFFFFF"/>
          </a:solidFill>
          <a:ln w="12700">
            <a:solidFill>
              <a:srgbClr val="8EA4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000" y="3192666"/>
            <a:ext cx="100000" cy="1322666"/>
          </a:xfrm>
          <a:prstGeom prst="rect">
            <a:avLst/>
          </a:prstGeom>
          <a:solidFill>
            <a:srgbClr val="8EA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0000" y="3252666"/>
            <a:ext cx="4400000" cy="12526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1A2A44"/>
                </a:solidFill>
                <a:latin typeface="Helvetica"/>
              </a:rPr>
              <a:t>prompt_source: 'gold_set' | 'pet_schema'</a:t>
            </a:r>
          </a:p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1A2A44"/>
                </a:solidFill>
                <a:latin typeface="Helvetica"/>
              </a:rPr>
              <a:t>双轨支持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60000" y="3192666"/>
            <a:ext cx="6072000" cy="1322666"/>
          </a:xfrm>
          <a:prstGeom prst="rect">
            <a:avLst/>
          </a:prstGeom>
          <a:solidFill>
            <a:srgbClr val="F0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40000" y="3252666"/>
            <a:ext cx="5772000" cy="12526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1">
                <a:solidFill>
                  <a:srgbClr val="3C404C"/>
                </a:solidFill>
                <a:latin typeface="Helvetica"/>
              </a:rPr>
              <a:t>sft_v2 embeds full prompt in gold records;</a:t>
            </a:r>
          </a:p>
          <a:p>
            <a:pPr algn="l">
              <a:lnSpc>
                <a:spcPct val="135000"/>
              </a:lnSpc>
            </a:pPr>
            <a:r>
              <a:rPr sz="1100" b="0" i="1">
                <a:solidFill>
                  <a:srgbClr val="3C404C"/>
                </a:solidFill>
                <a:latin typeface="Helvetica"/>
              </a:rPr>
              <a:t>sft_v3+ 用 pet_schema.render_prompt 的短 prompt。</a:t>
            </a:r>
          </a:p>
          <a:p>
            <a:pPr algn="l">
              <a:lnSpc>
                <a:spcPct val="135000"/>
              </a:lnSpc>
            </a:pPr>
            <a:r>
              <a:rPr sz="1100" b="0" i="1">
                <a:solidFill>
                  <a:srgbClr val="3C404C"/>
                </a:solidFill>
                <a:latin typeface="Helvetica"/>
              </a:rPr>
              <a:t>两代模型都要能评估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0000" y="4595332"/>
            <a:ext cx="4600000" cy="1322666"/>
          </a:xfrm>
          <a:prstGeom prst="rect">
            <a:avLst/>
          </a:prstGeom>
          <a:solidFill>
            <a:srgbClr val="FFFFFF"/>
          </a:solidFill>
          <a:ln w="12700">
            <a:solidFill>
              <a:srgbClr val="8EA4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60000" y="4595332"/>
            <a:ext cx="100000" cy="1322666"/>
          </a:xfrm>
          <a:prstGeom prst="rect">
            <a:avLst/>
          </a:prstGeom>
          <a:solidFill>
            <a:srgbClr val="8EA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0000" y="4655332"/>
            <a:ext cx="4400000" cy="12526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1A2A44"/>
                </a:solidFill>
                <a:latin typeface="Helvetica"/>
              </a:rPr>
              <a:t>跨仓 runtime import</a:t>
            </a:r>
          </a:p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1A2A44"/>
                </a:solidFill>
                <a:latin typeface="Helvetica"/>
              </a:rPr>
              <a:t>pet_train.audio / pet_quantize.rkllm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60000" y="4595332"/>
            <a:ext cx="6072000" cy="1322666"/>
          </a:xfrm>
          <a:prstGeom prst="rect">
            <a:avLst/>
          </a:prstGeom>
          <a:solidFill>
            <a:srgbClr val="F0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40000" y="4655332"/>
            <a:ext cx="5772000" cy="12526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1">
                <a:solidFill>
                  <a:srgbClr val="3C404C"/>
                </a:solidFill>
                <a:latin typeface="Helvetica"/>
              </a:rPr>
              <a:t>AudioEvaluator / QuantizedVlmEvaluator 真正</a:t>
            </a:r>
          </a:p>
          <a:p>
            <a:pPr algn="l">
              <a:lnSpc>
                <a:spcPct val="135000"/>
              </a:lnSpc>
            </a:pPr>
            <a:r>
              <a:rPr sz="1100" b="0" i="1">
                <a:solidFill>
                  <a:srgbClr val="3C404C"/>
                </a:solidFill>
                <a:latin typeface="Helvetica"/>
              </a:rPr>
              <a:t>要跑这些。复制契约到 pet-eval 会违反 SSOT。</a:t>
            </a:r>
          </a:p>
          <a:p>
            <a:pPr algn="l">
              <a:lnSpc>
                <a:spcPct val="135000"/>
              </a:lnSpc>
            </a:pPr>
            <a:r>
              <a:rPr sz="1100" b="0" i="1">
                <a:solidFill>
                  <a:srgbClr val="3C404C"/>
                </a:solidFill>
                <a:latin typeface="Helvetica"/>
              </a:rPr>
              <a:t>导入 lazy 防 module-load 拉 SDK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0000" y="6418000"/>
            <a:ext cx="50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787882"/>
                </a:solidFill>
                <a:latin typeface="Helvetica"/>
              </a:rPr>
              <a:t>Train-Pet-Pipeline · Technical Overview · matrix 2026.10-ecosystem-cleanup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0000" y="6358000"/>
            <a:ext cx="50000" cy="220000"/>
          </a:xfrm>
          <a:prstGeom prst="rect">
            <a:avLst/>
          </a:prstGeom>
          <a:solidFill>
            <a:srgbClr val="8EA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0000" y="6368000"/>
            <a:ext cx="20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EA43A"/>
                </a:solidFill>
                <a:latin typeface="Menlo"/>
              </a:rPr>
              <a:t>pet-eval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0000" y="2000000"/>
            <a:ext cx="14000" cy="2800000"/>
          </a:xfrm>
          <a:prstGeom prst="rect">
            <a:avLst/>
          </a:prstGeom>
          <a:solidFill>
            <a:srgbClr val="367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0000" y="2000000"/>
            <a:ext cx="8000000" cy="5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367BD6"/>
                </a:solidFill>
                <a:latin typeface="Helvetica"/>
              </a:rPr>
              <a:t>SECTION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0000" y="2500000"/>
            <a:ext cx="10000000" cy="11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>
                <a:solidFill>
                  <a:srgbClr val="FFFFFF"/>
                </a:solidFill>
                <a:latin typeface="Helvetica"/>
              </a:rPr>
              <a:t>端侧与发布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0000" y="3750000"/>
            <a:ext cx="10000000" cy="5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1">
                <a:solidFill>
                  <a:srgbClr val="C8CCD2"/>
                </a:solidFill>
                <a:latin typeface="Helvetica"/>
              </a:rPr>
              <a:t>pet-quantize · pet-ota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0000" y="4450000"/>
            <a:ext cx="100000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367BD6"/>
                </a:solidFill>
                <a:latin typeface="Menlo"/>
              </a:rPr>
              <a:t>Slides 25 – 30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0000"/>
          </a:xfrm>
          <a:prstGeom prst="rect">
            <a:avLst/>
          </a:prstGeom>
          <a:solidFill>
            <a:srgbClr val="C28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60000" y="200000"/>
            <a:ext cx="2000000" cy="3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C28E2E"/>
                </a:solidFill>
                <a:latin typeface="Helvetica"/>
              </a:rPr>
              <a:t>§7 · pet-quantize (1/3)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0000" y="420000"/>
            <a:ext cx="11272000" cy="6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1A2A44"/>
                </a:solidFill>
                <a:latin typeface="Helvetica"/>
              </a:rPr>
              <a:t>pet-quantize — 量化 + 打包签名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0000" y="1020000"/>
            <a:ext cx="112720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787882"/>
                </a:solidFill>
                <a:latin typeface="Helvetica"/>
              </a:rPr>
              <a:t>4 CONVERTERS + 3 DATASETS + 2 dual-mode inference runners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60000" y="1460000"/>
            <a:ext cx="11272000" cy="15000"/>
          </a:xfrm>
          <a:prstGeom prst="rect">
            <a:avLst/>
          </a:prstGeom>
          <a:solidFill>
            <a:srgbClr val="C8C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591000" y="1650000"/>
            <a:ext cx="95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591000" y="1650000"/>
            <a:ext cx="950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787882"/>
                </a:solidFill>
                <a:latin typeface="Menlo"/>
              </a:rPr>
              <a:t>pet-schema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6000" y="1825000"/>
            <a:ext cx="50000" cy="10000"/>
          </a:xfrm>
          <a:prstGeom prst="rect">
            <a:avLst/>
          </a:prstGeom>
          <a:solidFill>
            <a:srgbClr val="C8C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01000" y="1650000"/>
            <a:ext cx="95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01000" y="1650000"/>
            <a:ext cx="950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787882"/>
                </a:solidFill>
                <a:latin typeface="Menlo"/>
              </a:rPr>
              <a:t>pet-data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56000" y="1825000"/>
            <a:ext cx="50000" cy="10000"/>
          </a:xfrm>
          <a:prstGeom prst="rect">
            <a:avLst/>
          </a:prstGeom>
          <a:solidFill>
            <a:srgbClr val="C8C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611000" y="1650000"/>
            <a:ext cx="95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11000" y="1650000"/>
            <a:ext cx="950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787882"/>
                </a:solidFill>
                <a:latin typeface="Menlo"/>
              </a:rPr>
              <a:t>pet-annotation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566000" y="1825000"/>
            <a:ext cx="50000" cy="10000"/>
          </a:xfrm>
          <a:prstGeom prst="rect">
            <a:avLst/>
          </a:prstGeom>
          <a:solidFill>
            <a:srgbClr val="C8C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1000" y="1650000"/>
            <a:ext cx="95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21000" y="1650000"/>
            <a:ext cx="950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787882"/>
                </a:solidFill>
                <a:latin typeface="Menlo"/>
              </a:rPr>
              <a:t>pet-train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76000" y="1825000"/>
            <a:ext cx="50000" cy="10000"/>
          </a:xfrm>
          <a:prstGeom prst="rect">
            <a:avLst/>
          </a:prstGeom>
          <a:solidFill>
            <a:srgbClr val="C8C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631000" y="1650000"/>
            <a:ext cx="95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31000" y="1650000"/>
            <a:ext cx="950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787882"/>
                </a:solidFill>
                <a:latin typeface="Menlo"/>
              </a:rPr>
              <a:t>pet-eval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586000" y="1825000"/>
            <a:ext cx="50000" cy="10000"/>
          </a:xfrm>
          <a:prstGeom prst="rect">
            <a:avLst/>
          </a:prstGeom>
          <a:solidFill>
            <a:srgbClr val="C8C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41000" y="1650000"/>
            <a:ext cx="950000" cy="360000"/>
          </a:xfrm>
          <a:prstGeom prst="rect">
            <a:avLst/>
          </a:prstGeom>
          <a:solidFill>
            <a:srgbClr val="C28E2E"/>
          </a:solidFill>
          <a:ln w="15240">
            <a:solidFill>
              <a:srgbClr val="C28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41000" y="1650000"/>
            <a:ext cx="950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Menlo"/>
              </a:rPr>
              <a:t>pet-quantize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596000" y="1825000"/>
            <a:ext cx="50000" cy="10000"/>
          </a:xfrm>
          <a:prstGeom prst="rect">
            <a:avLst/>
          </a:prstGeom>
          <a:solidFill>
            <a:srgbClr val="C8C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651000" y="1650000"/>
            <a:ext cx="95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51000" y="1650000"/>
            <a:ext cx="950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787882"/>
                </a:solidFill>
                <a:latin typeface="Menlo"/>
              </a:rPr>
              <a:t>pet-ota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591000" y="2130000"/>
            <a:ext cx="7010000" cy="140000"/>
          </a:xfrm>
          <a:prstGeom prst="rect">
            <a:avLst/>
          </a:prstGeom>
          <a:solidFill>
            <a:srgbClr val="F0F1F4"/>
          </a:solidFill>
          <a:ln w="7620">
            <a:solidFill>
              <a:srgbClr val="2F6A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591000" y="2130000"/>
            <a:ext cx="7010000" cy="14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787882"/>
                </a:solidFill>
                <a:latin typeface="Menlo"/>
              </a:rPr>
              <a:t>pet-infra · shared runtime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01000" y="2350000"/>
            <a:ext cx="1400000" cy="180000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7A57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01000" y="2350000"/>
            <a:ext cx="1400000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7A57A8"/>
                </a:solidFill>
                <a:latin typeface="Menlo"/>
              </a:rPr>
              <a:t>pet-id · independent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60000" y="2600000"/>
            <a:ext cx="5100000" cy="70000"/>
          </a:xfrm>
          <a:prstGeom prst="rect">
            <a:avLst/>
          </a:prstGeom>
          <a:solidFill>
            <a:srgbClr val="C28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0000" y="2740000"/>
            <a:ext cx="5100000" cy="3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C28E2E"/>
                </a:solidFill>
                <a:latin typeface="Helvetica"/>
              </a:rPr>
              <a:t>做什么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0000" y="3160000"/>
            <a:ext cx="4940000" cy="2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C28E2E"/>
                </a:solidFill>
                <a:latin typeface="Helvetica"/>
              </a:rPr>
              <a:t>▪  </a:t>
            </a:r>
            <a:r>
              <a:rPr sz="1250">
                <a:solidFill>
                  <a:srgbClr val="1A2A44"/>
                </a:solidFill>
                <a:latin typeface="Helvetica"/>
              </a:rPr>
              <a:t>vlm_rkllm_w4a16</a:t>
            </a:r>
            <a:r>
              <a:rPr sz="1150" i="1">
                <a:solidFill>
                  <a:srgbClr val="787882"/>
                </a:solidFill>
                <a:latin typeface="Helvetica"/>
              </a:rPr>
              <a:t>  — VLM → RKLLM W4A16 for RK3576</a:t>
            </a:r>
          </a:p>
          <a:p>
            <a:pPr algn="l">
              <a:lnSpc>
                <a:spcPct val="135000"/>
              </a:lnSpc>
            </a:pPr>
            <a:r>
              <a:rPr sz="1250" b="1">
                <a:solidFill>
                  <a:srgbClr val="C28E2E"/>
                </a:solidFill>
                <a:latin typeface="Helvetica"/>
              </a:rPr>
              <a:t>▪  </a:t>
            </a:r>
            <a:r>
              <a:rPr sz="1250">
                <a:solidFill>
                  <a:srgbClr val="1A2A44"/>
                </a:solidFill>
                <a:latin typeface="Helvetica"/>
              </a:rPr>
              <a:t>audio_rknn_fp16</a:t>
            </a:r>
            <a:r>
              <a:rPr sz="1150" i="1">
                <a:solidFill>
                  <a:srgbClr val="787882"/>
                </a:solidFill>
                <a:latin typeface="Helvetica"/>
              </a:rPr>
              <a:t>  — audio CNN → RKNN FP16</a:t>
            </a:r>
          </a:p>
          <a:p>
            <a:pPr algn="l">
              <a:lnSpc>
                <a:spcPct val="135000"/>
              </a:lnSpc>
            </a:pPr>
            <a:r>
              <a:rPr sz="1250" b="1">
                <a:solidFill>
                  <a:srgbClr val="C28E2E"/>
                </a:solidFill>
                <a:latin typeface="Helvetica"/>
              </a:rPr>
              <a:t>▪  </a:t>
            </a:r>
            <a:r>
              <a:rPr sz="1250">
                <a:solidFill>
                  <a:srgbClr val="1A2A44"/>
                </a:solidFill>
                <a:latin typeface="Helvetica"/>
              </a:rPr>
              <a:t>vision_rknn_fp16</a:t>
            </a:r>
            <a:r>
              <a:rPr sz="1150" i="1">
                <a:solidFill>
                  <a:srgbClr val="787882"/>
                </a:solidFill>
                <a:latin typeface="Helvetica"/>
              </a:rPr>
              <a:t>  — ViT → RKNN FP16</a:t>
            </a:r>
          </a:p>
          <a:p>
            <a:pPr algn="l">
              <a:lnSpc>
                <a:spcPct val="135000"/>
              </a:lnSpc>
            </a:pPr>
            <a:r>
              <a:rPr sz="1250" b="1">
                <a:solidFill>
                  <a:srgbClr val="C28E2E"/>
                </a:solidFill>
                <a:latin typeface="Helvetica"/>
              </a:rPr>
              <a:t>▪  </a:t>
            </a:r>
            <a:r>
              <a:rPr sz="1250">
                <a:solidFill>
                  <a:srgbClr val="1A2A44"/>
                </a:solidFill>
                <a:latin typeface="Helvetica"/>
              </a:rPr>
              <a:t>noop_converter</a:t>
            </a:r>
            <a:r>
              <a:rPr sz="1150" i="1">
                <a:solidFill>
                  <a:srgbClr val="787882"/>
                </a:solidFill>
                <a:latin typeface="Helvetica"/>
              </a:rPr>
              <a:t>  — 零 SDK CI smoke</a:t>
            </a:r>
          </a:p>
          <a:p>
            <a:pPr algn="l">
              <a:lnSpc>
                <a:spcPct val="135000"/>
              </a:lnSpc>
            </a:pPr>
            <a:r>
              <a:rPr sz="1250" b="1">
                <a:solidFill>
                  <a:srgbClr val="C28E2E"/>
                </a:solidFill>
                <a:latin typeface="Helvetica"/>
              </a:rPr>
              <a:t>▪  </a:t>
            </a:r>
            <a:r>
              <a:rPr sz="1250">
                <a:solidFill>
                  <a:srgbClr val="1A2A44"/>
                </a:solidFill>
                <a:latin typeface="Helvetica"/>
              </a:rPr>
              <a:t>3 calibration DATASETS</a:t>
            </a:r>
            <a:r>
              <a:rPr sz="1150" i="1">
                <a:solidFill>
                  <a:srgbClr val="787882"/>
                </a:solidFill>
                <a:latin typeface="Helvetica"/>
              </a:rPr>
              <a:t>  — content-addressed cache</a:t>
            </a:r>
          </a:p>
          <a:p>
            <a:pPr algn="l">
              <a:lnSpc>
                <a:spcPct val="135000"/>
              </a:lnSpc>
            </a:pPr>
            <a:r>
              <a:rPr sz="1250" b="1">
                <a:solidFill>
                  <a:srgbClr val="C28E2E"/>
                </a:solidFill>
                <a:latin typeface="Helvetica"/>
              </a:rPr>
              <a:t>▪  </a:t>
            </a:r>
            <a:r>
              <a:rPr sz="1250">
                <a:solidFill>
                  <a:srgbClr val="1A2A44"/>
                </a:solidFill>
                <a:latin typeface="Helvetica"/>
              </a:rPr>
              <a:t>RKLLMRunner / RKNNRunner</a:t>
            </a:r>
            <a:r>
              <a:rPr sz="1150" i="1">
                <a:solidFill>
                  <a:srgbClr val="787882"/>
                </a:solidFill>
                <a:latin typeface="Helvetica"/>
              </a:rPr>
              <a:t>  — PC sim ↔ on-device ADB dual-mode</a:t>
            </a:r>
          </a:p>
          <a:p>
            <a:pPr algn="l">
              <a:lnSpc>
                <a:spcPct val="135000"/>
              </a:lnSpc>
            </a:pPr>
            <a:r>
              <a:rPr sz="1250" b="1">
                <a:solidFill>
                  <a:srgbClr val="C28E2E"/>
                </a:solidFill>
                <a:latin typeface="Helvetica"/>
              </a:rPr>
              <a:t>▪  </a:t>
            </a:r>
            <a:r>
              <a:rPr sz="1250">
                <a:solidFill>
                  <a:srgbClr val="1A2A44"/>
                </a:solidFill>
                <a:latin typeface="Helvetica"/>
              </a:rPr>
              <a:t>packaging: tarball + manifest + sign</a:t>
            </a:r>
            <a:r>
              <a:rPr sz="1150" i="1">
                <a:solidFill>
                  <a:srgbClr val="787882"/>
                </a:solidFill>
                <a:latin typeface="Helvetica"/>
              </a:rPr>
              <a:t>  — SHA-256 + 可选签名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40000" y="2600000"/>
            <a:ext cx="5100000" cy="70000"/>
          </a:xfrm>
          <a:prstGeom prst="rect">
            <a:avLst/>
          </a:prstGeom>
          <a:solidFill>
            <a:srgbClr val="C8C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00000" y="2740000"/>
            <a:ext cx="5100000" cy="3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787882"/>
                </a:solidFill>
                <a:latin typeface="Helvetica"/>
              </a:rPr>
              <a:t>不做什么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00000" y="3160000"/>
            <a:ext cx="4940000" cy="2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C8CCD2"/>
                </a:solidFill>
                <a:latin typeface="Helvetica"/>
              </a:rPr>
              <a:t>▪  </a:t>
            </a:r>
            <a:r>
              <a:rPr sz="1250">
                <a:solidFill>
                  <a:srgbClr val="787882"/>
                </a:solidFill>
                <a:latin typeface="Helvetica"/>
              </a:rPr>
              <a:t>不训练</a:t>
            </a:r>
            <a:r>
              <a:rPr sz="1150" i="1">
                <a:solidFill>
                  <a:srgbClr val="787882"/>
                </a:solidFill>
                <a:latin typeface="Helvetica"/>
              </a:rPr>
              <a:t>  — pet-train 负责</a:t>
            </a:r>
          </a:p>
          <a:p>
            <a:pPr algn="l">
              <a:lnSpc>
                <a:spcPct val="135000"/>
              </a:lnSpc>
            </a:pPr>
            <a:r>
              <a:rPr sz="1250" b="1">
                <a:solidFill>
                  <a:srgbClr val="C8CCD2"/>
                </a:solidFill>
                <a:latin typeface="Helvetica"/>
              </a:rPr>
              <a:t>▪  </a:t>
            </a:r>
            <a:r>
              <a:rPr sz="1250">
                <a:solidFill>
                  <a:srgbClr val="787882"/>
                </a:solidFill>
                <a:latin typeface="Helvetica"/>
              </a:rPr>
              <a:t>不做 gate 决策</a:t>
            </a:r>
            <a:r>
              <a:rPr sz="1150" i="1">
                <a:solidFill>
                  <a:srgbClr val="787882"/>
                </a:solidFill>
                <a:latin typeface="Helvetica"/>
              </a:rPr>
              <a:t>  — pet-eval 负责</a:t>
            </a:r>
          </a:p>
          <a:p>
            <a:pPr algn="l">
              <a:lnSpc>
                <a:spcPct val="135000"/>
              </a:lnSpc>
            </a:pPr>
            <a:r>
              <a:rPr sz="1250" b="1">
                <a:solidFill>
                  <a:srgbClr val="C8CCD2"/>
                </a:solidFill>
                <a:latin typeface="Helvetica"/>
              </a:rPr>
              <a:t>▪  </a:t>
            </a:r>
            <a:r>
              <a:rPr sz="1250">
                <a:solidFill>
                  <a:srgbClr val="787882"/>
                </a:solidFill>
                <a:latin typeface="Helvetica"/>
              </a:rPr>
              <a:t>不发布到设备</a:t>
            </a:r>
            <a:r>
              <a:rPr sz="1150" i="1">
                <a:solidFill>
                  <a:srgbClr val="787882"/>
                </a:solidFill>
                <a:latin typeface="Helvetica"/>
              </a:rPr>
              <a:t>  — pet-ota 负责</a:t>
            </a:r>
          </a:p>
          <a:p>
            <a:pPr algn="l">
              <a:lnSpc>
                <a:spcPct val="135000"/>
              </a:lnSpc>
            </a:pPr>
            <a:r>
              <a:rPr sz="1250" b="1">
                <a:solidFill>
                  <a:srgbClr val="C8CCD2"/>
                </a:solidFill>
                <a:latin typeface="Helvetica"/>
              </a:rPr>
              <a:t>▪  </a:t>
            </a:r>
            <a:r>
              <a:rPr sz="1250">
                <a:solidFill>
                  <a:srgbClr val="787882"/>
                </a:solidFill>
                <a:latin typeface="Helvetica"/>
              </a:rPr>
              <a:t>不强制装 RK SDK</a:t>
            </a:r>
            <a:r>
              <a:rPr sz="1150" i="1">
                <a:solidFill>
                  <a:srgbClr val="787882"/>
                </a:solidFill>
                <a:latin typeface="Helvetica"/>
              </a:rPr>
              <a:t>  — PET_ALLOW_MISSING_SDK=1 逃生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0000" y="6418000"/>
            <a:ext cx="50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787882"/>
                </a:solidFill>
                <a:latin typeface="Helvetica"/>
              </a:rPr>
              <a:t>Train-Pet-Pipeline · Technical Overview · matrix 2026.10-ecosystem-cleanup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0000" y="6358000"/>
            <a:ext cx="50000" cy="220000"/>
          </a:xfrm>
          <a:prstGeom prst="rect">
            <a:avLst/>
          </a:prstGeom>
          <a:solidFill>
            <a:srgbClr val="C28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0000" y="6368000"/>
            <a:ext cx="20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28E2E"/>
                </a:solidFill>
                <a:latin typeface="Menlo"/>
              </a:rPr>
              <a:t>pet-quantize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0000"/>
          </a:xfrm>
          <a:prstGeom prst="rect">
            <a:avLst/>
          </a:prstGeom>
          <a:solidFill>
            <a:srgbClr val="C28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60000" y="200000"/>
            <a:ext cx="2000000" cy="3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C28E2E"/>
                </a:solidFill>
                <a:latin typeface="Helvetica"/>
              </a:rPr>
              <a:t>§7 · pet-quantize (2/3)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0000" y="420000"/>
            <a:ext cx="11272000" cy="6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1A2A44"/>
                </a:solidFill>
                <a:latin typeface="Helvetica"/>
              </a:rPr>
              <a:t>pet-quantize — SDK-gated cluster 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0000" y="1020000"/>
            <a:ext cx="112720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787882"/>
                </a:solidFill>
                <a:latin typeface="Helvetica"/>
              </a:rPr>
              <a:t>rknn / rkllm 两个 SDK 簇 + noop always-available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460000" y="1460000"/>
            <a:ext cx="11272000" cy="15000"/>
          </a:xfrm>
          <a:prstGeom prst="rect">
            <a:avLst/>
          </a:prstGeom>
          <a:solidFill>
            <a:srgbClr val="C8C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60000" y="1750000"/>
            <a:ext cx="3477333" cy="70000"/>
          </a:xfrm>
          <a:prstGeom prst="rect">
            <a:avLst/>
          </a:prstGeom>
          <a:solidFill>
            <a:srgbClr val="C28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0000" y="1870000"/>
            <a:ext cx="3317333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C28E2E"/>
                </a:solidFill>
                <a:latin typeface="Helvetica"/>
              </a:rPr>
              <a:t>Always-available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" y="2270000"/>
            <a:ext cx="3477333" cy="3748000"/>
          </a:xfrm>
          <a:prstGeom prst="rect">
            <a:avLst/>
          </a:prstGeom>
          <a:solidFill>
            <a:srgbClr val="FFFFFF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330000"/>
            <a:ext cx="3317333" cy="3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A2A44"/>
                </a:solidFill>
                <a:latin typeface="Menlo"/>
              </a:rPr>
              <a:t>noop_converter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0000" y="2670000"/>
            <a:ext cx="3317333" cy="33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787882"/>
                </a:solidFill>
                <a:latin typeface="Helvetica"/>
              </a:rPr>
              <a:t>零 SDK · CI smoke</a:t>
            </a:r>
          </a:p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787882"/>
                </a:solidFill>
                <a:latin typeface="Helvetica"/>
              </a:rPr>
              <a:t>产确定性 fake EdgeArtifact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57333" y="1750000"/>
            <a:ext cx="3477333" cy="70000"/>
          </a:xfrm>
          <a:prstGeom prst="rect">
            <a:avLst/>
          </a:prstGeom>
          <a:solidFill>
            <a:srgbClr val="C28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17333" y="1870000"/>
            <a:ext cx="3317333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C28E2E"/>
                </a:solidFill>
                <a:latin typeface="Helvetica"/>
              </a:rPr>
              <a:t>rknn cluster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57333" y="2270000"/>
            <a:ext cx="3477333" cy="1209333"/>
          </a:xfrm>
          <a:prstGeom prst="rect">
            <a:avLst/>
          </a:prstGeom>
          <a:solidFill>
            <a:srgbClr val="FFFFFF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17333" y="2330000"/>
            <a:ext cx="3317333" cy="3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A2A44"/>
                </a:solidFill>
                <a:latin typeface="Menlo"/>
              </a:rPr>
              <a:t>audio_rknn_fp16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17333" y="2670000"/>
            <a:ext cx="3317333" cy="7693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787882"/>
                </a:solidFill>
                <a:latin typeface="Helvetica"/>
              </a:rPr>
              <a:t>FP16 · 无需 calib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57333" y="3539333"/>
            <a:ext cx="3477333" cy="1209333"/>
          </a:xfrm>
          <a:prstGeom prst="rect">
            <a:avLst/>
          </a:prstGeom>
          <a:solidFill>
            <a:srgbClr val="FFFFFF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17333" y="3599333"/>
            <a:ext cx="3317333" cy="3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A2A44"/>
                </a:solidFill>
                <a:latin typeface="Menlo"/>
              </a:rPr>
              <a:t>vision_rknn_fp16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17333" y="3939333"/>
            <a:ext cx="3317333" cy="7693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787882"/>
                </a:solidFill>
                <a:latin typeface="Helvetica"/>
              </a:rPr>
              <a:t>FP16 opt_level=3</a:t>
            </a:r>
          </a:p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787882"/>
                </a:solidFill>
                <a:latin typeface="Helvetica"/>
              </a:rPr>
              <a:t>输出 ONNX + RKNN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57333" y="4808666"/>
            <a:ext cx="3477333" cy="1209333"/>
          </a:xfrm>
          <a:prstGeom prst="rect">
            <a:avLst/>
          </a:prstGeom>
          <a:solidFill>
            <a:srgbClr val="FFFFFF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17333" y="4868666"/>
            <a:ext cx="3317333" cy="3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A2A44"/>
                </a:solidFill>
                <a:latin typeface="Menlo"/>
              </a:rPr>
              <a:t>audio/vision calibration_subset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17333" y="5208666"/>
            <a:ext cx="3317333" cy="7693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787882"/>
                </a:solidFill>
                <a:latin typeface="Helvetica"/>
              </a:rPr>
              <a:t>DATASETS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54666" y="1750000"/>
            <a:ext cx="3477333" cy="70000"/>
          </a:xfrm>
          <a:prstGeom prst="rect">
            <a:avLst/>
          </a:prstGeom>
          <a:solidFill>
            <a:srgbClr val="C28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14666" y="1870000"/>
            <a:ext cx="3317333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C28E2E"/>
                </a:solidFill>
                <a:latin typeface="Helvetica"/>
              </a:rPr>
              <a:t>rkllm cluster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54666" y="2270000"/>
            <a:ext cx="3477333" cy="1209333"/>
          </a:xfrm>
          <a:prstGeom prst="rect">
            <a:avLst/>
          </a:prstGeom>
          <a:solidFill>
            <a:srgbClr val="FFFFFF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14666" y="2330000"/>
            <a:ext cx="3317333" cy="3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A2A44"/>
                </a:solidFill>
                <a:latin typeface="Menlo"/>
              </a:rPr>
              <a:t>vlm_rkllm_w4a16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14666" y="2670000"/>
            <a:ext cx="3317333" cy="7693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787882"/>
                </a:solidFill>
                <a:latin typeface="Helvetica"/>
              </a:rPr>
              <a:t>W4A16 · 需 calib batch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054666" y="3539333"/>
            <a:ext cx="3477333" cy="1209333"/>
          </a:xfrm>
          <a:prstGeom prst="rect">
            <a:avLst/>
          </a:prstGeom>
          <a:solidFill>
            <a:srgbClr val="FFFFFF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14666" y="3599333"/>
            <a:ext cx="3317333" cy="3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A2A44"/>
                </a:solidFill>
                <a:latin typeface="Menlo"/>
              </a:rPr>
              <a:t>vlm_calibration_subset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14666" y="3939333"/>
            <a:ext cx="3317333" cy="7693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787882"/>
                </a:solidFill>
                <a:latin typeface="Helvetica"/>
              </a:rPr>
              <a:t>DATASETS</a:t>
            </a:r>
          </a:p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787882"/>
                </a:solidFill>
                <a:latin typeface="Helvetica"/>
              </a:rPr>
              <a:t>(num_samples, 2048) int64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54666" y="4808666"/>
            <a:ext cx="3477333" cy="1209333"/>
          </a:xfrm>
          <a:prstGeom prst="rect">
            <a:avLst/>
          </a:prstGeom>
          <a:solidFill>
            <a:srgbClr val="FFFFFF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14666" y="4868666"/>
            <a:ext cx="3317333" cy="3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A2A44"/>
                </a:solidFill>
                <a:latin typeface="Menlo"/>
              </a:rPr>
              <a:t>RKLLMRunner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14666" y="5208666"/>
            <a:ext cx="3317333" cy="7693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787882"/>
                </a:solidFill>
                <a:latin typeface="Helvetica"/>
              </a:rPr>
              <a:t>init/generate/release</a:t>
            </a:r>
          </a:p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787882"/>
                </a:solidFill>
                <a:latin typeface="Helvetica"/>
              </a:rPr>
              <a:t>被 pet-eval 跨仓引用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0000" y="6138000"/>
            <a:ext cx="10872000" cy="2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787882"/>
                </a:solidFill>
                <a:latin typeface="Helvetica"/>
              </a:rPr>
              <a:t>register_all: try/except ImportError → re-raise UNLESS PET_ALLOW_MISSING_SDK=1 → logger.warning + skip cluster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0000" y="6418000"/>
            <a:ext cx="50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787882"/>
                </a:solidFill>
                <a:latin typeface="Helvetica"/>
              </a:rPr>
              <a:t>Train-Pet-Pipeline · Technical Overview · matrix 2026.10-ecosystem-cleanup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60000" y="6358000"/>
            <a:ext cx="50000" cy="220000"/>
          </a:xfrm>
          <a:prstGeom prst="rect">
            <a:avLst/>
          </a:prstGeom>
          <a:solidFill>
            <a:srgbClr val="C28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0000" y="6368000"/>
            <a:ext cx="20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28E2E"/>
                </a:solidFill>
                <a:latin typeface="Menlo"/>
              </a:rPr>
              <a:t>pet-quantize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0000"/>
          </a:xfrm>
          <a:prstGeom prst="rect">
            <a:avLst/>
          </a:prstGeom>
          <a:solidFill>
            <a:srgbClr val="C28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60000" y="200000"/>
            <a:ext cx="2000000" cy="3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C28E2E"/>
                </a:solidFill>
                <a:latin typeface="Helvetica"/>
              </a:rPr>
              <a:t>§7 · pet-quantize (3/3)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0000" y="420000"/>
            <a:ext cx="11272000" cy="6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1A2A44"/>
                </a:solidFill>
                <a:latin typeface="Helvetica"/>
              </a:rPr>
              <a:t>pet-quantize — 关键设计决策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0000" y="1020000"/>
            <a:ext cx="112720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787882"/>
                </a:solidFill>
                <a:latin typeface="Helvetica"/>
              </a:rPr>
              <a:t>SDK cluster · dual-mode · content-addressable cache</a:t>
            </a:r>
          </a:p>
        </p:txBody>
      </p:sp>
      <p:sp>
        <p:nvSpPr>
          <p:cNvPr id="6" name="Rectangle 5"/>
          <p:cNvSpPr/>
          <p:nvPr/>
        </p:nvSpPr>
        <p:spPr>
          <a:xfrm>
            <a:off x="460000" y="1460000"/>
            <a:ext cx="11272000" cy="15000"/>
          </a:xfrm>
          <a:prstGeom prst="rect">
            <a:avLst/>
          </a:prstGeom>
          <a:solidFill>
            <a:srgbClr val="C8C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60000" y="1790000"/>
            <a:ext cx="4600000" cy="1322666"/>
          </a:xfrm>
          <a:prstGeom prst="rect">
            <a:avLst/>
          </a:prstGeom>
          <a:solidFill>
            <a:srgbClr val="FFFFFF"/>
          </a:solidFill>
          <a:ln w="12700">
            <a:solidFill>
              <a:srgbClr val="C28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60000" y="1790000"/>
            <a:ext cx="100000" cy="1322666"/>
          </a:xfrm>
          <a:prstGeom prst="rect">
            <a:avLst/>
          </a:prstGeom>
          <a:solidFill>
            <a:srgbClr val="C28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0000" y="1850000"/>
            <a:ext cx="4400000" cy="12526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1A2A44"/>
                </a:solidFill>
                <a:latin typeface="Helvetica"/>
              </a:rPr>
              <a:t>SDK-gated cluster + 逃生旗标</a:t>
            </a:r>
          </a:p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1A2A44"/>
                </a:solidFill>
                <a:latin typeface="Helvetica"/>
              </a:rPr>
              <a:t>PET_ALLOW_MISSING_SDK=1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60000" y="1790000"/>
            <a:ext cx="6072000" cy="1322666"/>
          </a:xfrm>
          <a:prstGeom prst="rect">
            <a:avLst/>
          </a:prstGeom>
          <a:solidFill>
            <a:srgbClr val="F0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40000" y="1850000"/>
            <a:ext cx="5772000" cy="12526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1">
                <a:solidFill>
                  <a:srgbClr val="3C404C"/>
                </a:solidFill>
                <a:latin typeface="Helvetica"/>
              </a:rPr>
              <a:t>Rockchip vendor wheels 不在 PyPI。强制装会破</a:t>
            </a:r>
          </a:p>
          <a:p>
            <a:pPr algn="l">
              <a:lnSpc>
                <a:spcPct val="135000"/>
              </a:lnSpc>
            </a:pPr>
            <a:r>
              <a:rPr sz="1100" b="0" i="1">
                <a:solidFill>
                  <a:srgbClr val="3C404C"/>
                </a:solidFill>
                <a:latin typeface="Helvetica"/>
              </a:rPr>
              <a:t>所有非 vendor 环境；强制跳会让 mock 蔓延。</a:t>
            </a:r>
          </a:p>
          <a:p>
            <a:pPr algn="l">
              <a:lnSpc>
                <a:spcPct val="135000"/>
              </a:lnSpc>
            </a:pPr>
            <a:r>
              <a:rPr sz="1100" b="0" i="1">
                <a:solidFill>
                  <a:srgbClr val="3C404C"/>
                </a:solidFill>
                <a:latin typeface="Helvetica"/>
              </a:rPr>
              <a:t>cluster 按 SDK 分组精细降级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0000" y="3192666"/>
            <a:ext cx="4600000" cy="1322666"/>
          </a:xfrm>
          <a:prstGeom prst="rect">
            <a:avLst/>
          </a:prstGeom>
          <a:solidFill>
            <a:srgbClr val="FFFFFF"/>
          </a:solidFill>
          <a:ln w="12700">
            <a:solidFill>
              <a:srgbClr val="C28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000" y="3192666"/>
            <a:ext cx="100000" cy="1322666"/>
          </a:xfrm>
          <a:prstGeom prst="rect">
            <a:avLst/>
          </a:prstGeom>
          <a:solidFill>
            <a:srgbClr val="C28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0000" y="3252666"/>
            <a:ext cx="4400000" cy="12526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1A2A44"/>
                </a:solidFill>
                <a:latin typeface="Helvetica"/>
              </a:rPr>
              <a:t>RKLLMRunner 双模</a:t>
            </a:r>
          </a:p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1A2A44"/>
                </a:solidFill>
                <a:latin typeface="Helvetica"/>
              </a:rPr>
              <a:t>(PC simulated ↔ ADB on-device)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60000" y="3192666"/>
            <a:ext cx="6072000" cy="1322666"/>
          </a:xfrm>
          <a:prstGeom prst="rect">
            <a:avLst/>
          </a:prstGeom>
          <a:solidFill>
            <a:srgbClr val="F0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40000" y="3252666"/>
            <a:ext cx="5772000" cy="12526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1">
                <a:solidFill>
                  <a:srgbClr val="3C404C"/>
                </a:solidFill>
                <a:latin typeface="Helvetica"/>
              </a:rPr>
              <a:t>硬件未到 CI 前，pet-eval 的 quantized_vlm_evaluator</a:t>
            </a:r>
          </a:p>
          <a:p>
            <a:pPr algn="l">
              <a:lnSpc>
                <a:spcPct val="135000"/>
              </a:lnSpc>
            </a:pPr>
            <a:r>
              <a:rPr sz="1100" b="0" i="1">
                <a:solidFill>
                  <a:srgbClr val="3C404C"/>
                </a:solidFill>
                <a:latin typeface="Helvetica"/>
              </a:rPr>
              <a:t>就能本地走通全路径。硬件接入时 flip target+device_id</a:t>
            </a:r>
          </a:p>
          <a:p>
            <a:pPr algn="l">
              <a:lnSpc>
                <a:spcPct val="135000"/>
              </a:lnSpc>
            </a:pPr>
            <a:r>
              <a:rPr sz="1100" b="0" i="1">
                <a:solidFill>
                  <a:srgbClr val="3C404C"/>
                </a:solidFill>
                <a:latin typeface="Helvetica"/>
              </a:rPr>
              <a:t>代码不变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0000" y="4595332"/>
            <a:ext cx="4600000" cy="1322666"/>
          </a:xfrm>
          <a:prstGeom prst="rect">
            <a:avLst/>
          </a:prstGeom>
          <a:solidFill>
            <a:srgbClr val="FFFFFF"/>
          </a:solidFill>
          <a:ln w="12700">
            <a:solidFill>
              <a:srgbClr val="C28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60000" y="4595332"/>
            <a:ext cx="100000" cy="1322666"/>
          </a:xfrm>
          <a:prstGeom prst="rect">
            <a:avLst/>
          </a:prstGeom>
          <a:solidFill>
            <a:srgbClr val="C28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0000" y="4655332"/>
            <a:ext cx="4400000" cy="12526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1A2A44"/>
                </a:solidFill>
                <a:latin typeface="Helvetica"/>
              </a:rPr>
              <a:t>DATASETS cache key</a:t>
            </a:r>
          </a:p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1A2A44"/>
                </a:solidFill>
                <a:latin typeface="Helvetica"/>
              </a:rPr>
              <a:t>sha256(modality|source_uri|num_samples)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60000" y="4595332"/>
            <a:ext cx="6072000" cy="1322666"/>
          </a:xfrm>
          <a:prstGeom prst="rect">
            <a:avLst/>
          </a:prstGeom>
          <a:solidFill>
            <a:srgbClr val="F0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40000" y="4655332"/>
            <a:ext cx="5772000" cy="12526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1">
                <a:solidFill>
                  <a:srgbClr val="3C404C"/>
                </a:solidFill>
                <a:latin typeface="Helvetica"/>
              </a:rPr>
              <a:t>orchestrator resume-from-cache 依赖确定性 card_id。</a:t>
            </a:r>
          </a:p>
          <a:p>
            <a:pPr algn="l">
              <a:lnSpc>
                <a:spcPct val="135000"/>
              </a:lnSpc>
            </a:pPr>
            <a:r>
              <a:rPr sz="1100" b="0" i="1">
                <a:solidFill>
                  <a:srgbClr val="3C404C"/>
                </a:solidFill>
                <a:latin typeface="Helvetica"/>
              </a:rPr>
              <a:t>带时间戳的文件名会让 stage_config_sha 每次漂。</a:t>
            </a:r>
          </a:p>
          <a:p>
            <a:pPr algn="l">
              <a:lnSpc>
                <a:spcPct val="135000"/>
              </a:lnSpc>
            </a:pPr>
            <a:r>
              <a:rPr sz="1100" b="0" i="1">
                <a:solidFill>
                  <a:srgbClr val="3C404C"/>
                </a:solidFill>
                <a:latin typeface="Helvetica"/>
              </a:rPr>
              <a:t>cache 命中 = 几分钟 vs 几小时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0000" y="6418000"/>
            <a:ext cx="50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787882"/>
                </a:solidFill>
                <a:latin typeface="Helvetica"/>
              </a:rPr>
              <a:t>Train-Pet-Pipeline · Technical Overview · matrix 2026.10-ecosystem-cleanup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0000" y="6358000"/>
            <a:ext cx="50000" cy="220000"/>
          </a:xfrm>
          <a:prstGeom prst="rect">
            <a:avLst/>
          </a:prstGeom>
          <a:solidFill>
            <a:srgbClr val="C28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0000" y="6368000"/>
            <a:ext cx="20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28E2E"/>
                </a:solidFill>
                <a:latin typeface="Menlo"/>
              </a:rPr>
              <a:t>pet-quantize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0000"/>
          </a:xfrm>
          <a:prstGeom prst="rect">
            <a:avLst/>
          </a:prstGeom>
          <a:solidFill>
            <a:srgbClr val="C25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60000" y="200000"/>
            <a:ext cx="2000000" cy="3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C25E3E"/>
                </a:solidFill>
                <a:latin typeface="Helvetica"/>
              </a:rPr>
              <a:t>§8 · pet-ota (1/3)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0000" y="420000"/>
            <a:ext cx="11272000" cy="6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1A2A44"/>
                </a:solidFill>
                <a:latin typeface="Helvetica"/>
              </a:rPr>
              <a:t>pet-ota — 发布 + canary rollout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0000" y="1020000"/>
            <a:ext cx="112720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787882"/>
                </a:solidFill>
                <a:latin typeface="Helvetica"/>
              </a:rPr>
              <a:t>3 OTA backends + 5-state FSM · resume-from-state · optional signing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60000" y="1460000"/>
            <a:ext cx="11272000" cy="15000"/>
          </a:xfrm>
          <a:prstGeom prst="rect">
            <a:avLst/>
          </a:prstGeom>
          <a:solidFill>
            <a:srgbClr val="C8C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591000" y="1650000"/>
            <a:ext cx="95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591000" y="1650000"/>
            <a:ext cx="950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787882"/>
                </a:solidFill>
                <a:latin typeface="Menlo"/>
              </a:rPr>
              <a:t>pet-schema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6000" y="1825000"/>
            <a:ext cx="50000" cy="10000"/>
          </a:xfrm>
          <a:prstGeom prst="rect">
            <a:avLst/>
          </a:prstGeom>
          <a:solidFill>
            <a:srgbClr val="C8C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01000" y="1650000"/>
            <a:ext cx="95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01000" y="1650000"/>
            <a:ext cx="950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787882"/>
                </a:solidFill>
                <a:latin typeface="Menlo"/>
              </a:rPr>
              <a:t>pet-data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56000" y="1825000"/>
            <a:ext cx="50000" cy="10000"/>
          </a:xfrm>
          <a:prstGeom prst="rect">
            <a:avLst/>
          </a:prstGeom>
          <a:solidFill>
            <a:srgbClr val="C8C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611000" y="1650000"/>
            <a:ext cx="95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11000" y="1650000"/>
            <a:ext cx="950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787882"/>
                </a:solidFill>
                <a:latin typeface="Menlo"/>
              </a:rPr>
              <a:t>pet-annotation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566000" y="1825000"/>
            <a:ext cx="50000" cy="10000"/>
          </a:xfrm>
          <a:prstGeom prst="rect">
            <a:avLst/>
          </a:prstGeom>
          <a:solidFill>
            <a:srgbClr val="C8C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1000" y="1650000"/>
            <a:ext cx="95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21000" y="1650000"/>
            <a:ext cx="950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787882"/>
                </a:solidFill>
                <a:latin typeface="Menlo"/>
              </a:rPr>
              <a:t>pet-train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76000" y="1825000"/>
            <a:ext cx="50000" cy="10000"/>
          </a:xfrm>
          <a:prstGeom prst="rect">
            <a:avLst/>
          </a:prstGeom>
          <a:solidFill>
            <a:srgbClr val="C8C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631000" y="1650000"/>
            <a:ext cx="95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31000" y="1650000"/>
            <a:ext cx="950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787882"/>
                </a:solidFill>
                <a:latin typeface="Menlo"/>
              </a:rPr>
              <a:t>pet-eval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586000" y="1825000"/>
            <a:ext cx="50000" cy="10000"/>
          </a:xfrm>
          <a:prstGeom prst="rect">
            <a:avLst/>
          </a:prstGeom>
          <a:solidFill>
            <a:srgbClr val="C8C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41000" y="1650000"/>
            <a:ext cx="95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41000" y="1650000"/>
            <a:ext cx="950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787882"/>
                </a:solidFill>
                <a:latin typeface="Menlo"/>
              </a:rPr>
              <a:t>pet-quantize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596000" y="1825000"/>
            <a:ext cx="50000" cy="10000"/>
          </a:xfrm>
          <a:prstGeom prst="rect">
            <a:avLst/>
          </a:prstGeom>
          <a:solidFill>
            <a:srgbClr val="C8C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651000" y="1650000"/>
            <a:ext cx="950000" cy="360000"/>
          </a:xfrm>
          <a:prstGeom prst="rect">
            <a:avLst/>
          </a:prstGeom>
          <a:solidFill>
            <a:srgbClr val="C25E3E"/>
          </a:solidFill>
          <a:ln w="15240">
            <a:solidFill>
              <a:srgbClr val="C25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51000" y="1650000"/>
            <a:ext cx="950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Menlo"/>
              </a:rPr>
              <a:t>pet-ota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591000" y="2130000"/>
            <a:ext cx="7010000" cy="140000"/>
          </a:xfrm>
          <a:prstGeom prst="rect">
            <a:avLst/>
          </a:prstGeom>
          <a:solidFill>
            <a:srgbClr val="F0F1F4"/>
          </a:solidFill>
          <a:ln w="7620">
            <a:solidFill>
              <a:srgbClr val="2F6A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591000" y="2130000"/>
            <a:ext cx="7010000" cy="14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787882"/>
                </a:solidFill>
                <a:latin typeface="Menlo"/>
              </a:rPr>
              <a:t>pet-infra · shared runtime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01000" y="2350000"/>
            <a:ext cx="1400000" cy="180000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7A57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01000" y="2350000"/>
            <a:ext cx="1400000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7A57A8"/>
                </a:solidFill>
                <a:latin typeface="Menlo"/>
              </a:rPr>
              <a:t>pet-id · independent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60000" y="2600000"/>
            <a:ext cx="5100000" cy="70000"/>
          </a:xfrm>
          <a:prstGeom prst="rect">
            <a:avLst/>
          </a:prstGeom>
          <a:solidFill>
            <a:srgbClr val="C25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0000" y="2740000"/>
            <a:ext cx="5100000" cy="3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C25E3E"/>
                </a:solidFill>
                <a:latin typeface="Helvetica"/>
              </a:rPr>
              <a:t>做什么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0000" y="3160000"/>
            <a:ext cx="4940000" cy="2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C25E3E"/>
                </a:solidFill>
                <a:latin typeface="Helvetica"/>
              </a:rPr>
              <a:t>▪  </a:t>
            </a:r>
            <a:r>
              <a:rPr sz="1250">
                <a:solidFill>
                  <a:srgbClr val="1A2A44"/>
                </a:solidFill>
                <a:latin typeface="Helvetica"/>
              </a:rPr>
              <a:t>local / s3 / http backends</a:t>
            </a:r>
            <a:r>
              <a:rPr sz="1150" i="1">
                <a:solidFill>
                  <a:srgbClr val="787882"/>
                </a:solidFill>
                <a:latin typeface="Helvetica"/>
              </a:rPr>
              <a:t>  — 3 个 OTA registry plugins</a:t>
            </a:r>
          </a:p>
          <a:p>
            <a:pPr algn="l">
              <a:lnSpc>
                <a:spcPct val="135000"/>
              </a:lnSpc>
            </a:pPr>
            <a:r>
              <a:rPr sz="1250" b="1">
                <a:solidFill>
                  <a:srgbClr val="C25E3E"/>
                </a:solidFill>
                <a:latin typeface="Helvetica"/>
              </a:rPr>
              <a:t>▪  </a:t>
            </a:r>
            <a:r>
              <a:rPr sz="1250">
                <a:solidFill>
                  <a:srgbClr val="1A2A44"/>
                </a:solidFill>
                <a:latin typeface="Helvetica"/>
              </a:rPr>
              <a:t>canary_rollout FSM</a:t>
            </a:r>
            <a:r>
              <a:rPr sz="1150" i="1">
                <a:solidFill>
                  <a:srgbClr val="787882"/>
                </a:solidFill>
                <a:latin typeface="Helvetica"/>
              </a:rPr>
              <a:t>  — 5 states · 48h observation window</a:t>
            </a:r>
          </a:p>
          <a:p>
            <a:pPr algn="l">
              <a:lnSpc>
                <a:spcPct val="135000"/>
              </a:lnSpc>
            </a:pPr>
            <a:r>
              <a:rPr sz="1250" b="1">
                <a:solidFill>
                  <a:srgbClr val="C25E3E"/>
                </a:solidFill>
                <a:latin typeface="Helvetica"/>
              </a:rPr>
              <a:t>▪  </a:t>
            </a:r>
            <a:r>
              <a:rPr sz="1250">
                <a:solidFill>
                  <a:srgbClr val="1A2A44"/>
                </a:solidFill>
                <a:latin typeface="Helvetica"/>
              </a:rPr>
              <a:t>resume-from-state</a:t>
            </a:r>
            <a:r>
              <a:rPr sz="1150" i="1">
                <a:solidFill>
                  <a:srgbClr val="787882"/>
                </a:solidFill>
                <a:latin typeface="Helvetica"/>
              </a:rPr>
              <a:t>  — deployments/&lt;id&gt;.json 续跑</a:t>
            </a:r>
          </a:p>
          <a:p>
            <a:pPr algn="l">
              <a:lnSpc>
                <a:spcPct val="135000"/>
              </a:lnSpc>
            </a:pPr>
            <a:r>
              <a:rPr sz="1250" b="1">
                <a:solidFill>
                  <a:srgbClr val="C25E3E"/>
                </a:solidFill>
                <a:latin typeface="Helvetica"/>
              </a:rPr>
              <a:t>▪  </a:t>
            </a:r>
            <a:r>
              <a:rPr sz="1250">
                <a:solidFill>
                  <a:srgbClr val="1A2A44"/>
                </a:solidFill>
                <a:latin typeface="Helvetica"/>
              </a:rPr>
              <a:t>manifest SHA-256 verify</a:t>
            </a:r>
            <a:r>
              <a:rPr sz="1150" i="1">
                <a:solidFill>
                  <a:srgbClr val="787882"/>
                </a:solidFill>
                <a:latin typeface="Helvetica"/>
              </a:rPr>
              <a:t>  — 每 tarball 校验</a:t>
            </a:r>
          </a:p>
          <a:p>
            <a:pPr algn="l">
              <a:lnSpc>
                <a:spcPct val="135000"/>
              </a:lnSpc>
            </a:pPr>
            <a:r>
              <a:rPr sz="1250" b="1">
                <a:solidFill>
                  <a:srgbClr val="C25E3E"/>
                </a:solidFill>
                <a:latin typeface="Helvetica"/>
              </a:rPr>
              <a:t>▪  </a:t>
            </a:r>
            <a:r>
              <a:rPr sz="1250">
                <a:solidFill>
                  <a:srgbClr val="1A2A44"/>
                </a:solidFill>
                <a:latin typeface="Helvetica"/>
              </a:rPr>
              <a:t>bsdiff4 delta + tenacity retry</a:t>
            </a:r>
            <a:r>
              <a:rPr sz="1150" i="1">
                <a:solidFill>
                  <a:srgbClr val="787882"/>
                </a:solidFill>
                <a:latin typeface="Helvetica"/>
              </a:rPr>
              <a:t>  — 大文件 IO flake 3 次重试</a:t>
            </a:r>
          </a:p>
          <a:p>
            <a:pPr algn="l">
              <a:lnSpc>
                <a:spcPct val="135000"/>
              </a:lnSpc>
            </a:pPr>
            <a:r>
              <a:rPr sz="1250" b="1">
                <a:solidFill>
                  <a:srgbClr val="C25E3E"/>
                </a:solidFill>
                <a:latin typeface="Helvetica"/>
              </a:rPr>
              <a:t>▪  </a:t>
            </a:r>
            <a:r>
              <a:rPr sz="1250">
                <a:solidFill>
                  <a:srgbClr val="1A2A44"/>
                </a:solidFill>
                <a:latin typeface="Helvetica"/>
              </a:rPr>
              <a:t>monitoring + alert</a:t>
            </a:r>
            <a:r>
              <a:rPr sz="1150" i="1">
                <a:solidFill>
                  <a:srgbClr val="787882"/>
                </a:solidFill>
                <a:latin typeface="Helvetica"/>
              </a:rPr>
              <a:t>  — update_rate + alert hook</a:t>
            </a:r>
          </a:p>
          <a:p>
            <a:pPr algn="l">
              <a:lnSpc>
                <a:spcPct val="135000"/>
              </a:lnSpc>
            </a:pPr>
            <a:r>
              <a:rPr sz="1250" b="1">
                <a:solidFill>
                  <a:srgbClr val="C25E3E"/>
                </a:solidFill>
                <a:latin typeface="Helvetica"/>
              </a:rPr>
              <a:t>▪  </a:t>
            </a:r>
            <a:r>
              <a:rPr sz="1250">
                <a:solidFill>
                  <a:srgbClr val="1A2A44"/>
                </a:solidFill>
                <a:latin typeface="Helvetica"/>
              </a:rPr>
              <a:t>optional signing</a:t>
            </a:r>
            <a:r>
              <a:rPr sz="1150" i="1">
                <a:solidFill>
                  <a:srgbClr val="787882"/>
                </a:solidFill>
                <a:latin typeface="Helvetica"/>
              </a:rPr>
              <a:t>  — lazy import pet_quantize.verify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40000" y="2600000"/>
            <a:ext cx="5100000" cy="70000"/>
          </a:xfrm>
          <a:prstGeom prst="rect">
            <a:avLst/>
          </a:prstGeom>
          <a:solidFill>
            <a:srgbClr val="C8C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00000" y="2740000"/>
            <a:ext cx="5100000" cy="3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787882"/>
                </a:solidFill>
                <a:latin typeface="Helvetica"/>
              </a:rPr>
              <a:t>不做什么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00000" y="3160000"/>
            <a:ext cx="4940000" cy="2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C8CCD2"/>
                </a:solidFill>
                <a:latin typeface="Helvetica"/>
              </a:rPr>
              <a:t>▪  </a:t>
            </a:r>
            <a:r>
              <a:rPr sz="1250">
                <a:solidFill>
                  <a:srgbClr val="787882"/>
                </a:solidFill>
                <a:latin typeface="Helvetica"/>
              </a:rPr>
              <a:t>不量化转换</a:t>
            </a:r>
            <a:r>
              <a:rPr sz="1150" i="1">
                <a:solidFill>
                  <a:srgbClr val="787882"/>
                </a:solidFill>
                <a:latin typeface="Helvetica"/>
              </a:rPr>
              <a:t>  — pet-quantize 负责</a:t>
            </a:r>
          </a:p>
          <a:p>
            <a:pPr algn="l">
              <a:lnSpc>
                <a:spcPct val="135000"/>
              </a:lnSpc>
            </a:pPr>
            <a:r>
              <a:rPr sz="1250" b="1">
                <a:solidFill>
                  <a:srgbClr val="C8CCD2"/>
                </a:solidFill>
                <a:latin typeface="Helvetica"/>
              </a:rPr>
              <a:t>▪  </a:t>
            </a:r>
            <a:r>
              <a:rPr sz="1250">
                <a:solidFill>
                  <a:srgbClr val="787882"/>
                </a:solidFill>
                <a:latin typeface="Helvetica"/>
              </a:rPr>
              <a:t>不签名</a:t>
            </a:r>
            <a:r>
              <a:rPr sz="1150" i="1">
                <a:solidFill>
                  <a:srgbClr val="787882"/>
                </a:solidFill>
                <a:latin typeface="Helvetica"/>
              </a:rPr>
              <a:t>  — signing optional · 缺 pet-quantize 软降级</a:t>
            </a:r>
          </a:p>
          <a:p>
            <a:pPr algn="l">
              <a:lnSpc>
                <a:spcPct val="135000"/>
              </a:lnSpc>
            </a:pPr>
            <a:r>
              <a:rPr sz="1250" b="1">
                <a:solidFill>
                  <a:srgbClr val="C8CCD2"/>
                </a:solidFill>
                <a:latin typeface="Helvetica"/>
              </a:rPr>
              <a:t>▪  </a:t>
            </a:r>
            <a:r>
              <a:rPr sz="1250">
                <a:solidFill>
                  <a:srgbClr val="787882"/>
                </a:solidFill>
                <a:latin typeface="Helvetica"/>
              </a:rPr>
              <a:t>不做实验 tracking</a:t>
            </a:r>
            <a:r>
              <a:rPr sz="1150" i="1">
                <a:solidFill>
                  <a:srgbClr val="787882"/>
                </a:solidFill>
                <a:latin typeface="Helvetica"/>
              </a:rPr>
              <a:t>  — orchestrator 负责</a:t>
            </a:r>
          </a:p>
          <a:p>
            <a:pPr algn="l">
              <a:lnSpc>
                <a:spcPct val="135000"/>
              </a:lnSpc>
            </a:pPr>
            <a:r>
              <a:rPr sz="1250" b="1">
                <a:solidFill>
                  <a:srgbClr val="C8CCD2"/>
                </a:solidFill>
                <a:latin typeface="Helvetica"/>
              </a:rPr>
              <a:t>▪  </a:t>
            </a:r>
            <a:r>
              <a:rPr sz="1250">
                <a:solidFill>
                  <a:srgbClr val="787882"/>
                </a:solidFill>
                <a:latin typeface="Helvetica"/>
              </a:rPr>
              <a:t>不 depend on RK SDK</a:t>
            </a:r>
            <a:r>
              <a:rPr sz="1150" i="1">
                <a:solidFill>
                  <a:srgbClr val="787882"/>
                </a:solidFill>
                <a:latin typeface="Helvetica"/>
              </a:rPr>
              <a:t>  — pet-ota 纯 Python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0000" y="6418000"/>
            <a:ext cx="50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787882"/>
                </a:solidFill>
                <a:latin typeface="Helvetica"/>
              </a:rPr>
              <a:t>Train-Pet-Pipeline · Technical Overview · matrix 2026.10-ecosystem-cleanup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0000" y="6358000"/>
            <a:ext cx="50000" cy="220000"/>
          </a:xfrm>
          <a:prstGeom prst="rect">
            <a:avLst/>
          </a:prstGeom>
          <a:solidFill>
            <a:srgbClr val="C25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0000" y="6368000"/>
            <a:ext cx="20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25E3E"/>
                </a:solidFill>
                <a:latin typeface="Menlo"/>
              </a:rPr>
              <a:t>pet-ota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0000"/>
          </a:xfrm>
          <a:prstGeom prst="rect">
            <a:avLst/>
          </a:prstGeom>
          <a:solidFill>
            <a:srgbClr val="C25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60000" y="200000"/>
            <a:ext cx="2000000" cy="3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C25E3E"/>
                </a:solidFill>
                <a:latin typeface="Helvetica"/>
              </a:rPr>
              <a:t>§8 · pet-ota (2/3)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0000" y="420000"/>
            <a:ext cx="11272000" cy="6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1A2A44"/>
                </a:solidFill>
                <a:latin typeface="Helvetica"/>
              </a:rPr>
              <a:t>pet-ota — Canary rollout 5-state FSM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0000" y="1020000"/>
            <a:ext cx="112720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787882"/>
                </a:solidFill>
                <a:latin typeface="Helvetica"/>
              </a:rPr>
              <a:t>两套 backend 共存: OTA registry plugin (artifact) + LocalBackend (stateful)</a:t>
            </a:r>
          </a:p>
        </p:txBody>
      </p:sp>
      <p:sp>
        <p:nvSpPr>
          <p:cNvPr id="6" name="Rectangle 5"/>
          <p:cNvSpPr/>
          <p:nvPr/>
        </p:nvSpPr>
        <p:spPr>
          <a:xfrm>
            <a:off x="460000" y="1460000"/>
            <a:ext cx="11272000" cy="15000"/>
          </a:xfrm>
          <a:prstGeom prst="rect">
            <a:avLst/>
          </a:prstGeom>
          <a:solidFill>
            <a:srgbClr val="C8C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60000" y="1750000"/>
            <a:ext cx="3477333" cy="70000"/>
          </a:xfrm>
          <a:prstGeom prst="rect">
            <a:avLst/>
          </a:prstGeom>
          <a:solidFill>
            <a:srgbClr val="C25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0000" y="1870000"/>
            <a:ext cx="3317333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C25E3E"/>
                </a:solidFill>
                <a:latin typeface="Helvetica"/>
              </a:rPr>
              <a:t>OTA Registry Plugins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" y="2270000"/>
            <a:ext cx="3477333" cy="1209333"/>
          </a:xfrm>
          <a:prstGeom prst="rect">
            <a:avLst/>
          </a:prstGeom>
          <a:solidFill>
            <a:srgbClr val="FFFFFF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330000"/>
            <a:ext cx="3317333" cy="3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A2A44"/>
                </a:solidFill>
                <a:latin typeface="Menlo"/>
              </a:rPr>
              <a:t>local_backend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0000" y="2670000"/>
            <a:ext cx="3317333" cy="7693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787882"/>
                </a:solidFill>
                <a:latin typeface="Helvetica"/>
              </a:rPr>
              <a:t>shutil.copy2 + manifest.json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0000" y="3539333"/>
            <a:ext cx="3477333" cy="1209333"/>
          </a:xfrm>
          <a:prstGeom prst="rect">
            <a:avLst/>
          </a:prstGeom>
          <a:solidFill>
            <a:srgbClr val="FFFFFF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599333"/>
            <a:ext cx="3317333" cy="3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A2A44"/>
                </a:solidFill>
                <a:latin typeface="Menlo"/>
              </a:rPr>
              <a:t>s3_backend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0000" y="3939333"/>
            <a:ext cx="3317333" cy="7693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787882"/>
                </a:solidFill>
                <a:latin typeface="Helvetica"/>
              </a:rPr>
              <a:t>boto3 + STORAGE registry</a:t>
            </a:r>
          </a:p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787882"/>
                </a:solidFill>
                <a:latin typeface="Helvetica"/>
              </a:rPr>
              <a:t>(file/local/s3/http source)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" y="4808666"/>
            <a:ext cx="3477333" cy="1209333"/>
          </a:xfrm>
          <a:prstGeom prst="rect">
            <a:avLst/>
          </a:prstGeom>
          <a:solidFill>
            <a:srgbClr val="FFFFFF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868666"/>
            <a:ext cx="3317333" cy="3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A2A44"/>
                </a:solidFill>
                <a:latin typeface="Menlo"/>
              </a:rPr>
              <a:t>http_backend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0000" y="5208666"/>
            <a:ext cx="3317333" cy="7693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787882"/>
                </a:solidFill>
                <a:latin typeface="Helvetica"/>
              </a:rPr>
              <a:t>PUT + bearer/basic/no-auth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57333" y="1750000"/>
            <a:ext cx="3477333" cy="70000"/>
          </a:xfrm>
          <a:prstGeom prst="rect">
            <a:avLst/>
          </a:prstGeom>
          <a:solidFill>
            <a:srgbClr val="C25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17333" y="1870000"/>
            <a:ext cx="3317333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C25E3E"/>
                </a:solidFill>
                <a:latin typeface="Helvetica"/>
              </a:rPr>
              <a:t>Canary FSM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57333" y="2270000"/>
            <a:ext cx="3477333" cy="1209333"/>
          </a:xfrm>
          <a:prstGeom prst="rect">
            <a:avLst/>
          </a:prstGeom>
          <a:solidFill>
            <a:srgbClr val="FFFFFF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17333" y="2330000"/>
            <a:ext cx="3317333" cy="3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A2A44"/>
                </a:solidFill>
                <a:latin typeface="Menlo"/>
              </a:rPr>
              <a:t>gate_check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17333" y="2670000"/>
            <a:ext cx="3317333" cy="7693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787882"/>
                </a:solidFill>
                <a:latin typeface="Helvetica"/>
              </a:rPr>
              <a:t>5 checks · eval_passed</a:t>
            </a:r>
          </a:p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787882"/>
                </a:solidFill>
                <a:latin typeface="Helvetica"/>
              </a:rPr>
              <a:t>dpo_pairs ≥ min_* from params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57333" y="3539333"/>
            <a:ext cx="3477333" cy="1209333"/>
          </a:xfrm>
          <a:prstGeom prst="rect">
            <a:avLst/>
          </a:prstGeom>
          <a:solidFill>
            <a:srgbClr val="FFFFFF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17333" y="3599333"/>
            <a:ext cx="3317333" cy="3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A2A44"/>
                </a:solidFill>
                <a:latin typeface="Menlo"/>
              </a:rPr>
              <a:t>canary_deploying/observing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17333" y="3939333"/>
            <a:ext cx="3317333" cy="7693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787882"/>
                </a:solidFill>
                <a:latin typeface="Helvetica"/>
              </a:rPr>
              <a:t>canary_percentage=5%</a:t>
            </a:r>
          </a:p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787882"/>
                </a:solidFill>
                <a:latin typeface="Helvetica"/>
              </a:rPr>
              <a:t>observe=48h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57333" y="4808666"/>
            <a:ext cx="3477333" cy="1209333"/>
          </a:xfrm>
          <a:prstGeom prst="rect">
            <a:avLst/>
          </a:prstGeom>
          <a:solidFill>
            <a:srgbClr val="FFFFFF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17333" y="4868666"/>
            <a:ext cx="3317333" cy="3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A2A44"/>
                </a:solidFill>
                <a:latin typeface="Menlo"/>
              </a:rPr>
              <a:t>full_deploying / rolling_back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17333" y="5208666"/>
            <a:ext cx="3317333" cy="7693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787882"/>
                </a:solidFill>
                <a:latin typeface="Helvetica"/>
              </a:rPr>
              <a:t>rollback_timeout=5min</a:t>
            </a:r>
          </a:p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787882"/>
                </a:solidFill>
                <a:latin typeface="Helvetica"/>
              </a:rPr>
              <a:t>failure_rate=0.10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54666" y="1750000"/>
            <a:ext cx="3477333" cy="70000"/>
          </a:xfrm>
          <a:prstGeom prst="rect">
            <a:avLst/>
          </a:prstGeom>
          <a:solidFill>
            <a:srgbClr val="C25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14666" y="1870000"/>
            <a:ext cx="3317333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C25E3E"/>
                </a:solidFill>
                <a:latin typeface="Helvetica"/>
              </a:rPr>
              <a:t>Packaging + Monitoring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54666" y="2270000"/>
            <a:ext cx="3477333" cy="1209333"/>
          </a:xfrm>
          <a:prstGeom prst="rect">
            <a:avLst/>
          </a:prstGeom>
          <a:solidFill>
            <a:srgbClr val="FFFFFF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14666" y="2330000"/>
            <a:ext cx="3317333" cy="3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A2A44"/>
                </a:solidFill>
                <a:latin typeface="Menlo"/>
              </a:rPr>
              <a:t>make_delta.py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14666" y="2670000"/>
            <a:ext cx="3317333" cy="7693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787882"/>
                </a:solidFill>
                <a:latin typeface="Helvetica"/>
              </a:rPr>
              <a:t>bsdiff4 + tenacity retry(3)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054666" y="3539333"/>
            <a:ext cx="3477333" cy="1209333"/>
          </a:xfrm>
          <a:prstGeom prst="rect">
            <a:avLst/>
          </a:prstGeom>
          <a:solidFill>
            <a:srgbClr val="FFFFFF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14666" y="3599333"/>
            <a:ext cx="3317333" cy="3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A2A44"/>
                </a:solidFill>
                <a:latin typeface="Menlo"/>
              </a:rPr>
              <a:t>upload_artifact.py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14666" y="3939333"/>
            <a:ext cx="3317333" cy="7693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787882"/>
                </a:solidFill>
                <a:latin typeface="Helvetica"/>
              </a:rPr>
              <a:t>SHA-256 verify</a:t>
            </a:r>
          </a:p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787882"/>
                </a:solidFill>
                <a:latin typeface="Helvetica"/>
              </a:rPr>
              <a:t>lazy pet_quantize signing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054666" y="4808666"/>
            <a:ext cx="3477333" cy="1209333"/>
          </a:xfrm>
          <a:prstGeom prst="rect">
            <a:avLst/>
          </a:prstGeom>
          <a:solidFill>
            <a:srgbClr val="FFFFFF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14666" y="4868666"/>
            <a:ext cx="3317333" cy="3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A2A44"/>
                </a:solidFill>
                <a:latin typeface="Menlo"/>
              </a:rPr>
              <a:t>check_update_rate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14666" y="5208666"/>
            <a:ext cx="3317333" cy="7693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787882"/>
                </a:solidFill>
                <a:latin typeface="Helvetica"/>
              </a:rPr>
              <a:t>device pending timeout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0000" y="6138000"/>
            <a:ext cx="10872000" cy="2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787882"/>
                </a:solidFill>
                <a:latin typeface="Helvetica"/>
              </a:rPr>
              <a:t>legacy backend/LocalBackend (stateful) 驱动 FSM; plugins/backends/LocalBackendPlugin 做 artifact 发布。职责不重叠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0000" y="6418000"/>
            <a:ext cx="50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787882"/>
                </a:solidFill>
                <a:latin typeface="Helvetica"/>
              </a:rPr>
              <a:t>Train-Pet-Pipeline · Technical Overview · matrix 2026.10-ecosystem-cleanup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60000" y="6358000"/>
            <a:ext cx="50000" cy="220000"/>
          </a:xfrm>
          <a:prstGeom prst="rect">
            <a:avLst/>
          </a:prstGeom>
          <a:solidFill>
            <a:srgbClr val="C25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40000" y="6368000"/>
            <a:ext cx="20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25E3E"/>
                </a:solidFill>
                <a:latin typeface="Menlo"/>
              </a:rPr>
              <a:t>pet-ota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0000"/>
          </a:xfrm>
          <a:prstGeom prst="rect">
            <a:avLst/>
          </a:prstGeom>
          <a:solidFill>
            <a:srgbClr val="C25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60000" y="200000"/>
            <a:ext cx="2000000" cy="3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C25E3E"/>
                </a:solidFill>
                <a:latin typeface="Helvetica"/>
              </a:rPr>
              <a:t>§8 · pet-ota (3/3)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0000" y="420000"/>
            <a:ext cx="11272000" cy="6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1A2A44"/>
                </a:solidFill>
                <a:latin typeface="Helvetica"/>
              </a:rPr>
              <a:t>pet-ota — 关键设计决策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0000" y="1020000"/>
            <a:ext cx="112720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787882"/>
                </a:solidFill>
                <a:latin typeface="Helvetica"/>
              </a:rPr>
              <a:t>双 backend · resume-from-state · bsdiff4 retry</a:t>
            </a:r>
          </a:p>
        </p:txBody>
      </p:sp>
      <p:sp>
        <p:nvSpPr>
          <p:cNvPr id="6" name="Rectangle 5"/>
          <p:cNvSpPr/>
          <p:nvPr/>
        </p:nvSpPr>
        <p:spPr>
          <a:xfrm>
            <a:off x="460000" y="1460000"/>
            <a:ext cx="11272000" cy="15000"/>
          </a:xfrm>
          <a:prstGeom prst="rect">
            <a:avLst/>
          </a:prstGeom>
          <a:solidFill>
            <a:srgbClr val="C8C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60000" y="1790000"/>
            <a:ext cx="4600000" cy="1322666"/>
          </a:xfrm>
          <a:prstGeom prst="rect">
            <a:avLst/>
          </a:prstGeom>
          <a:solidFill>
            <a:srgbClr val="FFFFFF"/>
          </a:solidFill>
          <a:ln w="12700">
            <a:solidFill>
              <a:srgbClr val="C25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60000" y="1790000"/>
            <a:ext cx="100000" cy="1322666"/>
          </a:xfrm>
          <a:prstGeom prst="rect">
            <a:avLst/>
          </a:prstGeom>
          <a:solidFill>
            <a:srgbClr val="C25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0000" y="1850000"/>
            <a:ext cx="4400000" cy="12526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1A2A44"/>
                </a:solidFill>
                <a:latin typeface="Helvetica"/>
              </a:rPr>
              <a:t>两套 backend surface 共存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60000" y="1790000"/>
            <a:ext cx="6072000" cy="1322666"/>
          </a:xfrm>
          <a:prstGeom prst="rect">
            <a:avLst/>
          </a:prstGeom>
          <a:solidFill>
            <a:srgbClr val="F0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40000" y="1850000"/>
            <a:ext cx="5772000" cy="12526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1">
                <a:solidFill>
                  <a:srgbClr val="3C404C"/>
                </a:solidFill>
                <a:latin typeface="Helvetica"/>
              </a:rPr>
              <a:t>registry plugin = artifact 发布；legacy LocalBackend =</a:t>
            </a:r>
          </a:p>
          <a:p>
            <a:pPr algn="l">
              <a:lnSpc>
                <a:spcPct val="135000"/>
              </a:lnSpc>
            </a:pPr>
            <a:r>
              <a:rPr sz="1100" b="0" i="1">
                <a:solidFill>
                  <a:srgbClr val="3C404C"/>
                </a:solidFill>
                <a:latin typeface="Helvetica"/>
              </a:rPr>
              <a:t>stateful deployment orchestration。合并会把</a:t>
            </a:r>
          </a:p>
          <a:p>
            <a:pPr algn="l">
              <a:lnSpc>
                <a:spcPct val="135000"/>
              </a:lnSpc>
            </a:pPr>
            <a:r>
              <a:rPr sz="1100" b="0" i="1">
                <a:solidFill>
                  <a:srgbClr val="3C404C"/>
                </a:solidFill>
                <a:latin typeface="Helvetica"/>
              </a:rPr>
              <a:t>deployment 生命周期拖进 OTA registry，耦合大无收益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0000" y="3192666"/>
            <a:ext cx="4600000" cy="1322666"/>
          </a:xfrm>
          <a:prstGeom prst="rect">
            <a:avLst/>
          </a:prstGeom>
          <a:solidFill>
            <a:srgbClr val="FFFFFF"/>
          </a:solidFill>
          <a:ln w="12700">
            <a:solidFill>
              <a:srgbClr val="C25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000" y="3192666"/>
            <a:ext cx="100000" cy="1322666"/>
          </a:xfrm>
          <a:prstGeom prst="rect">
            <a:avLst/>
          </a:prstGeom>
          <a:solidFill>
            <a:srgbClr val="C25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0000" y="3252666"/>
            <a:ext cx="4400000" cy="12526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1A2A44"/>
                </a:solidFill>
                <a:latin typeface="Helvetica"/>
              </a:rPr>
              <a:t>canary resume-from-state</a:t>
            </a:r>
          </a:p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1A2A44"/>
                </a:solidFill>
                <a:latin typeface="Helvetica"/>
              </a:rPr>
              <a:t>deployments/&lt;id&gt;.json 续跑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60000" y="3192666"/>
            <a:ext cx="6072000" cy="1322666"/>
          </a:xfrm>
          <a:prstGeom prst="rect">
            <a:avLst/>
          </a:prstGeom>
          <a:solidFill>
            <a:srgbClr val="F0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40000" y="3252666"/>
            <a:ext cx="5772000" cy="12526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1">
                <a:solidFill>
                  <a:srgbClr val="3C404C"/>
                </a:solidFill>
                <a:latin typeface="Helvetica"/>
              </a:rPr>
              <a:t>canary_observe_hours=48 默认。crash 后不续跑</a:t>
            </a:r>
          </a:p>
          <a:p>
            <a:pPr algn="l">
              <a:lnSpc>
                <a:spcPct val="135000"/>
              </a:lnSpc>
            </a:pPr>
            <a:r>
              <a:rPr sz="1100" b="0" i="1">
                <a:solidFill>
                  <a:srgbClr val="3C404C"/>
                </a:solidFill>
                <a:latin typeface="Helvetica"/>
              </a:rPr>
              <a:t>会把观察进度清零 + 可能双发设备。</a:t>
            </a:r>
          </a:p>
          <a:p>
            <a:pPr algn="l">
              <a:lnSpc>
                <a:spcPct val="135000"/>
              </a:lnSpc>
            </a:pPr>
            <a:r>
              <a:rPr sz="1100" b="0" i="1">
                <a:solidFill>
                  <a:srgbClr val="3C404C"/>
                </a:solidFill>
                <a:latin typeface="Helvetica"/>
              </a:rPr>
              <a:t>durable FSM 是 rollout 安全前提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0000" y="4595332"/>
            <a:ext cx="4600000" cy="1322666"/>
          </a:xfrm>
          <a:prstGeom prst="rect">
            <a:avLst/>
          </a:prstGeom>
          <a:solidFill>
            <a:srgbClr val="FFFFFF"/>
          </a:solidFill>
          <a:ln w="12700">
            <a:solidFill>
              <a:srgbClr val="C25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60000" y="4595332"/>
            <a:ext cx="100000" cy="1322666"/>
          </a:xfrm>
          <a:prstGeom prst="rect">
            <a:avLst/>
          </a:prstGeom>
          <a:solidFill>
            <a:srgbClr val="C25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0000" y="4655332"/>
            <a:ext cx="4400000" cy="12526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1A2A44"/>
                </a:solidFill>
                <a:latin typeface="Helvetica"/>
              </a:rPr>
              <a:t>bsdiff4 tenacity retry(3, 1s)</a:t>
            </a:r>
          </a:p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1A2A44"/>
                </a:solidFill>
                <a:latin typeface="Helvetica"/>
              </a:rPr>
              <a:t>reraise=True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60000" y="4595332"/>
            <a:ext cx="6072000" cy="1322666"/>
          </a:xfrm>
          <a:prstGeom prst="rect">
            <a:avLst/>
          </a:prstGeom>
          <a:solidFill>
            <a:srgbClr val="F0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40000" y="4655332"/>
            <a:ext cx="5772000" cy="12526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1">
                <a:solidFill>
                  <a:srgbClr val="3C404C"/>
                </a:solidFill>
                <a:latin typeface="Helvetica"/>
              </a:rPr>
              <a:t>大 tarball (几百 MB) 经常 OOM/IO flaky。</a:t>
            </a:r>
          </a:p>
          <a:p>
            <a:pPr algn="l">
              <a:lnSpc>
                <a:spcPct val="135000"/>
              </a:lnSpc>
            </a:pPr>
            <a:r>
              <a:rPr sz="1100" b="0" i="1">
                <a:solidFill>
                  <a:srgbClr val="3C404C"/>
                </a:solidFill>
                <a:latin typeface="Helvetica"/>
              </a:rPr>
              <a:t>3 次重试从真实 incident 校准，不是 defensive slop。</a:t>
            </a:r>
          </a:p>
          <a:p>
            <a:pPr algn="l">
              <a:lnSpc>
                <a:spcPct val="135000"/>
              </a:lnSpc>
            </a:pPr>
            <a:r>
              <a:rPr sz="1100" b="0" i="1">
                <a:solidFill>
                  <a:srgbClr val="3C404C"/>
                </a:solidFill>
                <a:latin typeface="Helvetica"/>
              </a:rPr>
              <a:t>reraise 保留 bsdiff4 原 error stack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0000" y="6418000"/>
            <a:ext cx="50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787882"/>
                </a:solidFill>
                <a:latin typeface="Helvetica"/>
              </a:rPr>
              <a:t>Train-Pet-Pipeline · Technical Overview · matrix 2026.10-ecosystem-cleanup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0000" y="6358000"/>
            <a:ext cx="50000" cy="220000"/>
          </a:xfrm>
          <a:prstGeom prst="rect">
            <a:avLst/>
          </a:prstGeom>
          <a:solidFill>
            <a:srgbClr val="C25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0000" y="6368000"/>
            <a:ext cx="20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25E3E"/>
                </a:solidFill>
                <a:latin typeface="Menlo"/>
              </a:rPr>
              <a:t>pet-ota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0000" y="2000000"/>
            <a:ext cx="14000" cy="2800000"/>
          </a:xfrm>
          <a:prstGeom prst="rect">
            <a:avLst/>
          </a:prstGeom>
          <a:solidFill>
            <a:srgbClr val="367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0000" y="2000000"/>
            <a:ext cx="8000000" cy="5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367BD6"/>
                </a:solidFill>
                <a:latin typeface="Helvetica"/>
              </a:rPr>
              <a:t>SECTION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0000" y="2500000"/>
            <a:ext cx="10000000" cy="11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>
                <a:solidFill>
                  <a:srgbClr val="FFFFFF"/>
                </a:solidFill>
                <a:latin typeface="Helvetica"/>
              </a:rPr>
              <a:t>独立工具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0000" y="3750000"/>
            <a:ext cx="10000000" cy="5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1">
                <a:solidFill>
                  <a:srgbClr val="C8CCD2"/>
                </a:solidFill>
                <a:latin typeface="Helvetica"/>
              </a:rPr>
              <a:t>pet-id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0000" y="4450000"/>
            <a:ext cx="100000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367BD6"/>
                </a:solidFill>
                <a:latin typeface="Menlo"/>
              </a:rPr>
              <a:t>Slides 32 – 33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0000"/>
          </a:xfrm>
          <a:prstGeom prst="rect">
            <a:avLst/>
          </a:prstGeom>
          <a:solidFill>
            <a:srgbClr val="7A57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60000" y="200000"/>
            <a:ext cx="2000000" cy="3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7A57A8"/>
                </a:solidFill>
                <a:latin typeface="Helvetica"/>
              </a:rPr>
              <a:t>§9 · pet-id (1/2)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0000" y="420000"/>
            <a:ext cx="11272000" cy="6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1A2A44"/>
                </a:solidFill>
                <a:latin typeface="Helvetica"/>
              </a:rPr>
              <a:t>pet-id — 独立 CLI 工具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0000" y="1020000"/>
            <a:ext cx="112720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787882"/>
                </a:solidFill>
                <a:latin typeface="Helvetica"/>
              </a:rPr>
              <a:t>零 pet-* 运行时依赖 (spec §5.2) · PetCard registry + petid CLI</a:t>
            </a:r>
          </a:p>
        </p:txBody>
      </p:sp>
      <p:sp>
        <p:nvSpPr>
          <p:cNvPr id="6" name="Rectangle 5"/>
          <p:cNvSpPr/>
          <p:nvPr/>
        </p:nvSpPr>
        <p:spPr>
          <a:xfrm>
            <a:off x="460000" y="1460000"/>
            <a:ext cx="11272000" cy="15000"/>
          </a:xfrm>
          <a:prstGeom prst="rect">
            <a:avLst/>
          </a:prstGeom>
          <a:solidFill>
            <a:srgbClr val="C8C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591000" y="1650000"/>
            <a:ext cx="95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591000" y="1650000"/>
            <a:ext cx="950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787882"/>
                </a:solidFill>
                <a:latin typeface="Menlo"/>
              </a:rPr>
              <a:t>pet-schema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6000" y="1825000"/>
            <a:ext cx="50000" cy="10000"/>
          </a:xfrm>
          <a:prstGeom prst="rect">
            <a:avLst/>
          </a:prstGeom>
          <a:solidFill>
            <a:srgbClr val="C8C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01000" y="1650000"/>
            <a:ext cx="95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01000" y="1650000"/>
            <a:ext cx="950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787882"/>
                </a:solidFill>
                <a:latin typeface="Menlo"/>
              </a:rPr>
              <a:t>pet-data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56000" y="1825000"/>
            <a:ext cx="50000" cy="10000"/>
          </a:xfrm>
          <a:prstGeom prst="rect">
            <a:avLst/>
          </a:prstGeom>
          <a:solidFill>
            <a:srgbClr val="C8C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611000" y="1650000"/>
            <a:ext cx="95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11000" y="1650000"/>
            <a:ext cx="950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787882"/>
                </a:solidFill>
                <a:latin typeface="Menlo"/>
              </a:rPr>
              <a:t>pet-annotation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566000" y="1825000"/>
            <a:ext cx="50000" cy="10000"/>
          </a:xfrm>
          <a:prstGeom prst="rect">
            <a:avLst/>
          </a:prstGeom>
          <a:solidFill>
            <a:srgbClr val="C8C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1000" y="1650000"/>
            <a:ext cx="95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21000" y="1650000"/>
            <a:ext cx="950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787882"/>
                </a:solidFill>
                <a:latin typeface="Menlo"/>
              </a:rPr>
              <a:t>pet-train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76000" y="1825000"/>
            <a:ext cx="50000" cy="10000"/>
          </a:xfrm>
          <a:prstGeom prst="rect">
            <a:avLst/>
          </a:prstGeom>
          <a:solidFill>
            <a:srgbClr val="C8C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631000" y="1650000"/>
            <a:ext cx="95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31000" y="1650000"/>
            <a:ext cx="950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787882"/>
                </a:solidFill>
                <a:latin typeface="Menlo"/>
              </a:rPr>
              <a:t>pet-eval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586000" y="1825000"/>
            <a:ext cx="50000" cy="10000"/>
          </a:xfrm>
          <a:prstGeom prst="rect">
            <a:avLst/>
          </a:prstGeom>
          <a:solidFill>
            <a:srgbClr val="C8C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41000" y="1650000"/>
            <a:ext cx="95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41000" y="1650000"/>
            <a:ext cx="950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787882"/>
                </a:solidFill>
                <a:latin typeface="Menlo"/>
              </a:rPr>
              <a:t>pet-quantize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596000" y="1825000"/>
            <a:ext cx="50000" cy="10000"/>
          </a:xfrm>
          <a:prstGeom prst="rect">
            <a:avLst/>
          </a:prstGeom>
          <a:solidFill>
            <a:srgbClr val="C8C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651000" y="1650000"/>
            <a:ext cx="950000" cy="360000"/>
          </a:xfrm>
          <a:prstGeom prst="rect">
            <a:avLst/>
          </a:prstGeom>
          <a:solidFill>
            <a:srgbClr val="FFFFFF"/>
          </a:solidFill>
          <a:ln w="762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51000" y="1650000"/>
            <a:ext cx="950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787882"/>
                </a:solidFill>
                <a:latin typeface="Menlo"/>
              </a:rPr>
              <a:t>pet-ota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591000" y="2130000"/>
            <a:ext cx="7010000" cy="140000"/>
          </a:xfrm>
          <a:prstGeom prst="rect">
            <a:avLst/>
          </a:prstGeom>
          <a:solidFill>
            <a:srgbClr val="F0F1F4"/>
          </a:solidFill>
          <a:ln w="7620">
            <a:solidFill>
              <a:srgbClr val="2F6A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591000" y="2130000"/>
            <a:ext cx="7010000" cy="14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787882"/>
                </a:solidFill>
                <a:latin typeface="Menlo"/>
              </a:rPr>
              <a:t>pet-infra · shared runtime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01000" y="2350000"/>
            <a:ext cx="1400000" cy="180000"/>
          </a:xfrm>
          <a:prstGeom prst="roundRect">
            <a:avLst/>
          </a:prstGeom>
          <a:solidFill>
            <a:srgbClr val="7A57A8"/>
          </a:solidFill>
          <a:ln w="15240">
            <a:solidFill>
              <a:srgbClr val="7A57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01000" y="2350000"/>
            <a:ext cx="1400000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FFFFFF"/>
                </a:solidFill>
                <a:latin typeface="Menlo"/>
              </a:rPr>
              <a:t>pet-id · independent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60000" y="2600000"/>
            <a:ext cx="5100000" cy="70000"/>
          </a:xfrm>
          <a:prstGeom prst="rect">
            <a:avLst/>
          </a:prstGeom>
          <a:solidFill>
            <a:srgbClr val="7A57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0000" y="2740000"/>
            <a:ext cx="5100000" cy="3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7A57A8"/>
                </a:solidFill>
                <a:latin typeface="Helvetica"/>
              </a:rPr>
              <a:t>做什么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0000" y="3160000"/>
            <a:ext cx="4940000" cy="2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7A57A8"/>
                </a:solidFill>
                <a:latin typeface="Helvetica"/>
              </a:rPr>
              <a:t>▪  </a:t>
            </a:r>
            <a:r>
              <a:rPr sz="1250">
                <a:solidFill>
                  <a:srgbClr val="1A2A44"/>
                </a:solidFill>
                <a:latin typeface="Helvetica"/>
              </a:rPr>
              <a:t>petid register</a:t>
            </a:r>
            <a:r>
              <a:rPr sz="1150" i="1">
                <a:solidFill>
                  <a:srgbClr val="787882"/>
                </a:solidFill>
                <a:latin typeface="Helvetica"/>
              </a:rPr>
              <a:t>  — photo / dir / video → PetCard</a:t>
            </a:r>
          </a:p>
          <a:p>
            <a:pPr algn="l">
              <a:lnSpc>
                <a:spcPct val="135000"/>
              </a:lnSpc>
            </a:pPr>
            <a:r>
              <a:rPr sz="1250" b="1">
                <a:solidFill>
                  <a:srgbClr val="7A57A8"/>
                </a:solidFill>
                <a:latin typeface="Helvetica"/>
              </a:rPr>
              <a:t>▪  </a:t>
            </a:r>
            <a:r>
              <a:rPr sz="1250">
                <a:solidFill>
                  <a:srgbClr val="1A2A44"/>
                </a:solidFill>
                <a:latin typeface="Helvetica"/>
              </a:rPr>
              <a:t>petid identify</a:t>
            </a:r>
            <a:r>
              <a:rPr sz="1150" i="1">
                <a:solidFill>
                  <a:srgbClr val="787882"/>
                </a:solidFill>
                <a:latin typeface="Helvetica"/>
              </a:rPr>
              <a:t>  — query image → pet_id / name</a:t>
            </a:r>
          </a:p>
          <a:p>
            <a:pPr algn="l">
              <a:lnSpc>
                <a:spcPct val="135000"/>
              </a:lnSpc>
            </a:pPr>
            <a:r>
              <a:rPr sz="1250" b="1">
                <a:solidFill>
                  <a:srgbClr val="7A57A8"/>
                </a:solidFill>
                <a:latin typeface="Helvetica"/>
              </a:rPr>
              <a:t>▪  </a:t>
            </a:r>
            <a:r>
              <a:rPr sz="1250">
                <a:solidFill>
                  <a:srgbClr val="1A2A44"/>
                </a:solidFill>
                <a:latin typeface="Helvetica"/>
              </a:rPr>
              <a:t>petid list / show / delete</a:t>
            </a:r>
            <a:r>
              <a:rPr sz="1150" i="1">
                <a:solidFill>
                  <a:srgbClr val="787882"/>
                </a:solidFill>
                <a:latin typeface="Helvetica"/>
              </a:rPr>
              <a:t>  — gallery CRUD</a:t>
            </a:r>
          </a:p>
          <a:p>
            <a:pPr algn="l">
              <a:lnSpc>
                <a:spcPct val="135000"/>
              </a:lnSpc>
            </a:pPr>
            <a:r>
              <a:rPr sz="1250" b="1">
                <a:solidFill>
                  <a:srgbClr val="7A57A8"/>
                </a:solidFill>
                <a:latin typeface="Helvetica"/>
              </a:rPr>
              <a:t>▪  </a:t>
            </a:r>
            <a:r>
              <a:rPr sz="1250">
                <a:solidFill>
                  <a:srgbClr val="1A2A44"/>
                </a:solidFill>
                <a:latin typeface="Helvetica"/>
              </a:rPr>
              <a:t>purrai_core 算法核心</a:t>
            </a:r>
            <a:r>
              <a:rPr sz="1150" i="1">
                <a:solidFill>
                  <a:srgbClr val="787882"/>
                </a:solidFill>
                <a:latin typeface="Helvetica"/>
              </a:rPr>
              <a:t>  — detector / reid / pose
narrative / tracker 5 backends</a:t>
            </a:r>
          </a:p>
          <a:p>
            <a:pPr algn="l">
              <a:lnSpc>
                <a:spcPct val="135000"/>
              </a:lnSpc>
            </a:pPr>
            <a:r>
              <a:rPr sz="1250" b="1">
                <a:solidFill>
                  <a:srgbClr val="7A57A8"/>
                </a:solidFill>
                <a:latin typeface="Helvetica"/>
              </a:rPr>
              <a:t>▪  </a:t>
            </a:r>
            <a:r>
              <a:rPr sz="1250">
                <a:solidFill>
                  <a:srgbClr val="1A2A44"/>
                </a:solidFill>
                <a:latin typeface="Helvetica"/>
              </a:rPr>
              <a:t>PetCard (Pydantic)</a:t>
            </a:r>
            <a:r>
              <a:rPr sz="1150" i="1">
                <a:solidFill>
                  <a:srgbClr val="787882"/>
                </a:solidFill>
                <a:latin typeface="Helvetica"/>
              </a:rPr>
              <a:t>  — 独立 model · 不在 pet-schema</a:t>
            </a:r>
          </a:p>
          <a:p>
            <a:pPr algn="l">
              <a:lnSpc>
                <a:spcPct val="135000"/>
              </a:lnSpc>
            </a:pPr>
            <a:r>
              <a:rPr sz="1250" b="1">
                <a:solidFill>
                  <a:srgbClr val="7A57A8"/>
                </a:solidFill>
                <a:latin typeface="Helvetica"/>
              </a:rPr>
              <a:t>▪  </a:t>
            </a:r>
            <a:r>
              <a:rPr sz="1250">
                <a:solidFill>
                  <a:srgbClr val="1A2A44"/>
                </a:solidFill>
                <a:latin typeface="Helvetica"/>
              </a:rPr>
              <a:t>content-addressable pet_id</a:t>
            </a:r>
            <a:r>
              <a:rPr sz="1150" i="1">
                <a:solidFill>
                  <a:srgbClr val="787882"/>
                </a:solidFill>
                <a:latin typeface="Helvetica"/>
              </a:rPr>
              <a:t>  — sha256(L2-normed f32)[:8]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40000" y="2600000"/>
            <a:ext cx="5100000" cy="70000"/>
          </a:xfrm>
          <a:prstGeom prst="rect">
            <a:avLst/>
          </a:prstGeom>
          <a:solidFill>
            <a:srgbClr val="C8C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00000" y="2740000"/>
            <a:ext cx="5100000" cy="3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787882"/>
                </a:solidFill>
                <a:latin typeface="Helvetica"/>
              </a:rPr>
              <a:t>不做什么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00000" y="3160000"/>
            <a:ext cx="4940000" cy="2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C8CCD2"/>
                </a:solidFill>
                <a:latin typeface="Helvetica"/>
              </a:rPr>
              <a:t>▪  </a:t>
            </a:r>
            <a:r>
              <a:rPr sz="1250">
                <a:solidFill>
                  <a:srgbClr val="787882"/>
                </a:solidFill>
                <a:latin typeface="Helvetica"/>
              </a:rPr>
              <a:t>不 import 任何 pet-* 包</a:t>
            </a:r>
            <a:r>
              <a:rPr sz="1150" i="1">
                <a:solidFill>
                  <a:srgbClr val="787882"/>
                </a:solidFill>
                <a:latin typeface="Helvetica"/>
              </a:rPr>
              <a:t>  — grep -rn 'from pet_' src/ → 0 hits</a:t>
            </a:r>
          </a:p>
          <a:p>
            <a:pPr algn="l">
              <a:lnSpc>
                <a:spcPct val="135000"/>
              </a:lnSpc>
            </a:pPr>
            <a:r>
              <a:rPr sz="1250" b="1">
                <a:solidFill>
                  <a:srgbClr val="C8CCD2"/>
                </a:solidFill>
                <a:latin typeface="Helvetica"/>
              </a:rPr>
              <a:t>▪  </a:t>
            </a:r>
            <a:r>
              <a:rPr sz="1250">
                <a:solidFill>
                  <a:srgbClr val="787882"/>
                </a:solidFill>
                <a:latin typeface="Helvetica"/>
              </a:rPr>
              <a:t>不是 pet-infra plugin</a:t>
            </a:r>
            <a:r>
              <a:rPr sz="1150" i="1">
                <a:solidFill>
                  <a:srgbClr val="787882"/>
                </a:solidFill>
                <a:latin typeface="Helvetica"/>
              </a:rPr>
              <a:t>  — 无 entry-point 注册</a:t>
            </a:r>
          </a:p>
          <a:p>
            <a:pPr algn="l">
              <a:lnSpc>
                <a:spcPct val="135000"/>
              </a:lnSpc>
            </a:pPr>
            <a:r>
              <a:rPr sz="1250" b="1">
                <a:solidFill>
                  <a:srgbClr val="C8CCD2"/>
                </a:solidFill>
                <a:latin typeface="Helvetica"/>
              </a:rPr>
              <a:t>▪  </a:t>
            </a:r>
            <a:r>
              <a:rPr sz="1250">
                <a:solidFill>
                  <a:srgbClr val="787882"/>
                </a:solidFill>
                <a:latin typeface="Helvetica"/>
              </a:rPr>
              <a:t>不做硬件部署</a:t>
            </a:r>
            <a:r>
              <a:rPr sz="1150" i="1">
                <a:solidFill>
                  <a:srgbClr val="787882"/>
                </a:solidFill>
                <a:latin typeface="Helvetica"/>
              </a:rPr>
              <a:t>  — pet-id 纯 host-side</a:t>
            </a:r>
          </a:p>
          <a:p>
            <a:pPr algn="l">
              <a:lnSpc>
                <a:spcPct val="135000"/>
              </a:lnSpc>
            </a:pPr>
            <a:r>
              <a:rPr sz="1250" b="1">
                <a:solidFill>
                  <a:srgbClr val="C8CCD2"/>
                </a:solidFill>
                <a:latin typeface="Helvetica"/>
              </a:rPr>
              <a:t>▪  </a:t>
            </a:r>
            <a:r>
              <a:rPr sz="1250">
                <a:solidFill>
                  <a:srgbClr val="787882"/>
                </a:solidFill>
                <a:latin typeface="Helvetica"/>
              </a:rPr>
              <a:t>不入 matrix 装序</a:t>
            </a:r>
            <a:r>
              <a:rPr sz="1150" i="1">
                <a:solidFill>
                  <a:srgbClr val="787882"/>
                </a:solidFill>
                <a:latin typeface="Helvetica"/>
              </a:rPr>
              <a:t>  — 仅入 matrix 做版本对齐报告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0000" y="6418000"/>
            <a:ext cx="50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787882"/>
                </a:solidFill>
                <a:latin typeface="Helvetica"/>
              </a:rPr>
              <a:t>Train-Pet-Pipeline · Technical Overview · matrix 2026.10-ecosystem-cleanup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0000" y="6358000"/>
            <a:ext cx="50000" cy="220000"/>
          </a:xfrm>
          <a:prstGeom prst="rect">
            <a:avLst/>
          </a:prstGeom>
          <a:solidFill>
            <a:srgbClr val="7A57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0000" y="6368000"/>
            <a:ext cx="20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7A57A8"/>
                </a:solidFill>
                <a:latin typeface="Menlo"/>
              </a:rPr>
              <a:t>pet-id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0000"/>
          </a:xfrm>
          <a:prstGeom prst="rect">
            <a:avLst/>
          </a:prstGeom>
          <a:solidFill>
            <a:srgbClr val="7A57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60000" y="200000"/>
            <a:ext cx="2000000" cy="3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7A57A8"/>
                </a:solidFill>
                <a:latin typeface="Helvetica"/>
              </a:rPr>
              <a:t>§9 · pet-id (2/2)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0000" y="420000"/>
            <a:ext cx="11272000" cy="6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1A2A44"/>
                </a:solidFill>
                <a:latin typeface="Helvetica"/>
              </a:rPr>
              <a:t>pet-id — 关键设计决策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0000" y="1020000"/>
            <a:ext cx="112720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787882"/>
                </a:solidFill>
                <a:latin typeface="Helvetica"/>
              </a:rPr>
              <a:t>两包分层 · 5 extras · 独立性 · content-addressable id</a:t>
            </a:r>
          </a:p>
        </p:txBody>
      </p:sp>
      <p:sp>
        <p:nvSpPr>
          <p:cNvPr id="6" name="Rectangle 5"/>
          <p:cNvSpPr/>
          <p:nvPr/>
        </p:nvSpPr>
        <p:spPr>
          <a:xfrm>
            <a:off x="460000" y="1460000"/>
            <a:ext cx="11272000" cy="15000"/>
          </a:xfrm>
          <a:prstGeom prst="rect">
            <a:avLst/>
          </a:prstGeom>
          <a:solidFill>
            <a:srgbClr val="C8C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60000" y="1790000"/>
            <a:ext cx="4600000" cy="1322666"/>
          </a:xfrm>
          <a:prstGeom prst="rect">
            <a:avLst/>
          </a:prstGeom>
          <a:solidFill>
            <a:srgbClr val="FFFFFF"/>
          </a:solidFill>
          <a:ln w="12700">
            <a:solidFill>
              <a:srgbClr val="7A57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60000" y="1790000"/>
            <a:ext cx="100000" cy="1322666"/>
          </a:xfrm>
          <a:prstGeom prst="rect">
            <a:avLst/>
          </a:prstGeom>
          <a:solidFill>
            <a:srgbClr val="7A57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0000" y="1850000"/>
            <a:ext cx="4400000" cy="12526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1A2A44"/>
                </a:solidFill>
                <a:latin typeface="Helvetica"/>
              </a:rPr>
              <a:t>pet_id_registry + purrai_core</a:t>
            </a:r>
          </a:p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1A2A44"/>
                </a:solidFill>
                <a:latin typeface="Helvetica"/>
              </a:rPr>
              <a:t>两包分层 (不合成单包)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60000" y="1790000"/>
            <a:ext cx="6072000" cy="1322666"/>
          </a:xfrm>
          <a:prstGeom prst="rect">
            <a:avLst/>
          </a:prstGeom>
          <a:solidFill>
            <a:srgbClr val="F0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40000" y="1850000"/>
            <a:ext cx="5772000" cy="12526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1">
                <a:solidFill>
                  <a:srgbClr val="3C404C"/>
                </a:solidFill>
                <a:latin typeface="Helvetica"/>
              </a:rPr>
              <a:t>purrai_core 从 pet-demo/core 引导；可独立复用给</a:t>
            </a:r>
          </a:p>
          <a:p>
            <a:pPr algn="l">
              <a:lnSpc>
                <a:spcPct val="135000"/>
              </a:lnSpc>
            </a:pPr>
            <a:r>
              <a:rPr sz="1100" b="0" i="1">
                <a:solidFill>
                  <a:srgbClr val="3C404C"/>
                </a:solidFill>
                <a:latin typeface="Helvetica"/>
              </a:rPr>
              <a:t>未来其他 CLI。合成单包会强迫消费纯算法的用户</a:t>
            </a:r>
          </a:p>
          <a:p>
            <a:pPr algn="l">
              <a:lnSpc>
                <a:spcPct val="135000"/>
              </a:lnSpc>
            </a:pPr>
            <a:r>
              <a:rPr sz="1100" b="0" i="1">
                <a:solidFill>
                  <a:srgbClr val="3C404C"/>
                </a:solidFill>
                <a:latin typeface="Helvetica"/>
              </a:rPr>
              <a:t>连带 CLI + 磁盘 gallery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0000" y="3192666"/>
            <a:ext cx="4600000" cy="1322666"/>
          </a:xfrm>
          <a:prstGeom prst="rect">
            <a:avLst/>
          </a:prstGeom>
          <a:solidFill>
            <a:srgbClr val="FFFFFF"/>
          </a:solidFill>
          <a:ln w="12700">
            <a:solidFill>
              <a:srgbClr val="7A57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000" y="3192666"/>
            <a:ext cx="100000" cy="1322666"/>
          </a:xfrm>
          <a:prstGeom prst="rect">
            <a:avLst/>
          </a:prstGeom>
          <a:solidFill>
            <a:srgbClr val="7A57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0000" y="3252666"/>
            <a:ext cx="4400000" cy="12526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1A2A44"/>
                </a:solidFill>
                <a:latin typeface="Helvetica"/>
              </a:rPr>
              <a:t>5 extras + meta `all`</a:t>
            </a:r>
          </a:p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1A2A44"/>
                </a:solidFill>
                <a:latin typeface="Helvetica"/>
              </a:rPr>
              <a:t>(detector/reid/pose/narrative/tracker)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60000" y="3192666"/>
            <a:ext cx="6072000" cy="1322666"/>
          </a:xfrm>
          <a:prstGeom prst="rect">
            <a:avLst/>
          </a:prstGeom>
          <a:solidFill>
            <a:srgbClr val="F0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40000" y="3252666"/>
            <a:ext cx="5772000" cy="12526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1">
                <a:solidFill>
                  <a:srgbClr val="3C404C"/>
                </a:solidFill>
                <a:latin typeface="Helvetica"/>
              </a:rPr>
              <a:t>每 backend 百 MB 级 ML 依赖。只用 register/identify</a:t>
            </a:r>
          </a:p>
          <a:p>
            <a:pPr algn="l">
              <a:lnSpc>
                <a:spcPct val="135000"/>
              </a:lnSpc>
            </a:pPr>
            <a:r>
              <a:rPr sz="1100" b="0" i="1">
                <a:solidFill>
                  <a:srgbClr val="3C404C"/>
                </a:solidFill>
                <a:latin typeface="Helvetica"/>
              </a:rPr>
              <a:t>的用户 pip install pet-id[detector,reid] ~500MB</a:t>
            </a:r>
          </a:p>
          <a:p>
            <a:pPr algn="l">
              <a:lnSpc>
                <a:spcPct val="135000"/>
              </a:lnSpc>
            </a:pPr>
            <a:r>
              <a:rPr sz="1100" b="0" i="1">
                <a:solidFill>
                  <a:srgbClr val="3C404C"/>
                </a:solidFill>
                <a:latin typeface="Helvetica"/>
              </a:rPr>
              <a:t>装全 5 GB+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0000" y="4595332"/>
            <a:ext cx="4600000" cy="1322666"/>
          </a:xfrm>
          <a:prstGeom prst="rect">
            <a:avLst/>
          </a:prstGeom>
          <a:solidFill>
            <a:srgbClr val="FFFFFF"/>
          </a:solidFill>
          <a:ln w="12700">
            <a:solidFill>
              <a:srgbClr val="7A57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60000" y="4595332"/>
            <a:ext cx="100000" cy="1322666"/>
          </a:xfrm>
          <a:prstGeom prst="rect">
            <a:avLst/>
          </a:prstGeom>
          <a:solidFill>
            <a:srgbClr val="7A57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0000" y="4655332"/>
            <a:ext cx="4400000" cy="12526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1A2A44"/>
                </a:solidFill>
                <a:latin typeface="Helvetica"/>
              </a:rPr>
              <a:t>compute_pet_id L2-normalize assert</a:t>
            </a:r>
          </a:p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1A2A44"/>
                </a:solidFill>
                <a:latin typeface="Helvetica"/>
              </a:rPr>
              <a:t>+ little-endian float32 canonicalize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60000" y="4595332"/>
            <a:ext cx="6072000" cy="1322666"/>
          </a:xfrm>
          <a:prstGeom prst="rect">
            <a:avLst/>
          </a:prstGeom>
          <a:solidFill>
            <a:srgbClr val="F0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40000" y="4655332"/>
            <a:ext cx="5772000" cy="12526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1">
                <a:solidFill>
                  <a:srgbClr val="3C404C"/>
                </a:solidFill>
                <a:latin typeface="Helvetica"/>
              </a:rPr>
              <a:t>跨 host (amd64/arm64) 跨 dtype (fp16/fp32) 同一</a:t>
            </a:r>
          </a:p>
          <a:p>
            <a:pPr algn="l">
              <a:lnSpc>
                <a:spcPct val="135000"/>
              </a:lnSpc>
            </a:pPr>
            <a:r>
              <a:rPr sz="1100" b="0" i="1">
                <a:solidFill>
                  <a:srgbClr val="3C404C"/>
                </a:solidFill>
                <a:latin typeface="Helvetica"/>
              </a:rPr>
              <a:t>embedding → 同一 pet_id。否则 registry migration</a:t>
            </a:r>
          </a:p>
          <a:p>
            <a:pPr algn="l">
              <a:lnSpc>
                <a:spcPct val="135000"/>
              </a:lnSpc>
            </a:pPr>
            <a:r>
              <a:rPr sz="1100" b="0" i="1">
                <a:solidFill>
                  <a:srgbClr val="3C404C"/>
                </a:solidFill>
                <a:latin typeface="Helvetica"/>
              </a:rPr>
              <a:t>时 id 飘，调试地狱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0000" y="6418000"/>
            <a:ext cx="50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787882"/>
                </a:solidFill>
                <a:latin typeface="Helvetica"/>
              </a:rPr>
              <a:t>Train-Pet-Pipeline · Technical Overview · matrix 2026.10-ecosystem-cleanup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0000" y="6358000"/>
            <a:ext cx="50000" cy="220000"/>
          </a:xfrm>
          <a:prstGeom prst="rect">
            <a:avLst/>
          </a:prstGeom>
          <a:solidFill>
            <a:srgbClr val="7A57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0000" y="6368000"/>
            <a:ext cx="20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7A57A8"/>
                </a:solidFill>
                <a:latin typeface="Menlo"/>
              </a:rPr>
              <a:t>pet-id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0000" y="2000000"/>
            <a:ext cx="14000" cy="2800000"/>
          </a:xfrm>
          <a:prstGeom prst="rect">
            <a:avLst/>
          </a:prstGeom>
          <a:solidFill>
            <a:srgbClr val="367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0000" y="2000000"/>
            <a:ext cx="8000000" cy="5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367BD6"/>
                </a:solidFill>
                <a:latin typeface="Helvetica"/>
              </a:rPr>
              <a:t>SECTION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0000" y="2500000"/>
            <a:ext cx="10000000" cy="11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>
                <a:solidFill>
                  <a:srgbClr val="FFFFFF"/>
                </a:solidFill>
                <a:latin typeface="Helvetica"/>
              </a:rPr>
              <a:t>横切关注点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0000" y="3750000"/>
            <a:ext cx="10000000" cy="5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1">
                <a:solidFill>
                  <a:srgbClr val="C8CCD2"/>
                </a:solidFill>
                <a:latin typeface="Helvetica"/>
              </a:rPr>
              <a:t>依赖治理 · CI · 北极星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0000" y="4450000"/>
            <a:ext cx="100000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367BD6"/>
                </a:solidFill>
                <a:latin typeface="Menlo"/>
              </a:rPr>
              <a:t>Slides 35 – 37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0000"/>
          </a:xfrm>
          <a:prstGeom prst="rect">
            <a:avLst/>
          </a:prstGeom>
          <a:solidFill>
            <a:srgbClr val="367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60000" y="200000"/>
            <a:ext cx="2000000" cy="3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367BD6"/>
                </a:solidFill>
                <a:latin typeface="Helvetica"/>
              </a:rPr>
              <a:t>§ 10 · 横切 / 依赖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0000" y="420000"/>
            <a:ext cx="11272000" cy="6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1A2A44"/>
                </a:solidFill>
                <a:latin typeface="Helvetica"/>
              </a:rPr>
              <a:t>依赖治理：3 种 pin 模式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0000" y="1020000"/>
            <a:ext cx="112720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787882"/>
                </a:solidFill>
                <a:latin typeface="Helvetica"/>
              </a:rPr>
              <a:t>生态优化收敛：从 6 种 ad-hoc 统一到 3 种 disciplined</a:t>
            </a:r>
          </a:p>
        </p:txBody>
      </p:sp>
      <p:sp>
        <p:nvSpPr>
          <p:cNvPr id="6" name="Rectangle 5"/>
          <p:cNvSpPr/>
          <p:nvPr/>
        </p:nvSpPr>
        <p:spPr>
          <a:xfrm>
            <a:off x="460000" y="1460000"/>
            <a:ext cx="11272000" cy="15000"/>
          </a:xfrm>
          <a:prstGeom prst="rect">
            <a:avLst/>
          </a:prstGeom>
          <a:solidFill>
            <a:srgbClr val="C8C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6000" y="1800000"/>
            <a:ext cx="3500000" cy="360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6000" y="1800000"/>
            <a:ext cx="3500000" cy="90000"/>
          </a:xfrm>
          <a:prstGeom prst="rect">
            <a:avLst/>
          </a:prstGeom>
          <a:solidFill>
            <a:srgbClr val="E05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6000" y="1980000"/>
            <a:ext cx="3180000" cy="4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E05E5E"/>
                </a:solidFill>
                <a:latin typeface="Helvetica"/>
              </a:rPr>
              <a:t>α 硬 pin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6000" y="2480000"/>
            <a:ext cx="3180000" cy="4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787882"/>
                </a:solidFill>
                <a:latin typeface="Helvetica"/>
              </a:rPr>
              <a:t>pyproject.dependencies 写 git URL @vX.Y.Z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6000" y="3080000"/>
            <a:ext cx="3180000" cy="10000"/>
          </a:xfrm>
          <a:prstGeom prst="rect">
            <a:avLst/>
          </a:prstGeom>
          <a:solidFill>
            <a:srgbClr val="C8C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6000" y="3140000"/>
            <a:ext cx="318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787882"/>
                </a:solidFill>
                <a:latin typeface="Helvetica"/>
              </a:rPr>
              <a:t>适用仓库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6000" y="3440000"/>
            <a:ext cx="3180000" cy="8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A2A44"/>
                </a:solidFill>
                <a:latin typeface="Menlo"/>
              </a:rPr>
              <a:t>pet-eval / pet-quantize / pet-ota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A2A44"/>
                </a:solidFill>
                <a:latin typeface="Menlo"/>
              </a:rPr>
              <a:t>(signing extras excepted)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6000" y="4350000"/>
            <a:ext cx="3180000" cy="9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E05E5E"/>
                </a:solidFill>
                <a:latin typeface="Helvetica"/>
              </a:rPr>
              <a:t>▪  </a:t>
            </a:r>
            <a:r>
              <a:rPr sz="1050">
                <a:solidFill>
                  <a:srgbClr val="1A2A44"/>
                </a:solidFill>
                <a:latin typeface="Helvetica"/>
              </a:rPr>
              <a:t>适合：稳定契约型依赖</a:t>
            </a:r>
          </a:p>
          <a:p>
            <a:pPr algn="l">
              <a:lnSpc>
                <a:spcPct val="135000"/>
              </a:lnSpc>
            </a:pPr>
            <a:r>
              <a:rPr sz="1050" b="1">
                <a:solidFill>
                  <a:srgbClr val="E05E5E"/>
                </a:solidFill>
                <a:latin typeface="Helvetica"/>
              </a:rPr>
              <a:t>▪  </a:t>
            </a:r>
            <a:r>
              <a:rPr sz="1050">
                <a:solidFill>
                  <a:srgbClr val="1A2A44"/>
                </a:solidFill>
                <a:latin typeface="Helvetica"/>
              </a:rPr>
              <a:t>如 pet-schema (consumers 当作数据类型)</a:t>
            </a:r>
          </a:p>
          <a:p>
            <a:pPr algn="l">
              <a:lnSpc>
                <a:spcPct val="135000"/>
              </a:lnSpc>
            </a:pPr>
            <a:r>
              <a:rPr sz="1050" b="1">
                <a:solidFill>
                  <a:srgbClr val="E05E5E"/>
                </a:solidFill>
                <a:latin typeface="Helvetica"/>
              </a:rPr>
              <a:t>▪  </a:t>
            </a:r>
            <a:r>
              <a:rPr sz="1050">
                <a:solidFill>
                  <a:srgbClr val="1A2A44"/>
                </a:solidFill>
                <a:latin typeface="Helvetica"/>
              </a:rPr>
              <a:t>每 tag bump 需显式改 pyproject</a:t>
            </a:r>
          </a:p>
          <a:p>
            <a:pPr algn="l">
              <a:lnSpc>
                <a:spcPct val="135000"/>
              </a:lnSpc>
            </a:pPr>
            <a:r>
              <a:rPr sz="1050" b="1">
                <a:solidFill>
                  <a:srgbClr val="E05E5E"/>
                </a:solidFill>
                <a:latin typeface="Helvetica"/>
              </a:rPr>
              <a:t>▪  </a:t>
            </a:r>
            <a:r>
              <a:rPr sz="1050">
                <a:solidFill>
                  <a:srgbClr val="1A2A44"/>
                </a:solidFill>
                <a:latin typeface="Helvetica"/>
              </a:rPr>
              <a:t>优势：pip 直装即可，CI 简单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46000" y="1800000"/>
            <a:ext cx="3500000" cy="360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46000" y="1800000"/>
            <a:ext cx="3500000" cy="90000"/>
          </a:xfrm>
          <a:prstGeom prst="rect">
            <a:avLst/>
          </a:prstGeom>
          <a:solidFill>
            <a:srgbClr val="26A2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06000" y="1980000"/>
            <a:ext cx="3180000" cy="4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26A29C"/>
                </a:solidFill>
                <a:latin typeface="Helvetica"/>
              </a:rPr>
              <a:t>β peer-dep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06000" y="2480000"/>
            <a:ext cx="3180000" cy="4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787882"/>
                </a:solidFill>
                <a:latin typeface="Helvetica"/>
              </a:rPr>
              <a:t>不在 pyproject.dependencies；CI Step-1 explicit install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06000" y="3080000"/>
            <a:ext cx="3180000" cy="10000"/>
          </a:xfrm>
          <a:prstGeom prst="rect">
            <a:avLst/>
          </a:prstGeom>
          <a:solidFill>
            <a:srgbClr val="C8C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6000" y="3140000"/>
            <a:ext cx="318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787882"/>
                </a:solidFill>
                <a:latin typeface="Helvetica"/>
              </a:rPr>
              <a:t>适用仓库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06000" y="3440000"/>
            <a:ext cx="3180000" cy="8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A2A44"/>
                </a:solidFill>
                <a:latin typeface="Menlo"/>
              </a:rPr>
              <a:t>pet-infra / pet-data / pet-annotation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A2A44"/>
                </a:solidFill>
                <a:latin typeface="Menlo"/>
              </a:rPr>
              <a:t>pet-train / pet-eval / pet-quantize / pet-ota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A2A44"/>
                </a:solidFill>
                <a:latin typeface="Menlo"/>
              </a:rPr>
              <a:t>(相对 pet-infra 都是 β)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06000" y="4350000"/>
            <a:ext cx="3180000" cy="9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26A29C"/>
                </a:solidFill>
                <a:latin typeface="Helvetica"/>
              </a:rPr>
              <a:t>▪  </a:t>
            </a:r>
            <a:r>
              <a:rPr sz="1050">
                <a:solidFill>
                  <a:srgbClr val="1A2A44"/>
                </a:solidFill>
                <a:latin typeface="Helvetica"/>
              </a:rPr>
              <a:t>适合：频繁迭代型 peer</a:t>
            </a:r>
          </a:p>
          <a:p>
            <a:pPr algn="l">
              <a:lnSpc>
                <a:spcPct val="135000"/>
              </a:lnSpc>
            </a:pPr>
            <a:r>
              <a:rPr sz="1050" b="1">
                <a:solidFill>
                  <a:srgbClr val="26A29C"/>
                </a:solidFill>
                <a:latin typeface="Helvetica"/>
              </a:rPr>
              <a:t>▪  </a:t>
            </a:r>
            <a:r>
              <a:rPr sz="1050">
                <a:solidFill>
                  <a:srgbClr val="1A2A44"/>
                </a:solidFill>
                <a:latin typeface="Helvetica"/>
              </a:rPr>
              <a:t>如 pet-infra (版本常改)</a:t>
            </a:r>
          </a:p>
          <a:p>
            <a:pPr algn="l">
              <a:lnSpc>
                <a:spcPct val="135000"/>
              </a:lnSpc>
            </a:pPr>
            <a:r>
              <a:rPr sz="1050" b="1">
                <a:solidFill>
                  <a:srgbClr val="26A29C"/>
                </a:solidFill>
                <a:latin typeface="Helvetica"/>
              </a:rPr>
              <a:t>▪  </a:t>
            </a:r>
            <a:r>
              <a:rPr sz="1050">
                <a:solidFill>
                  <a:srgbClr val="1A2A44"/>
                </a:solidFill>
                <a:latin typeface="Helvetica"/>
              </a:rPr>
              <a:t>delayed RuntimeError guard in register_all()</a:t>
            </a:r>
          </a:p>
          <a:p>
            <a:pPr algn="l">
              <a:lnSpc>
                <a:spcPct val="135000"/>
              </a:lnSpc>
            </a:pPr>
            <a:r>
              <a:rPr sz="1050" b="1">
                <a:solidFill>
                  <a:srgbClr val="26A29C"/>
                </a:solidFill>
                <a:latin typeface="Helvetica"/>
              </a:rPr>
              <a:t>▪  </a:t>
            </a:r>
            <a:r>
              <a:rPr sz="1050">
                <a:solidFill>
                  <a:srgbClr val="1A2A44"/>
                </a:solidFill>
                <a:latin typeface="Helvetica"/>
              </a:rPr>
              <a:t>优势：裸 import 轻量 (IDE/静态分析)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46000" y="1800000"/>
            <a:ext cx="3500000" cy="360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146000" y="1800000"/>
            <a:ext cx="3500000" cy="90000"/>
          </a:xfrm>
          <a:prstGeom prst="rect">
            <a:avLst/>
          </a:prstGeom>
          <a:solidFill>
            <a:srgbClr val="367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06000" y="1980000"/>
            <a:ext cx="3180000" cy="4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367BD6"/>
                </a:solidFill>
                <a:latin typeface="Helvetica"/>
              </a:rPr>
              <a:t>跨仓 plugin no-pin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06000" y="2480000"/>
            <a:ext cx="3180000" cy="4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787882"/>
                </a:solidFill>
                <a:latin typeface="Helvetica"/>
              </a:rPr>
              <a:t>pyproject 写 `pet-xxx` 不带版本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306000" y="3080000"/>
            <a:ext cx="3180000" cy="10000"/>
          </a:xfrm>
          <a:prstGeom prst="rect">
            <a:avLst/>
          </a:prstGeom>
          <a:solidFill>
            <a:srgbClr val="C8C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06000" y="3140000"/>
            <a:ext cx="318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787882"/>
                </a:solidFill>
                <a:latin typeface="Helvetica"/>
              </a:rPr>
              <a:t>适用仓库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06000" y="3440000"/>
            <a:ext cx="3180000" cy="8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A2A44"/>
                </a:solidFill>
                <a:latin typeface="Menlo"/>
              </a:rPr>
              <a:t>pet-eval → pet-train, pet-quantize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A2A44"/>
                </a:solidFill>
                <a:latin typeface="Menlo"/>
              </a:rPr>
              <a:t>pet-ota[signing] → pet-quantize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06000" y="4350000"/>
            <a:ext cx="3180000" cy="9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367BD6"/>
                </a:solidFill>
                <a:latin typeface="Helvetica"/>
              </a:rPr>
              <a:t>▪  </a:t>
            </a:r>
            <a:r>
              <a:rPr sz="1050">
                <a:solidFill>
                  <a:srgbClr val="1A2A44"/>
                </a:solidFill>
                <a:latin typeface="Helvetica"/>
              </a:rPr>
              <a:t>适合：跨仓 runtime plugin dep</a:t>
            </a:r>
          </a:p>
          <a:p>
            <a:pPr algn="l">
              <a:lnSpc>
                <a:spcPct val="135000"/>
              </a:lnSpc>
            </a:pPr>
            <a:r>
              <a:rPr sz="1050" b="1">
                <a:solidFill>
                  <a:srgbClr val="367BD6"/>
                </a:solidFill>
                <a:latin typeface="Helvetica"/>
              </a:rPr>
              <a:t>▪  </a:t>
            </a:r>
            <a:r>
              <a:rPr sz="1050">
                <a:solidFill>
                  <a:srgbClr val="1A2A44"/>
                </a:solidFill>
                <a:latin typeface="Helvetica"/>
              </a:rPr>
              <a:t>版本由 matrix row 锁定</a:t>
            </a:r>
          </a:p>
          <a:p>
            <a:pPr algn="l">
              <a:lnSpc>
                <a:spcPct val="135000"/>
              </a:lnSpc>
            </a:pPr>
            <a:r>
              <a:rPr sz="1050" b="1">
                <a:solidFill>
                  <a:srgbClr val="367BD6"/>
                </a:solidFill>
                <a:latin typeface="Helvetica"/>
              </a:rPr>
              <a:t>▪  </a:t>
            </a:r>
            <a:r>
              <a:rPr sz="1050">
                <a:solidFill>
                  <a:srgbClr val="1A2A44"/>
                </a:solidFill>
                <a:latin typeface="Helvetica"/>
              </a:rPr>
              <a:t>CI 显式装矩阵版本</a:t>
            </a:r>
          </a:p>
          <a:p>
            <a:pPr algn="l">
              <a:lnSpc>
                <a:spcPct val="135000"/>
              </a:lnSpc>
            </a:pPr>
            <a:r>
              <a:rPr sz="1050" b="1">
                <a:solidFill>
                  <a:srgbClr val="367BD6"/>
                </a:solidFill>
                <a:latin typeface="Helvetica"/>
              </a:rPr>
              <a:t>▪  </a:t>
            </a:r>
            <a:r>
              <a:rPr sz="1050">
                <a:solidFill>
                  <a:srgbClr val="1A2A44"/>
                </a:solidFill>
                <a:latin typeface="Helvetica"/>
              </a:rPr>
              <a:t>优势：plugin 发现松耦合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0000" y="6418000"/>
            <a:ext cx="50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787882"/>
                </a:solidFill>
                <a:latin typeface="Helvetica"/>
              </a:rPr>
              <a:t>Train-Pet-Pipeline · Technical Overview · matrix 2026.10-ecosystem-cleanup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0000"/>
          </a:xfrm>
          <a:prstGeom prst="rect">
            <a:avLst/>
          </a:prstGeom>
          <a:solidFill>
            <a:srgbClr val="367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60000" y="200000"/>
            <a:ext cx="2000000" cy="3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367BD6"/>
                </a:solidFill>
                <a:latin typeface="Helvetica"/>
              </a:rPr>
              <a:t>§ 10 · 横切 / CI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0000" y="420000"/>
            <a:ext cx="11272000" cy="6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1A2A44"/>
                </a:solidFill>
                <a:latin typeface="Helvetica"/>
              </a:rPr>
              <a:t>CI Guard 矩阵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0000" y="1020000"/>
            <a:ext cx="112720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787882"/>
                </a:solidFill>
                <a:latin typeface="Helvetica"/>
              </a:rPr>
              <a:t>生态优化把 5 类 workflow 一致化到 9 仓</a:t>
            </a:r>
          </a:p>
        </p:txBody>
      </p:sp>
      <p:sp>
        <p:nvSpPr>
          <p:cNvPr id="6" name="Rectangle 5"/>
          <p:cNvSpPr/>
          <p:nvPr/>
        </p:nvSpPr>
        <p:spPr>
          <a:xfrm>
            <a:off x="460000" y="1460000"/>
            <a:ext cx="11272000" cy="15000"/>
          </a:xfrm>
          <a:prstGeom prst="rect">
            <a:avLst/>
          </a:prstGeom>
          <a:solidFill>
            <a:srgbClr val="C8C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60000" y="1800000"/>
            <a:ext cx="1720000" cy="500000"/>
          </a:xfrm>
          <a:prstGeom prst="rect">
            <a:avLst/>
          </a:prstGeom>
          <a:solidFill>
            <a:srgbClr val="1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440000" y="1850000"/>
            <a:ext cx="156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 i="0">
                <a:solidFill>
                  <a:srgbClr val="FFFFFF"/>
                </a:solidFill>
                <a:latin typeface="Menlo"/>
              </a:rPr>
              <a:t>ci.yml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40000" y="2080000"/>
            <a:ext cx="156000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1">
                <a:solidFill>
                  <a:srgbClr val="C8CCD2"/>
                </a:solidFill>
                <a:latin typeface="Helvetica"/>
              </a:rPr>
              <a:t>lint + mypy + pytest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80000" y="1800000"/>
            <a:ext cx="1720000" cy="500000"/>
          </a:xfrm>
          <a:prstGeom prst="rect">
            <a:avLst/>
          </a:prstGeom>
          <a:solidFill>
            <a:srgbClr val="1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60000" y="1850000"/>
            <a:ext cx="156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 i="0">
                <a:solidFill>
                  <a:srgbClr val="FFFFFF"/>
                </a:solidFill>
                <a:latin typeface="Menlo"/>
              </a:rPr>
              <a:t>peer-dep-smoke.yml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60000" y="2080000"/>
            <a:ext cx="156000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1">
                <a:solidFill>
                  <a:srgbClr val="C8CCD2"/>
                </a:solidFill>
                <a:latin typeface="Helvetica"/>
              </a:rPr>
              <a:t>独立装序 smoke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800000" y="1800000"/>
            <a:ext cx="1720000" cy="500000"/>
          </a:xfrm>
          <a:prstGeom prst="rect">
            <a:avLst/>
          </a:prstGeom>
          <a:solidFill>
            <a:srgbClr val="1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80000" y="1850000"/>
            <a:ext cx="156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 i="0">
                <a:solidFill>
                  <a:srgbClr val="FFFFFF"/>
                </a:solidFill>
                <a:latin typeface="Menlo"/>
              </a:rPr>
              <a:t>no-wandb-residue.yml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80000" y="2080000"/>
            <a:ext cx="156000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1">
                <a:solidFill>
                  <a:srgbClr val="C8CCD2"/>
                </a:solidFill>
                <a:latin typeface="Helvetica"/>
              </a:rPr>
              <a:t>positive-list 扫 \bwandb\b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520000" y="1800000"/>
            <a:ext cx="1720000" cy="500000"/>
          </a:xfrm>
          <a:prstGeom prst="rect">
            <a:avLst/>
          </a:prstGeom>
          <a:solidFill>
            <a:srgbClr val="1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0000" y="1850000"/>
            <a:ext cx="156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 i="0">
                <a:solidFill>
                  <a:srgbClr val="FFFFFF"/>
                </a:solidFill>
                <a:latin typeface="Menlo"/>
              </a:rPr>
              <a:t>schema_guard.yml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00000" y="2080000"/>
            <a:ext cx="156000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1">
                <a:solidFill>
                  <a:srgbClr val="C8CCD2"/>
                </a:solidFill>
                <a:latin typeface="Helvetica"/>
              </a:rPr>
              <a:t>pet-schema dispatch 全链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240000" y="1800000"/>
            <a:ext cx="1720000" cy="500000"/>
          </a:xfrm>
          <a:prstGeom prst="rect">
            <a:avLst/>
          </a:prstGeom>
          <a:solidFill>
            <a:srgbClr val="1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0000" y="1850000"/>
            <a:ext cx="156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 i="0">
                <a:solidFill>
                  <a:srgbClr val="FFFFFF"/>
                </a:solidFill>
                <a:latin typeface="Menlo"/>
              </a:rPr>
              <a:t>cross-repo-smoke-install.yml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0000" y="2080000"/>
            <a:ext cx="156000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1">
                <a:solidFill>
                  <a:srgbClr val="C8CCD2"/>
                </a:solidFill>
                <a:latin typeface="Helvetica"/>
              </a:rPr>
              <a:t>matrix row 装序验证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0000" y="2300000"/>
            <a:ext cx="1700000" cy="3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60000" y="2300000"/>
            <a:ext cx="100000" cy="380000"/>
          </a:xfrm>
          <a:prstGeom prst="rect">
            <a:avLst/>
          </a:prstGeom>
          <a:solidFill>
            <a:srgbClr val="435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90000" y="2300000"/>
            <a:ext cx="155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2A44"/>
                </a:solidFill>
                <a:latin typeface="Menlo"/>
              </a:rPr>
              <a:t>pet-schema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360000" y="2300000"/>
            <a:ext cx="1720000" cy="380000"/>
          </a:xfrm>
          <a:prstGeom prst="rect">
            <a:avLst/>
          </a:prstGeom>
          <a:solidFill>
            <a:srgbClr val="E7F4EE"/>
          </a:solidFill>
          <a:ln w="6350">
            <a:solidFill>
              <a:srgbClr val="26A2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360000" y="2300000"/>
            <a:ext cx="172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6A29C"/>
                </a:solidFill>
                <a:latin typeface="Helvetica"/>
              </a:rPr>
              <a:t>✓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80000" y="2300000"/>
            <a:ext cx="1720000" cy="3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080000" y="2300000"/>
            <a:ext cx="172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C8CCD2"/>
                </a:solidFill>
                <a:latin typeface="Helvetica"/>
              </a:rPr>
              <a:t>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800000" y="2300000"/>
            <a:ext cx="1720000" cy="3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800000" y="2300000"/>
            <a:ext cx="172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C8CCD2"/>
                </a:solidFill>
                <a:latin typeface="Helvetica"/>
              </a:rPr>
              <a:t>—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520000" y="2300000"/>
            <a:ext cx="1720000" cy="380000"/>
          </a:xfrm>
          <a:prstGeom prst="rect">
            <a:avLst/>
          </a:prstGeom>
          <a:solidFill>
            <a:srgbClr val="E7F4EE"/>
          </a:solidFill>
          <a:ln w="6350">
            <a:solidFill>
              <a:srgbClr val="26A2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20000" y="2300000"/>
            <a:ext cx="172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6A29C"/>
                </a:solidFill>
                <a:latin typeface="Helvetica"/>
              </a:rPr>
              <a:t>✓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240000" y="2300000"/>
            <a:ext cx="1720000" cy="3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40000" y="2300000"/>
            <a:ext cx="172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C8CCD2"/>
                </a:solidFill>
                <a:latin typeface="Helvetica"/>
              </a:rPr>
              <a:t>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0000" y="2680000"/>
            <a:ext cx="1700000" cy="3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60000" y="2680000"/>
            <a:ext cx="100000" cy="380000"/>
          </a:xfrm>
          <a:prstGeom prst="rect">
            <a:avLst/>
          </a:prstGeom>
          <a:solidFill>
            <a:srgbClr val="2F6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90000" y="2680000"/>
            <a:ext cx="155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2A44"/>
                </a:solidFill>
                <a:latin typeface="Menlo"/>
              </a:rPr>
              <a:t>pet-infra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360000" y="2680000"/>
            <a:ext cx="1720000" cy="380000"/>
          </a:xfrm>
          <a:prstGeom prst="rect">
            <a:avLst/>
          </a:prstGeom>
          <a:solidFill>
            <a:srgbClr val="E7F4EE"/>
          </a:solidFill>
          <a:ln w="6350">
            <a:solidFill>
              <a:srgbClr val="26A2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360000" y="2680000"/>
            <a:ext cx="172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6A29C"/>
                </a:solidFill>
                <a:latin typeface="Helvetica"/>
              </a:rPr>
              <a:t>✓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80000" y="2680000"/>
            <a:ext cx="1720000" cy="380000"/>
          </a:xfrm>
          <a:prstGeom prst="rect">
            <a:avLst/>
          </a:prstGeom>
          <a:solidFill>
            <a:srgbClr val="E7F4EE"/>
          </a:solidFill>
          <a:ln w="6350">
            <a:solidFill>
              <a:srgbClr val="26A2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080000" y="2680000"/>
            <a:ext cx="172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6A29C"/>
                </a:solidFill>
                <a:latin typeface="Helvetica"/>
              </a:rPr>
              <a:t>✓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800000" y="2680000"/>
            <a:ext cx="1720000" cy="380000"/>
          </a:xfrm>
          <a:prstGeom prst="rect">
            <a:avLst/>
          </a:prstGeom>
          <a:solidFill>
            <a:srgbClr val="E7F4EE"/>
          </a:solidFill>
          <a:ln w="6350">
            <a:solidFill>
              <a:srgbClr val="26A2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800000" y="2680000"/>
            <a:ext cx="172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6A29C"/>
                </a:solidFill>
                <a:latin typeface="Helvetica"/>
              </a:rPr>
              <a:t>✓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520000" y="2680000"/>
            <a:ext cx="1720000" cy="3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520000" y="2680000"/>
            <a:ext cx="172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C8CCD2"/>
                </a:solidFill>
                <a:latin typeface="Helvetica"/>
              </a:rPr>
              <a:t>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240000" y="2680000"/>
            <a:ext cx="1720000" cy="380000"/>
          </a:xfrm>
          <a:prstGeom prst="rect">
            <a:avLst/>
          </a:prstGeom>
          <a:solidFill>
            <a:srgbClr val="E7F4EE"/>
          </a:solidFill>
          <a:ln w="6350">
            <a:solidFill>
              <a:srgbClr val="26A2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240000" y="2680000"/>
            <a:ext cx="172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6A29C"/>
                </a:solidFill>
                <a:latin typeface="Helvetica"/>
              </a:rPr>
              <a:t>✓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60000" y="3060000"/>
            <a:ext cx="1700000" cy="3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60000" y="3060000"/>
            <a:ext cx="100000" cy="380000"/>
          </a:xfrm>
          <a:prstGeom prst="rect">
            <a:avLst/>
          </a:prstGeom>
          <a:solidFill>
            <a:srgbClr val="2985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90000" y="3060000"/>
            <a:ext cx="155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2A44"/>
                </a:solidFill>
                <a:latin typeface="Menlo"/>
              </a:rPr>
              <a:t>pet-data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360000" y="3060000"/>
            <a:ext cx="1720000" cy="380000"/>
          </a:xfrm>
          <a:prstGeom prst="rect">
            <a:avLst/>
          </a:prstGeom>
          <a:solidFill>
            <a:srgbClr val="E7F4EE"/>
          </a:solidFill>
          <a:ln w="6350">
            <a:solidFill>
              <a:srgbClr val="26A2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360000" y="3060000"/>
            <a:ext cx="172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6A29C"/>
                </a:solidFill>
                <a:latin typeface="Helvetica"/>
              </a:rPr>
              <a:t>✓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080000" y="3060000"/>
            <a:ext cx="1720000" cy="380000"/>
          </a:xfrm>
          <a:prstGeom prst="rect">
            <a:avLst/>
          </a:prstGeom>
          <a:solidFill>
            <a:srgbClr val="E7F4EE"/>
          </a:solidFill>
          <a:ln w="6350">
            <a:solidFill>
              <a:srgbClr val="26A2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080000" y="3060000"/>
            <a:ext cx="172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6A29C"/>
                </a:solidFill>
                <a:latin typeface="Helvetica"/>
              </a:rPr>
              <a:t>✓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800000" y="3060000"/>
            <a:ext cx="1720000" cy="3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800000" y="3060000"/>
            <a:ext cx="172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C8CCD2"/>
                </a:solidFill>
                <a:latin typeface="Helvetica"/>
              </a:rPr>
              <a:t>—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520000" y="3060000"/>
            <a:ext cx="1720000" cy="3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520000" y="3060000"/>
            <a:ext cx="172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C8CCD2"/>
                </a:solidFill>
                <a:latin typeface="Helvetica"/>
              </a:rPr>
              <a:t>—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240000" y="3060000"/>
            <a:ext cx="1720000" cy="3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240000" y="3060000"/>
            <a:ext cx="172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C8CCD2"/>
                </a:solidFill>
                <a:latin typeface="Helvetica"/>
              </a:rPr>
              <a:t>—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60000" y="3440000"/>
            <a:ext cx="1700000" cy="3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60000" y="3440000"/>
            <a:ext cx="100000" cy="380000"/>
          </a:xfrm>
          <a:prstGeom prst="rect">
            <a:avLst/>
          </a:prstGeom>
          <a:solidFill>
            <a:srgbClr val="26A2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90000" y="3440000"/>
            <a:ext cx="155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2A44"/>
                </a:solidFill>
                <a:latin typeface="Menlo"/>
              </a:rPr>
              <a:t>pet-annotation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360000" y="3440000"/>
            <a:ext cx="1720000" cy="380000"/>
          </a:xfrm>
          <a:prstGeom prst="rect">
            <a:avLst/>
          </a:prstGeom>
          <a:solidFill>
            <a:srgbClr val="E7F4EE"/>
          </a:solidFill>
          <a:ln w="6350">
            <a:solidFill>
              <a:srgbClr val="26A2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360000" y="3440000"/>
            <a:ext cx="172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6A29C"/>
                </a:solidFill>
                <a:latin typeface="Helvetica"/>
              </a:rPr>
              <a:t>✓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080000" y="3440000"/>
            <a:ext cx="1720000" cy="380000"/>
          </a:xfrm>
          <a:prstGeom prst="rect">
            <a:avLst/>
          </a:prstGeom>
          <a:solidFill>
            <a:srgbClr val="E7F4EE"/>
          </a:solidFill>
          <a:ln w="6350">
            <a:solidFill>
              <a:srgbClr val="26A2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080000" y="3440000"/>
            <a:ext cx="172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6A29C"/>
                </a:solidFill>
                <a:latin typeface="Helvetica"/>
              </a:rPr>
              <a:t>✓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800000" y="3440000"/>
            <a:ext cx="1720000" cy="3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800000" y="3440000"/>
            <a:ext cx="172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C8CCD2"/>
                </a:solidFill>
                <a:latin typeface="Helvetica"/>
              </a:rPr>
              <a:t>—</a:t>
            </a:r>
          </a:p>
        </p:txBody>
      </p:sp>
      <p:sp>
        <p:nvSpPr>
          <p:cNvPr id="70" name="Rectangle 69"/>
          <p:cNvSpPr/>
          <p:nvPr/>
        </p:nvSpPr>
        <p:spPr>
          <a:xfrm>
            <a:off x="7520000" y="3440000"/>
            <a:ext cx="1720000" cy="3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520000" y="3440000"/>
            <a:ext cx="172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C8CCD2"/>
                </a:solidFill>
                <a:latin typeface="Helvetica"/>
              </a:rPr>
              <a:t>—</a:t>
            </a:r>
          </a:p>
        </p:txBody>
      </p:sp>
      <p:sp>
        <p:nvSpPr>
          <p:cNvPr id="72" name="Rectangle 71"/>
          <p:cNvSpPr/>
          <p:nvPr/>
        </p:nvSpPr>
        <p:spPr>
          <a:xfrm>
            <a:off x="9240000" y="3440000"/>
            <a:ext cx="1720000" cy="3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240000" y="3440000"/>
            <a:ext cx="172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C8CCD2"/>
                </a:solidFill>
                <a:latin typeface="Helvetica"/>
              </a:rPr>
              <a:t>—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60000" y="3820000"/>
            <a:ext cx="1700000" cy="3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660000" y="3820000"/>
            <a:ext cx="100000" cy="380000"/>
          </a:xfrm>
          <a:prstGeom prst="rect">
            <a:avLst/>
          </a:prstGeom>
          <a:solidFill>
            <a:srgbClr val="5AA3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790000" y="3820000"/>
            <a:ext cx="155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2A44"/>
                </a:solidFill>
                <a:latin typeface="Menlo"/>
              </a:rPr>
              <a:t>pet-train</a:t>
            </a:r>
          </a:p>
        </p:txBody>
      </p:sp>
      <p:sp>
        <p:nvSpPr>
          <p:cNvPr id="77" name="Rectangle 76"/>
          <p:cNvSpPr/>
          <p:nvPr/>
        </p:nvSpPr>
        <p:spPr>
          <a:xfrm>
            <a:off x="2360000" y="3820000"/>
            <a:ext cx="1720000" cy="380000"/>
          </a:xfrm>
          <a:prstGeom prst="rect">
            <a:avLst/>
          </a:prstGeom>
          <a:solidFill>
            <a:srgbClr val="E7F4EE"/>
          </a:solidFill>
          <a:ln w="6350">
            <a:solidFill>
              <a:srgbClr val="26A2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2360000" y="3820000"/>
            <a:ext cx="172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6A29C"/>
                </a:solidFill>
                <a:latin typeface="Helvetica"/>
              </a:rPr>
              <a:t>✓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080000" y="3820000"/>
            <a:ext cx="1720000" cy="380000"/>
          </a:xfrm>
          <a:prstGeom prst="rect">
            <a:avLst/>
          </a:prstGeom>
          <a:solidFill>
            <a:srgbClr val="E7F4EE"/>
          </a:solidFill>
          <a:ln w="6350">
            <a:solidFill>
              <a:srgbClr val="26A2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4080000" y="3820000"/>
            <a:ext cx="172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6A29C"/>
                </a:solidFill>
                <a:latin typeface="Helvetica"/>
              </a:rPr>
              <a:t>✓</a:t>
            </a:r>
          </a:p>
        </p:txBody>
      </p:sp>
      <p:sp>
        <p:nvSpPr>
          <p:cNvPr id="81" name="Rectangle 80"/>
          <p:cNvSpPr/>
          <p:nvPr/>
        </p:nvSpPr>
        <p:spPr>
          <a:xfrm>
            <a:off x="5800000" y="3820000"/>
            <a:ext cx="1720000" cy="380000"/>
          </a:xfrm>
          <a:prstGeom prst="rect">
            <a:avLst/>
          </a:prstGeom>
          <a:solidFill>
            <a:srgbClr val="E7F4EE"/>
          </a:solidFill>
          <a:ln w="6350">
            <a:solidFill>
              <a:srgbClr val="26A2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800000" y="3820000"/>
            <a:ext cx="172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6A29C"/>
                </a:solidFill>
                <a:latin typeface="Helvetica"/>
              </a:rPr>
              <a:t>✓</a:t>
            </a:r>
          </a:p>
        </p:txBody>
      </p:sp>
      <p:sp>
        <p:nvSpPr>
          <p:cNvPr id="83" name="Rectangle 82"/>
          <p:cNvSpPr/>
          <p:nvPr/>
        </p:nvSpPr>
        <p:spPr>
          <a:xfrm>
            <a:off x="7520000" y="3820000"/>
            <a:ext cx="1720000" cy="3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7520000" y="3820000"/>
            <a:ext cx="172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C8CCD2"/>
                </a:solidFill>
                <a:latin typeface="Helvetica"/>
              </a:rPr>
              <a:t>—</a:t>
            </a:r>
          </a:p>
        </p:txBody>
      </p:sp>
      <p:sp>
        <p:nvSpPr>
          <p:cNvPr id="85" name="Rectangle 84"/>
          <p:cNvSpPr/>
          <p:nvPr/>
        </p:nvSpPr>
        <p:spPr>
          <a:xfrm>
            <a:off x="9240000" y="3820000"/>
            <a:ext cx="1720000" cy="3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9240000" y="3820000"/>
            <a:ext cx="172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C8CCD2"/>
                </a:solidFill>
                <a:latin typeface="Helvetica"/>
              </a:rPr>
              <a:t>—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60000" y="4200000"/>
            <a:ext cx="1700000" cy="3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660000" y="4200000"/>
            <a:ext cx="100000" cy="380000"/>
          </a:xfrm>
          <a:prstGeom prst="rect">
            <a:avLst/>
          </a:prstGeom>
          <a:solidFill>
            <a:srgbClr val="8EA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790000" y="4200000"/>
            <a:ext cx="155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2A44"/>
                </a:solidFill>
                <a:latin typeface="Menlo"/>
              </a:rPr>
              <a:t>pet-eval</a:t>
            </a:r>
          </a:p>
        </p:txBody>
      </p:sp>
      <p:sp>
        <p:nvSpPr>
          <p:cNvPr id="90" name="Rectangle 89"/>
          <p:cNvSpPr/>
          <p:nvPr/>
        </p:nvSpPr>
        <p:spPr>
          <a:xfrm>
            <a:off x="2360000" y="4200000"/>
            <a:ext cx="1720000" cy="380000"/>
          </a:xfrm>
          <a:prstGeom prst="rect">
            <a:avLst/>
          </a:prstGeom>
          <a:solidFill>
            <a:srgbClr val="E7F4EE"/>
          </a:solidFill>
          <a:ln w="6350">
            <a:solidFill>
              <a:srgbClr val="26A2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2360000" y="4200000"/>
            <a:ext cx="172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6A29C"/>
                </a:solidFill>
                <a:latin typeface="Helvetica"/>
              </a:rPr>
              <a:t>✓</a:t>
            </a:r>
          </a:p>
        </p:txBody>
      </p:sp>
      <p:sp>
        <p:nvSpPr>
          <p:cNvPr id="92" name="Rectangle 91"/>
          <p:cNvSpPr/>
          <p:nvPr/>
        </p:nvSpPr>
        <p:spPr>
          <a:xfrm>
            <a:off x="4080000" y="4200000"/>
            <a:ext cx="1720000" cy="380000"/>
          </a:xfrm>
          <a:prstGeom prst="rect">
            <a:avLst/>
          </a:prstGeom>
          <a:solidFill>
            <a:srgbClr val="E7F4EE"/>
          </a:solidFill>
          <a:ln w="6350">
            <a:solidFill>
              <a:srgbClr val="26A2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080000" y="4200000"/>
            <a:ext cx="172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6A29C"/>
                </a:solidFill>
                <a:latin typeface="Helvetica"/>
              </a:rPr>
              <a:t>✓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800000" y="4200000"/>
            <a:ext cx="1720000" cy="380000"/>
          </a:xfrm>
          <a:prstGeom prst="rect">
            <a:avLst/>
          </a:prstGeom>
          <a:solidFill>
            <a:srgbClr val="E7F4EE"/>
          </a:solidFill>
          <a:ln w="6350">
            <a:solidFill>
              <a:srgbClr val="26A2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800000" y="4200000"/>
            <a:ext cx="172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6A29C"/>
                </a:solidFill>
                <a:latin typeface="Helvetica"/>
              </a:rPr>
              <a:t>✓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520000" y="4200000"/>
            <a:ext cx="1720000" cy="3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520000" y="4200000"/>
            <a:ext cx="172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C8CCD2"/>
                </a:solidFill>
                <a:latin typeface="Helvetica"/>
              </a:rPr>
              <a:t>—</a:t>
            </a:r>
          </a:p>
        </p:txBody>
      </p:sp>
      <p:sp>
        <p:nvSpPr>
          <p:cNvPr id="98" name="Rectangle 97"/>
          <p:cNvSpPr/>
          <p:nvPr/>
        </p:nvSpPr>
        <p:spPr>
          <a:xfrm>
            <a:off x="9240000" y="4200000"/>
            <a:ext cx="1720000" cy="3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9240000" y="4200000"/>
            <a:ext cx="172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C8CCD2"/>
                </a:solidFill>
                <a:latin typeface="Helvetica"/>
              </a:rPr>
              <a:t>—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660000" y="4580000"/>
            <a:ext cx="1700000" cy="3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660000" y="4580000"/>
            <a:ext cx="100000" cy="380000"/>
          </a:xfrm>
          <a:prstGeom prst="rect">
            <a:avLst/>
          </a:prstGeom>
          <a:solidFill>
            <a:srgbClr val="C28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790000" y="4580000"/>
            <a:ext cx="155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2A44"/>
                </a:solidFill>
                <a:latin typeface="Menlo"/>
              </a:rPr>
              <a:t>pet-quantize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2360000" y="4580000"/>
            <a:ext cx="1720000" cy="380000"/>
          </a:xfrm>
          <a:prstGeom prst="rect">
            <a:avLst/>
          </a:prstGeom>
          <a:solidFill>
            <a:srgbClr val="E7F4EE"/>
          </a:solidFill>
          <a:ln w="6350">
            <a:solidFill>
              <a:srgbClr val="26A2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2360000" y="4580000"/>
            <a:ext cx="172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6A29C"/>
                </a:solidFill>
                <a:latin typeface="Helvetica"/>
              </a:rPr>
              <a:t>✓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4080000" y="4580000"/>
            <a:ext cx="1720000" cy="380000"/>
          </a:xfrm>
          <a:prstGeom prst="rect">
            <a:avLst/>
          </a:prstGeom>
          <a:solidFill>
            <a:srgbClr val="E7F4EE"/>
          </a:solidFill>
          <a:ln w="6350">
            <a:solidFill>
              <a:srgbClr val="26A2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4080000" y="4580000"/>
            <a:ext cx="172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6A29C"/>
                </a:solidFill>
                <a:latin typeface="Helvetica"/>
              </a:rPr>
              <a:t>✓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5800000" y="4580000"/>
            <a:ext cx="1720000" cy="380000"/>
          </a:xfrm>
          <a:prstGeom prst="rect">
            <a:avLst/>
          </a:prstGeom>
          <a:solidFill>
            <a:srgbClr val="E7F4EE"/>
          </a:solidFill>
          <a:ln w="6350">
            <a:solidFill>
              <a:srgbClr val="26A2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5800000" y="4580000"/>
            <a:ext cx="172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6A29C"/>
                </a:solidFill>
                <a:latin typeface="Helvetica"/>
              </a:rPr>
              <a:t>✓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7520000" y="4580000"/>
            <a:ext cx="1720000" cy="3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7520000" y="4580000"/>
            <a:ext cx="172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C8CCD2"/>
                </a:solidFill>
                <a:latin typeface="Helvetica"/>
              </a:rPr>
              <a:t>—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9240000" y="4580000"/>
            <a:ext cx="1720000" cy="3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9240000" y="4580000"/>
            <a:ext cx="172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C8CCD2"/>
                </a:solidFill>
                <a:latin typeface="Helvetica"/>
              </a:rPr>
              <a:t>—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660000" y="4960000"/>
            <a:ext cx="1700000" cy="3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660000" y="4960000"/>
            <a:ext cx="100000" cy="380000"/>
          </a:xfrm>
          <a:prstGeom prst="rect">
            <a:avLst/>
          </a:prstGeom>
          <a:solidFill>
            <a:srgbClr val="C25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90000" y="4960000"/>
            <a:ext cx="155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2A44"/>
                </a:solidFill>
                <a:latin typeface="Menlo"/>
              </a:rPr>
              <a:t>pet-ota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2360000" y="4960000"/>
            <a:ext cx="1720000" cy="380000"/>
          </a:xfrm>
          <a:prstGeom prst="rect">
            <a:avLst/>
          </a:prstGeom>
          <a:solidFill>
            <a:srgbClr val="E7F4EE"/>
          </a:solidFill>
          <a:ln w="6350">
            <a:solidFill>
              <a:srgbClr val="26A2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2360000" y="4960000"/>
            <a:ext cx="172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6A29C"/>
                </a:solidFill>
                <a:latin typeface="Helvetica"/>
              </a:rPr>
              <a:t>✓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4080000" y="4960000"/>
            <a:ext cx="1720000" cy="380000"/>
          </a:xfrm>
          <a:prstGeom prst="rect">
            <a:avLst/>
          </a:prstGeom>
          <a:solidFill>
            <a:srgbClr val="E7F4EE"/>
          </a:solidFill>
          <a:ln w="6350">
            <a:solidFill>
              <a:srgbClr val="26A2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080000" y="4960000"/>
            <a:ext cx="172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6A29C"/>
                </a:solidFill>
                <a:latin typeface="Helvetica"/>
              </a:rPr>
              <a:t>✓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5800000" y="4960000"/>
            <a:ext cx="1720000" cy="380000"/>
          </a:xfrm>
          <a:prstGeom prst="rect">
            <a:avLst/>
          </a:prstGeom>
          <a:solidFill>
            <a:srgbClr val="E7F4EE"/>
          </a:solidFill>
          <a:ln w="6350">
            <a:solidFill>
              <a:srgbClr val="26A2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5800000" y="4960000"/>
            <a:ext cx="172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6A29C"/>
                </a:solidFill>
                <a:latin typeface="Helvetica"/>
              </a:rPr>
              <a:t>✓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7520000" y="4960000"/>
            <a:ext cx="1720000" cy="3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7520000" y="4960000"/>
            <a:ext cx="172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C8CCD2"/>
                </a:solidFill>
                <a:latin typeface="Helvetica"/>
              </a:rPr>
              <a:t>—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9240000" y="4960000"/>
            <a:ext cx="1720000" cy="3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9240000" y="4960000"/>
            <a:ext cx="172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C8CCD2"/>
                </a:solidFill>
                <a:latin typeface="Helvetica"/>
              </a:rPr>
              <a:t>—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660000" y="5340000"/>
            <a:ext cx="1700000" cy="3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660000" y="5340000"/>
            <a:ext cx="100000" cy="380000"/>
          </a:xfrm>
          <a:prstGeom prst="rect">
            <a:avLst/>
          </a:prstGeom>
          <a:solidFill>
            <a:srgbClr val="7A57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790000" y="5340000"/>
            <a:ext cx="155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2A44"/>
                </a:solidFill>
                <a:latin typeface="Menlo"/>
              </a:rPr>
              <a:t>pet-id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2360000" y="5340000"/>
            <a:ext cx="1720000" cy="380000"/>
          </a:xfrm>
          <a:prstGeom prst="rect">
            <a:avLst/>
          </a:prstGeom>
          <a:solidFill>
            <a:srgbClr val="E7F4EE"/>
          </a:solidFill>
          <a:ln w="6350">
            <a:solidFill>
              <a:srgbClr val="26A2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2360000" y="5340000"/>
            <a:ext cx="172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6A29C"/>
                </a:solidFill>
                <a:latin typeface="Helvetica"/>
              </a:rPr>
              <a:t>✓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4080000" y="5340000"/>
            <a:ext cx="1720000" cy="3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4080000" y="5340000"/>
            <a:ext cx="172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C8CCD2"/>
                </a:solidFill>
                <a:latin typeface="Helvetica"/>
              </a:rPr>
              <a:t>—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800000" y="5340000"/>
            <a:ext cx="1720000" cy="380000"/>
          </a:xfrm>
          <a:prstGeom prst="rect">
            <a:avLst/>
          </a:prstGeom>
          <a:solidFill>
            <a:srgbClr val="E7F4EE"/>
          </a:solidFill>
          <a:ln w="6350">
            <a:solidFill>
              <a:srgbClr val="26A2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800000" y="5340000"/>
            <a:ext cx="172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6A29C"/>
                </a:solidFill>
                <a:latin typeface="Helvetica"/>
              </a:rPr>
              <a:t>✓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7520000" y="5340000"/>
            <a:ext cx="1720000" cy="3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7520000" y="5340000"/>
            <a:ext cx="172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C8CCD2"/>
                </a:solidFill>
                <a:latin typeface="Helvetica"/>
              </a:rPr>
              <a:t>—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9240000" y="5340000"/>
            <a:ext cx="1720000" cy="3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9240000" y="5340000"/>
            <a:ext cx="1720000" cy="3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C8CCD2"/>
                </a:solidFill>
                <a:latin typeface="Helvetica"/>
              </a:rPr>
              <a:t>—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660000" y="6038000"/>
            <a:ext cx="10872000" cy="2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1">
                <a:solidFill>
                  <a:srgbClr val="787882"/>
                </a:solidFill>
                <a:latin typeface="Helvetica"/>
              </a:rPr>
              <a:t>✓ = 已接入；— = 该仓无需要（如 pet-id 独立无 peer-dep / pet-schema 无下游 peer-dep smoke）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60000" y="6418000"/>
            <a:ext cx="50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787882"/>
                </a:solidFill>
                <a:latin typeface="Helvetica"/>
              </a:rPr>
              <a:t>Train-Pet-Pipeline · Technical Overview · matrix 2026.10-ecosystem-cleanup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0000"/>
          </a:xfrm>
          <a:prstGeom prst="rect">
            <a:avLst/>
          </a:prstGeom>
          <a:solidFill>
            <a:srgbClr val="367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60000" y="200000"/>
            <a:ext cx="2000000" cy="3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367BD6"/>
                </a:solidFill>
                <a:latin typeface="Helvetica"/>
              </a:rPr>
              <a:t>§ 10 · 横切 / North Star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0000" y="420000"/>
            <a:ext cx="11272000" cy="6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1A2A44"/>
                </a:solidFill>
                <a:latin typeface="Helvetica"/>
              </a:rPr>
              <a:t>北极星四维度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0000" y="1020000"/>
            <a:ext cx="112720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787882"/>
                </a:solidFill>
                <a:latin typeface="Helvetica"/>
              </a:rPr>
              <a:t>生态优化 Phase 10 retrospective · 维持或提升，无退化</a:t>
            </a:r>
          </a:p>
        </p:txBody>
      </p:sp>
      <p:sp>
        <p:nvSpPr>
          <p:cNvPr id="6" name="Rectangle 5"/>
          <p:cNvSpPr/>
          <p:nvPr/>
        </p:nvSpPr>
        <p:spPr>
          <a:xfrm>
            <a:off x="460000" y="1460000"/>
            <a:ext cx="11272000" cy="15000"/>
          </a:xfrm>
          <a:prstGeom prst="rect">
            <a:avLst/>
          </a:prstGeom>
          <a:solidFill>
            <a:srgbClr val="C8C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60000" y="1800000"/>
            <a:ext cx="5400000" cy="180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60000" y="1800000"/>
            <a:ext cx="120000" cy="1800000"/>
          </a:xfrm>
          <a:prstGeom prst="rect">
            <a:avLst/>
          </a:prstGeom>
          <a:solidFill>
            <a:srgbClr val="367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0000" y="1960000"/>
            <a:ext cx="50800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A2A44"/>
                </a:solidFill>
                <a:latin typeface="Helvetica"/>
              </a:rPr>
              <a:t>Pluggability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0000" y="2360000"/>
            <a:ext cx="5080000" cy="2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87882"/>
                </a:solidFill>
                <a:latin typeface="Helvetica"/>
              </a:rPr>
              <a:t>插件化程度</a:t>
            </a:r>
          </a:p>
        </p:txBody>
      </p:sp>
      <p:sp>
        <p:nvSpPr>
          <p:cNvPr id="11" name="Oval 10"/>
          <p:cNvSpPr/>
          <p:nvPr/>
        </p:nvSpPr>
        <p:spPr>
          <a:xfrm>
            <a:off x="4560000" y="1970000"/>
            <a:ext cx="200000" cy="200000"/>
          </a:xfrm>
          <a:prstGeom prst="ellipse">
            <a:avLst/>
          </a:prstGeom>
          <a:solidFill>
            <a:srgbClr val="367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810000" y="1970000"/>
            <a:ext cx="200000" cy="200000"/>
          </a:xfrm>
          <a:prstGeom prst="ellipse">
            <a:avLst/>
          </a:prstGeom>
          <a:solidFill>
            <a:srgbClr val="367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060000" y="1970000"/>
            <a:ext cx="200000" cy="200000"/>
          </a:xfrm>
          <a:prstGeom prst="ellipse">
            <a:avLst/>
          </a:prstGeom>
          <a:solidFill>
            <a:srgbClr val="367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310000" y="1970000"/>
            <a:ext cx="200000" cy="200000"/>
          </a:xfrm>
          <a:prstGeom prst="ellipse">
            <a:avLst/>
          </a:prstGeom>
          <a:solidFill>
            <a:srgbClr val="367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560000" y="1970000"/>
            <a:ext cx="200000" cy="200000"/>
          </a:xfrm>
          <a:prstGeom prst="ellipse">
            <a:avLst/>
          </a:prstGeom>
          <a:solidFill>
            <a:srgbClr val="367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0000" y="2700000"/>
            <a:ext cx="49000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367BD6"/>
                </a:solidFill>
                <a:latin typeface="Helvetica"/>
              </a:rPr>
              <a:t>▪  </a:t>
            </a:r>
            <a:r>
              <a:rPr sz="1050">
                <a:solidFill>
                  <a:srgbClr val="3C404C"/>
                </a:solidFill>
                <a:latin typeface="Helvetica"/>
              </a:rPr>
              <a:t>7 registries 覆盖 TRAINERS / EVALUATORS /</a:t>
            </a:r>
          </a:p>
          <a:p>
            <a:pPr algn="l">
              <a:lnSpc>
                <a:spcPct val="135000"/>
              </a:lnSpc>
            </a:pPr>
            <a:r>
              <a:rPr sz="1050" b="1">
                <a:solidFill>
                  <a:srgbClr val="367BD6"/>
                </a:solidFill>
                <a:latin typeface="Helvetica"/>
              </a:rPr>
              <a:t>▪  </a:t>
            </a:r>
            <a:r>
              <a:rPr sz="1050">
                <a:solidFill>
                  <a:srgbClr val="3C404C"/>
                </a:solidFill>
                <a:latin typeface="Helvetica"/>
              </a:rPr>
              <a:t>CONVERTERS / METRICS / DATASETS / STORAGE / OTA</a:t>
            </a:r>
          </a:p>
          <a:p>
            <a:pPr algn="l">
              <a:lnSpc>
                <a:spcPct val="135000"/>
              </a:lnSpc>
            </a:pPr>
            <a:r>
              <a:rPr sz="1050" b="1">
                <a:solidFill>
                  <a:srgbClr val="367BD6"/>
                </a:solidFill>
                <a:latin typeface="Helvetica"/>
              </a:rPr>
              <a:t>▪  </a:t>
            </a:r>
            <a:r>
              <a:rPr sz="1050">
                <a:solidFill>
                  <a:srgbClr val="3C404C"/>
                </a:solidFill>
                <a:latin typeface="Helvetica"/>
              </a:rPr>
              <a:t>每仓插件 entry-point 注册; orchestrator 发现加载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0000" y="1800000"/>
            <a:ext cx="5400000" cy="180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40000" y="1800000"/>
            <a:ext cx="120000" cy="1800000"/>
          </a:xfrm>
          <a:prstGeom prst="rect">
            <a:avLst/>
          </a:prstGeom>
          <a:solidFill>
            <a:srgbClr val="26A2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0000" y="1960000"/>
            <a:ext cx="50800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A2A44"/>
                </a:solidFill>
                <a:latin typeface="Helvetica"/>
              </a:rPr>
              <a:t>Flexibility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0000" y="2360000"/>
            <a:ext cx="5080000" cy="2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87882"/>
                </a:solidFill>
                <a:latin typeface="Helvetica"/>
              </a:rPr>
              <a:t>配置灵活性</a:t>
            </a:r>
          </a:p>
        </p:txBody>
      </p:sp>
      <p:sp>
        <p:nvSpPr>
          <p:cNvPr id="21" name="Oval 20"/>
          <p:cNvSpPr/>
          <p:nvPr/>
        </p:nvSpPr>
        <p:spPr>
          <a:xfrm>
            <a:off x="10240000" y="1970000"/>
            <a:ext cx="200000" cy="200000"/>
          </a:xfrm>
          <a:prstGeom prst="ellipse">
            <a:avLst/>
          </a:prstGeom>
          <a:solidFill>
            <a:srgbClr val="26A2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490000" y="1970000"/>
            <a:ext cx="200000" cy="200000"/>
          </a:xfrm>
          <a:prstGeom prst="ellipse">
            <a:avLst/>
          </a:prstGeom>
          <a:solidFill>
            <a:srgbClr val="26A2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740000" y="1970000"/>
            <a:ext cx="200000" cy="200000"/>
          </a:xfrm>
          <a:prstGeom prst="ellipse">
            <a:avLst/>
          </a:prstGeom>
          <a:solidFill>
            <a:srgbClr val="26A2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990000" y="1970000"/>
            <a:ext cx="200000" cy="200000"/>
          </a:xfrm>
          <a:prstGeom prst="ellipse">
            <a:avLst/>
          </a:prstGeom>
          <a:solidFill>
            <a:srgbClr val="26A2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240000" y="1970000"/>
            <a:ext cx="200000" cy="200000"/>
          </a:xfrm>
          <a:prstGeom prst="ellipse">
            <a:avLst/>
          </a:prstGeom>
          <a:solidFill>
            <a:srgbClr val="26A2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20000" y="2700000"/>
            <a:ext cx="49000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26A29C"/>
                </a:solidFill>
                <a:latin typeface="Helvetica"/>
              </a:rPr>
              <a:t>▪  </a:t>
            </a:r>
            <a:r>
              <a:rPr sz="1050">
                <a:solidFill>
                  <a:srgbClr val="3C404C"/>
                </a:solidFill>
                <a:latin typeface="Helvetica"/>
              </a:rPr>
              <a:t>所有数值从 params.yaml 读（no-hardcode 铁律）</a:t>
            </a:r>
          </a:p>
          <a:p>
            <a:pPr algn="l">
              <a:lnSpc>
                <a:spcPct val="135000"/>
              </a:lnSpc>
            </a:pPr>
            <a:r>
              <a:rPr sz="1050" b="1">
                <a:solidFill>
                  <a:srgbClr val="26A29C"/>
                </a:solidFill>
                <a:latin typeface="Helvetica"/>
              </a:rPr>
              <a:t>▪  </a:t>
            </a:r>
            <a:r>
              <a:rPr sz="1050">
                <a:solidFill>
                  <a:srgbClr val="3C404C"/>
                </a:solidFill>
                <a:latin typeface="Helvetica"/>
              </a:rPr>
              <a:t>ExperimentRecipe.variations ablation sweep</a:t>
            </a:r>
          </a:p>
          <a:p>
            <a:pPr algn="l">
              <a:lnSpc>
                <a:spcPct val="135000"/>
              </a:lnSpc>
            </a:pPr>
            <a:r>
              <a:rPr sz="1050" b="1">
                <a:solidFill>
                  <a:srgbClr val="26A29C"/>
                </a:solidFill>
                <a:latin typeface="Helvetica"/>
              </a:rPr>
              <a:t>▪  </a:t>
            </a:r>
            <a:r>
              <a:rPr sz="1050">
                <a:solidFill>
                  <a:srgbClr val="3C404C"/>
                </a:solidFill>
                <a:latin typeface="Helvetica"/>
              </a:rPr>
              <a:t>Hydra defaults-list + override 组合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" y="3840000"/>
            <a:ext cx="5400000" cy="180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60000" y="3840000"/>
            <a:ext cx="120000" cy="1800000"/>
          </a:xfrm>
          <a:prstGeom prst="rect">
            <a:avLst/>
          </a:prstGeom>
          <a:solidFill>
            <a:srgbClr val="EDA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40000" y="4000000"/>
            <a:ext cx="50800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A2A44"/>
                </a:solidFill>
                <a:latin typeface="Helvetica"/>
              </a:rPr>
              <a:t>Extensibility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0" y="4400000"/>
            <a:ext cx="5080000" cy="2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87882"/>
                </a:solidFill>
                <a:latin typeface="Helvetica"/>
              </a:rPr>
              <a:t>扩展容易程度</a:t>
            </a:r>
          </a:p>
        </p:txBody>
      </p:sp>
      <p:sp>
        <p:nvSpPr>
          <p:cNvPr id="31" name="Oval 30"/>
          <p:cNvSpPr/>
          <p:nvPr/>
        </p:nvSpPr>
        <p:spPr>
          <a:xfrm>
            <a:off x="4560000" y="4010000"/>
            <a:ext cx="200000" cy="200000"/>
          </a:xfrm>
          <a:prstGeom prst="ellipse">
            <a:avLst/>
          </a:prstGeom>
          <a:solidFill>
            <a:srgbClr val="EDA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4810000" y="4010000"/>
            <a:ext cx="200000" cy="200000"/>
          </a:xfrm>
          <a:prstGeom prst="ellipse">
            <a:avLst/>
          </a:prstGeom>
          <a:solidFill>
            <a:srgbClr val="EDA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5060000" y="4010000"/>
            <a:ext cx="200000" cy="200000"/>
          </a:xfrm>
          <a:prstGeom prst="ellipse">
            <a:avLst/>
          </a:prstGeom>
          <a:solidFill>
            <a:srgbClr val="EDA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5310000" y="4010000"/>
            <a:ext cx="200000" cy="200000"/>
          </a:xfrm>
          <a:prstGeom prst="ellipse">
            <a:avLst/>
          </a:prstGeom>
          <a:solidFill>
            <a:srgbClr val="EDA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560000" y="4010000"/>
            <a:ext cx="200000" cy="200000"/>
          </a:xfrm>
          <a:prstGeom prst="ellipse">
            <a:avLst/>
          </a:prstGeom>
          <a:solidFill>
            <a:srgbClr val="EDA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40000" y="4740000"/>
            <a:ext cx="49000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EDA83E"/>
                </a:solidFill>
                <a:latin typeface="Helvetica"/>
              </a:rPr>
              <a:t>▪  </a:t>
            </a:r>
            <a:r>
              <a:rPr sz="1050">
                <a:solidFill>
                  <a:srgbClr val="3C404C"/>
                </a:solidFill>
                <a:latin typeface="Helvetica"/>
              </a:rPr>
              <a:t>每仓 architecture.md §5 显式说明加 plugin 步骤</a:t>
            </a:r>
          </a:p>
          <a:p>
            <a:pPr algn="l">
              <a:lnSpc>
                <a:spcPct val="135000"/>
              </a:lnSpc>
            </a:pPr>
            <a:r>
              <a:rPr sz="1050" b="1">
                <a:solidFill>
                  <a:srgbClr val="EDA83E"/>
                </a:solidFill>
                <a:latin typeface="Helvetica"/>
              </a:rPr>
              <a:t>▪  </a:t>
            </a:r>
            <a:r>
              <a:rPr sz="1050">
                <a:solidFill>
                  <a:srgbClr val="3C404C"/>
                </a:solidFill>
                <a:latin typeface="Helvetica"/>
              </a:rPr>
              <a:t>3 种 pin 模式覆盖所有 dependency 形态</a:t>
            </a:r>
          </a:p>
          <a:p>
            <a:pPr algn="l">
              <a:lnSpc>
                <a:spcPct val="135000"/>
              </a:lnSpc>
            </a:pPr>
            <a:r>
              <a:rPr sz="1050" b="1">
                <a:solidFill>
                  <a:srgbClr val="EDA83E"/>
                </a:solidFill>
                <a:latin typeface="Helvetica"/>
              </a:rPr>
              <a:t>▪  </a:t>
            </a:r>
            <a:r>
              <a:rPr sz="1050">
                <a:solidFill>
                  <a:srgbClr val="3C404C"/>
                </a:solidFill>
                <a:latin typeface="Helvetica"/>
              </a:rPr>
              <a:t>cross-repo-smoke-install 保证扩展不破 matrix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40000" y="3840000"/>
            <a:ext cx="5400000" cy="180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340000" y="3840000"/>
            <a:ext cx="120000" cy="1800000"/>
          </a:xfrm>
          <a:prstGeom prst="rect">
            <a:avLst/>
          </a:prstGeom>
          <a:solidFill>
            <a:srgbClr val="E05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20000" y="4000000"/>
            <a:ext cx="50800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A2A44"/>
                </a:solidFill>
                <a:latin typeface="Helvetica"/>
              </a:rPr>
              <a:t>Comparability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20000" y="4400000"/>
            <a:ext cx="5080000" cy="2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87882"/>
                </a:solidFill>
                <a:latin typeface="Helvetica"/>
              </a:rPr>
              <a:t>实验可比性</a:t>
            </a:r>
          </a:p>
        </p:txBody>
      </p:sp>
      <p:sp>
        <p:nvSpPr>
          <p:cNvPr id="41" name="Oval 40"/>
          <p:cNvSpPr/>
          <p:nvPr/>
        </p:nvSpPr>
        <p:spPr>
          <a:xfrm>
            <a:off x="10240000" y="4010000"/>
            <a:ext cx="200000" cy="200000"/>
          </a:xfrm>
          <a:prstGeom prst="ellipse">
            <a:avLst/>
          </a:prstGeom>
          <a:solidFill>
            <a:srgbClr val="E05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0490000" y="4010000"/>
            <a:ext cx="200000" cy="200000"/>
          </a:xfrm>
          <a:prstGeom prst="ellipse">
            <a:avLst/>
          </a:prstGeom>
          <a:solidFill>
            <a:srgbClr val="E05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0740000" y="4010000"/>
            <a:ext cx="200000" cy="200000"/>
          </a:xfrm>
          <a:prstGeom prst="ellipse">
            <a:avLst/>
          </a:prstGeom>
          <a:solidFill>
            <a:srgbClr val="E05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990000" y="4010000"/>
            <a:ext cx="200000" cy="200000"/>
          </a:xfrm>
          <a:prstGeom prst="ellipse">
            <a:avLst/>
          </a:prstGeom>
          <a:solidFill>
            <a:srgbClr val="E05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240000" y="4010000"/>
            <a:ext cx="200000" cy="200000"/>
          </a:xfrm>
          <a:prstGeom prst="ellipse">
            <a:avLst/>
          </a:prstGeom>
          <a:solidFill>
            <a:srgbClr val="E05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620000" y="4740000"/>
            <a:ext cx="49000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E05E5E"/>
                </a:solidFill>
                <a:latin typeface="Helvetica"/>
              </a:rPr>
              <a:t>▪  </a:t>
            </a:r>
            <a:r>
              <a:rPr sz="1050">
                <a:solidFill>
                  <a:srgbClr val="3C404C"/>
                </a:solidFill>
                <a:latin typeface="Helvetica"/>
              </a:rPr>
              <a:t>ClearML 单一 tracker; W&amp;B 物理移除</a:t>
            </a:r>
          </a:p>
          <a:p>
            <a:pPr algn="l">
              <a:lnSpc>
                <a:spcPct val="135000"/>
              </a:lnSpc>
            </a:pPr>
            <a:r>
              <a:rPr sz="1050" b="1">
                <a:solidFill>
                  <a:srgbClr val="E05E5E"/>
                </a:solidFill>
                <a:latin typeface="Helvetica"/>
              </a:rPr>
              <a:t>▪  </a:t>
            </a:r>
            <a:r>
              <a:rPr sz="1050">
                <a:solidFill>
                  <a:srgbClr val="3C404C"/>
                </a:solidFill>
                <a:latin typeface="Helvetica"/>
              </a:rPr>
              <a:t>ModelCard 全链贯穿，metrics 可跨 run 对比</a:t>
            </a:r>
          </a:p>
          <a:p>
            <a:pPr algn="l">
              <a:lnSpc>
                <a:spcPct val="135000"/>
              </a:lnSpc>
            </a:pPr>
            <a:r>
              <a:rPr sz="1050" b="1">
                <a:solidFill>
                  <a:srgbClr val="E05E5E"/>
                </a:solidFill>
                <a:latin typeface="Helvetica"/>
              </a:rPr>
              <a:t>▪  </a:t>
            </a:r>
            <a:r>
              <a:rPr sz="1050">
                <a:solidFill>
                  <a:srgbClr val="3C404C"/>
                </a:solidFill>
                <a:latin typeface="Helvetica"/>
              </a:rPr>
              <a:t>Replay 机制：ModelCard → 同一 config 重跑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0000" y="6418000"/>
            <a:ext cx="50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787882"/>
                </a:solidFill>
                <a:latin typeface="Helvetica"/>
              </a:rPr>
              <a:t>Train-Pet-Pipeline · Technical Overview · matrix 2026.10-ecosystem-cleanup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0000"/>
          </a:xfrm>
          <a:prstGeom prst="rect">
            <a:avLst/>
          </a:prstGeom>
          <a:solidFill>
            <a:srgbClr val="367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60000" y="200000"/>
            <a:ext cx="2000000" cy="3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367BD6"/>
                </a:solidFill>
                <a:latin typeface="Helvetica"/>
              </a:rPr>
              <a:t>§ 11 · 现状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0000" y="420000"/>
            <a:ext cx="11272000" cy="6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1A2A44"/>
                </a:solidFill>
                <a:latin typeface="Helvetica"/>
              </a:rPr>
              <a:t>Phase 10 生态优化收官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0000" y="1020000"/>
            <a:ext cx="112720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787882"/>
                </a:solidFill>
                <a:latin typeface="Helvetica"/>
              </a:rPr>
              <a:t>10 Phase · 9 repo · 单日 sprint · DoD 5/5</a:t>
            </a:r>
          </a:p>
        </p:txBody>
      </p:sp>
      <p:sp>
        <p:nvSpPr>
          <p:cNvPr id="6" name="Rectangle 5"/>
          <p:cNvSpPr/>
          <p:nvPr/>
        </p:nvSpPr>
        <p:spPr>
          <a:xfrm>
            <a:off x="460000" y="1460000"/>
            <a:ext cx="11272000" cy="15000"/>
          </a:xfrm>
          <a:prstGeom prst="rect">
            <a:avLst/>
          </a:prstGeom>
          <a:solidFill>
            <a:srgbClr val="C8C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96000" y="2480000"/>
            <a:ext cx="10400000" cy="20000"/>
          </a:xfrm>
          <a:prstGeom prst="rect">
            <a:avLst/>
          </a:prstGeom>
          <a:solidFill>
            <a:srgbClr val="367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291000" y="2410000"/>
            <a:ext cx="160000" cy="160000"/>
          </a:xfrm>
          <a:prstGeom prst="ellipse">
            <a:avLst/>
          </a:prstGeom>
          <a:solidFill>
            <a:srgbClr val="435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000" y="1920000"/>
            <a:ext cx="950000" cy="2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787882"/>
                </a:solidFill>
                <a:latin typeface="Helvetica"/>
              </a:rPr>
              <a:t>Phase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000" y="2800000"/>
            <a:ext cx="950000" cy="2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A2A44"/>
                </a:solidFill>
                <a:latin typeface="Menlo"/>
              </a:rPr>
              <a:t>pet-schema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000" y="3120000"/>
            <a:ext cx="950000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50" b="0" i="0">
                <a:solidFill>
                  <a:srgbClr val="435EB8"/>
                </a:solidFill>
                <a:latin typeface="Helvetica"/>
              </a:rPr>
              <a:t>pre</a:t>
            </a:r>
          </a:p>
        </p:txBody>
      </p:sp>
      <p:sp>
        <p:nvSpPr>
          <p:cNvPr id="12" name="Oval 11"/>
          <p:cNvSpPr/>
          <p:nvPr/>
        </p:nvSpPr>
        <p:spPr>
          <a:xfrm>
            <a:off x="2341000" y="2410000"/>
            <a:ext cx="160000" cy="160000"/>
          </a:xfrm>
          <a:prstGeom prst="ellipse">
            <a:avLst/>
          </a:prstGeom>
          <a:solidFill>
            <a:srgbClr val="2F6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46000" y="1920000"/>
            <a:ext cx="950000" cy="2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787882"/>
                </a:solidFill>
                <a:latin typeface="Helvetica"/>
              </a:rPr>
              <a:t>Phase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46000" y="2800000"/>
            <a:ext cx="950000" cy="2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A2A44"/>
                </a:solidFill>
                <a:latin typeface="Menlo"/>
              </a:rPr>
              <a:t>pet-infra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46000" y="3120000"/>
            <a:ext cx="950000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50" b="0" i="0">
                <a:solidFill>
                  <a:srgbClr val="2F6AB8"/>
                </a:solidFill>
                <a:latin typeface="Helvetica"/>
              </a:rPr>
              <a:t>v2.6.0</a:t>
            </a:r>
          </a:p>
        </p:txBody>
      </p:sp>
      <p:sp>
        <p:nvSpPr>
          <p:cNvPr id="16" name="Oval 15"/>
          <p:cNvSpPr/>
          <p:nvPr/>
        </p:nvSpPr>
        <p:spPr>
          <a:xfrm>
            <a:off x="3391000" y="2410000"/>
            <a:ext cx="160000" cy="160000"/>
          </a:xfrm>
          <a:prstGeom prst="ellipse">
            <a:avLst/>
          </a:prstGeom>
          <a:solidFill>
            <a:srgbClr val="2985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96000" y="1920000"/>
            <a:ext cx="950000" cy="2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787882"/>
                </a:solidFill>
                <a:latin typeface="Helvetica"/>
              </a:rPr>
              <a:t>Phase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96000" y="2800000"/>
            <a:ext cx="950000" cy="2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A2A44"/>
                </a:solidFill>
                <a:latin typeface="Menlo"/>
              </a:rPr>
              <a:t>pet-data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96000" y="3120000"/>
            <a:ext cx="950000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50" b="0" i="0">
                <a:solidFill>
                  <a:srgbClr val="2985A8"/>
                </a:solidFill>
                <a:latin typeface="Helvetica"/>
              </a:rPr>
              <a:t>v1.3.0</a:t>
            </a:r>
          </a:p>
        </p:txBody>
      </p:sp>
      <p:sp>
        <p:nvSpPr>
          <p:cNvPr id="20" name="Oval 19"/>
          <p:cNvSpPr/>
          <p:nvPr/>
        </p:nvSpPr>
        <p:spPr>
          <a:xfrm>
            <a:off x="4441000" y="2410000"/>
            <a:ext cx="160000" cy="160000"/>
          </a:xfrm>
          <a:prstGeom prst="ellipse">
            <a:avLst/>
          </a:prstGeom>
          <a:solidFill>
            <a:srgbClr val="26A2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046000" y="1920000"/>
            <a:ext cx="950000" cy="2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787882"/>
                </a:solidFill>
                <a:latin typeface="Helvetica"/>
              </a:rPr>
              <a:t>Phase 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46000" y="2800000"/>
            <a:ext cx="950000" cy="2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A2A44"/>
                </a:solidFill>
                <a:latin typeface="Menlo"/>
              </a:rPr>
              <a:t>pet-annotation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46000" y="3120000"/>
            <a:ext cx="950000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50" b="0" i="0">
                <a:solidFill>
                  <a:srgbClr val="26A29C"/>
                </a:solidFill>
                <a:latin typeface="Helvetica"/>
              </a:rPr>
              <a:t>v2.1.1</a:t>
            </a:r>
          </a:p>
        </p:txBody>
      </p:sp>
      <p:sp>
        <p:nvSpPr>
          <p:cNvPr id="24" name="Oval 23"/>
          <p:cNvSpPr/>
          <p:nvPr/>
        </p:nvSpPr>
        <p:spPr>
          <a:xfrm>
            <a:off x="5491000" y="2410000"/>
            <a:ext cx="160000" cy="160000"/>
          </a:xfrm>
          <a:prstGeom prst="ellipse">
            <a:avLst/>
          </a:prstGeom>
          <a:solidFill>
            <a:srgbClr val="5AA3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96000" y="1920000"/>
            <a:ext cx="950000" cy="2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787882"/>
                </a:solidFill>
                <a:latin typeface="Helvetica"/>
              </a:rPr>
              <a:t>Phase 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96000" y="2800000"/>
            <a:ext cx="950000" cy="2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A2A44"/>
                </a:solidFill>
                <a:latin typeface="Menlo"/>
              </a:rPr>
              <a:t>pet-train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96000" y="3120000"/>
            <a:ext cx="950000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50" b="0" i="0">
                <a:solidFill>
                  <a:srgbClr val="5AA35E"/>
                </a:solidFill>
                <a:latin typeface="Helvetica"/>
              </a:rPr>
              <a:t>v2.0.2</a:t>
            </a:r>
          </a:p>
        </p:txBody>
      </p:sp>
      <p:sp>
        <p:nvSpPr>
          <p:cNvPr id="28" name="Oval 27"/>
          <p:cNvSpPr/>
          <p:nvPr/>
        </p:nvSpPr>
        <p:spPr>
          <a:xfrm>
            <a:off x="6541000" y="2410000"/>
            <a:ext cx="160000" cy="160000"/>
          </a:xfrm>
          <a:prstGeom prst="ellipse">
            <a:avLst/>
          </a:prstGeom>
          <a:solidFill>
            <a:srgbClr val="8EA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46000" y="1920000"/>
            <a:ext cx="950000" cy="2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787882"/>
                </a:solidFill>
                <a:latin typeface="Helvetica"/>
              </a:rPr>
              <a:t>Phase 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46000" y="2800000"/>
            <a:ext cx="950000" cy="2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A2A44"/>
                </a:solidFill>
                <a:latin typeface="Menlo"/>
              </a:rPr>
              <a:t>pet-eval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46000" y="3120000"/>
            <a:ext cx="950000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50" b="0" i="0">
                <a:solidFill>
                  <a:srgbClr val="8EA43A"/>
                </a:solidFill>
                <a:latin typeface="Helvetica"/>
              </a:rPr>
              <a:t>v2.3.0</a:t>
            </a:r>
          </a:p>
        </p:txBody>
      </p:sp>
      <p:sp>
        <p:nvSpPr>
          <p:cNvPr id="32" name="Oval 31"/>
          <p:cNvSpPr/>
          <p:nvPr/>
        </p:nvSpPr>
        <p:spPr>
          <a:xfrm>
            <a:off x="7591000" y="2410000"/>
            <a:ext cx="160000" cy="160000"/>
          </a:xfrm>
          <a:prstGeom prst="ellipse">
            <a:avLst/>
          </a:prstGeom>
          <a:solidFill>
            <a:srgbClr val="C28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196000" y="1920000"/>
            <a:ext cx="950000" cy="2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787882"/>
                </a:solidFill>
                <a:latin typeface="Helvetica"/>
              </a:rPr>
              <a:t>Phase 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96000" y="2800000"/>
            <a:ext cx="950000" cy="2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A2A44"/>
                </a:solidFill>
                <a:latin typeface="Menlo"/>
              </a:rPr>
              <a:t>pet-quantize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96000" y="3120000"/>
            <a:ext cx="950000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50" b="0" i="0">
                <a:solidFill>
                  <a:srgbClr val="C28E2E"/>
                </a:solidFill>
                <a:latin typeface="Helvetica"/>
              </a:rPr>
              <a:t>v2.1.0</a:t>
            </a:r>
          </a:p>
        </p:txBody>
      </p:sp>
      <p:sp>
        <p:nvSpPr>
          <p:cNvPr id="36" name="Oval 35"/>
          <p:cNvSpPr/>
          <p:nvPr/>
        </p:nvSpPr>
        <p:spPr>
          <a:xfrm>
            <a:off x="8641000" y="2410000"/>
            <a:ext cx="160000" cy="160000"/>
          </a:xfrm>
          <a:prstGeom prst="ellipse">
            <a:avLst/>
          </a:prstGeom>
          <a:solidFill>
            <a:srgbClr val="C25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46000" y="1920000"/>
            <a:ext cx="950000" cy="2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787882"/>
                </a:solidFill>
                <a:latin typeface="Helvetica"/>
              </a:rPr>
              <a:t>Phase 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46000" y="2800000"/>
            <a:ext cx="950000" cy="2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A2A44"/>
                </a:solidFill>
                <a:latin typeface="Menlo"/>
              </a:rPr>
              <a:t>pet-ota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46000" y="3120000"/>
            <a:ext cx="950000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50" b="0" i="0">
                <a:solidFill>
                  <a:srgbClr val="C25E3E"/>
                </a:solidFill>
                <a:latin typeface="Helvetica"/>
              </a:rPr>
              <a:t>v2.2.0</a:t>
            </a:r>
          </a:p>
        </p:txBody>
      </p:sp>
      <p:sp>
        <p:nvSpPr>
          <p:cNvPr id="40" name="Oval 39"/>
          <p:cNvSpPr/>
          <p:nvPr/>
        </p:nvSpPr>
        <p:spPr>
          <a:xfrm>
            <a:off x="9691000" y="2410000"/>
            <a:ext cx="160000" cy="160000"/>
          </a:xfrm>
          <a:prstGeom prst="ellipse">
            <a:avLst/>
          </a:prstGeom>
          <a:solidFill>
            <a:srgbClr val="7A57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296000" y="1920000"/>
            <a:ext cx="950000" cy="2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787882"/>
                </a:solidFill>
                <a:latin typeface="Helvetica"/>
              </a:rPr>
              <a:t>Phase 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296000" y="2800000"/>
            <a:ext cx="950000" cy="2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A2A44"/>
                </a:solidFill>
                <a:latin typeface="Menlo"/>
              </a:rPr>
              <a:t>pet-id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96000" y="3120000"/>
            <a:ext cx="950000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50" b="0" i="0">
                <a:solidFill>
                  <a:srgbClr val="7A57A8"/>
                </a:solidFill>
                <a:latin typeface="Helvetica"/>
              </a:rPr>
              <a:t>v0.2.0</a:t>
            </a:r>
          </a:p>
        </p:txBody>
      </p:sp>
      <p:sp>
        <p:nvSpPr>
          <p:cNvPr id="44" name="Oval 43"/>
          <p:cNvSpPr/>
          <p:nvPr/>
        </p:nvSpPr>
        <p:spPr>
          <a:xfrm>
            <a:off x="10741000" y="2410000"/>
            <a:ext cx="160000" cy="160000"/>
          </a:xfrm>
          <a:prstGeom prst="ellipse">
            <a:avLst/>
          </a:prstGeom>
          <a:solidFill>
            <a:srgbClr val="367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346000" y="1920000"/>
            <a:ext cx="950000" cy="2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787882"/>
                </a:solidFill>
                <a:latin typeface="Helvetica"/>
              </a:rPr>
              <a:t>Phase 10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346000" y="2800000"/>
            <a:ext cx="950000" cy="2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A2A44"/>
                </a:solidFill>
                <a:latin typeface="Menlo"/>
              </a:rPr>
              <a:t>closeout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346000" y="3120000"/>
            <a:ext cx="950000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50" b="0" i="0">
                <a:solidFill>
                  <a:srgbClr val="367BD6"/>
                </a:solidFill>
                <a:latin typeface="Helvetica"/>
              </a:rPr>
              <a:t>matrix</a:t>
            </a:r>
          </a:p>
          <a:p>
            <a:pPr algn="ctr">
              <a:lnSpc>
                <a:spcPct val="120000"/>
              </a:lnSpc>
            </a:pPr>
            <a:r>
              <a:rPr sz="950" b="0" i="0">
                <a:solidFill>
                  <a:srgbClr val="367BD6"/>
                </a:solidFill>
                <a:latin typeface="Helvetica"/>
              </a:rPr>
              <a:t>2026.10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60000" y="4700000"/>
            <a:ext cx="10872000" cy="900000"/>
          </a:xfrm>
          <a:prstGeom prst="rect">
            <a:avLst/>
          </a:prstGeom>
          <a:solidFill>
            <a:srgbClr val="F0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60000" y="4840000"/>
            <a:ext cx="21744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367BD6"/>
                </a:solidFill>
                <a:latin typeface="Helvetica"/>
              </a:rPr>
              <a:t>14+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60000" y="5280000"/>
            <a:ext cx="217440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787882"/>
                </a:solidFill>
                <a:latin typeface="Helvetica"/>
              </a:rPr>
              <a:t>feature PR 合并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834400" y="4840000"/>
            <a:ext cx="21744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367BD6"/>
                </a:solidFill>
                <a:latin typeface="Helvetica"/>
              </a:rPr>
              <a:t>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834400" y="5280000"/>
            <a:ext cx="217440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787882"/>
                </a:solidFill>
                <a:latin typeface="Helvetica"/>
              </a:rPr>
              <a:t>dev→main sync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008800" y="4840000"/>
            <a:ext cx="21744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367BD6"/>
                </a:solidFill>
                <a:latin typeface="Helvetica"/>
              </a:rPr>
              <a:t>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008800" y="5280000"/>
            <a:ext cx="217440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787882"/>
                </a:solidFill>
                <a:latin typeface="Helvetica"/>
              </a:rPr>
              <a:t>workflow bug 修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183200" y="4840000"/>
            <a:ext cx="21744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367BD6"/>
                </a:solidFill>
                <a:latin typeface="Helvetica"/>
              </a:rPr>
              <a:t>~533 LOC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183200" y="5280000"/>
            <a:ext cx="217440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787882"/>
                </a:solidFill>
                <a:latin typeface="Helvetica"/>
              </a:rPr>
              <a:t>pet-eval 死代码删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357600" y="4840000"/>
            <a:ext cx="21744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367BD6"/>
                </a:solidFill>
                <a:latin typeface="Helvetica"/>
              </a:rPr>
              <a:t>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357600" y="5280000"/>
            <a:ext cx="217440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787882"/>
                </a:solidFill>
                <a:latin typeface="Helvetica"/>
              </a:rPr>
              <a:t>open PR 收官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60000" y="6418000"/>
            <a:ext cx="50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787882"/>
                </a:solidFill>
                <a:latin typeface="Helvetica"/>
              </a:rPr>
              <a:t>Train-Pet-Pipeline · Technical Overview · matrix 2026.10-ecosystem-cleanup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0000"/>
          </a:xfrm>
          <a:prstGeom prst="rect">
            <a:avLst/>
          </a:prstGeom>
          <a:solidFill>
            <a:srgbClr val="367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60000" y="200000"/>
            <a:ext cx="2000000" cy="3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367BD6"/>
                </a:solidFill>
                <a:latin typeface="Helvetica"/>
              </a:rPr>
              <a:t>§ 11 · 未来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0000" y="420000"/>
            <a:ext cx="11272000" cy="6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1A2A44"/>
                </a:solidFill>
                <a:latin typeface="Helvetica"/>
              </a:rPr>
              <a:t>Phase 5+ 硬件 · Follow-ups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0000" y="1020000"/>
            <a:ext cx="112720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787882"/>
                </a:solidFill>
                <a:latin typeface="Helvetica"/>
              </a:rPr>
              <a:t>retrospective §8 · 9 条（3 条 Phase 4 遗留 + 6 条本轮新增）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460000" y="1460000"/>
            <a:ext cx="11272000" cy="15000"/>
          </a:xfrm>
          <a:prstGeom prst="rect">
            <a:avLst/>
          </a:prstGeom>
          <a:solidFill>
            <a:srgbClr val="C8C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60000" y="1800000"/>
            <a:ext cx="5800000" cy="90000"/>
          </a:xfrm>
          <a:prstGeom prst="rect">
            <a:avLst/>
          </a:prstGeom>
          <a:solidFill>
            <a:srgbClr val="E05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0000" y="1960000"/>
            <a:ext cx="54000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E05E5E"/>
                </a:solidFill>
                <a:latin typeface="Helvetica"/>
              </a:rPr>
              <a:t>硬件阻塞项 · Phase 5 gate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0000" y="2440000"/>
            <a:ext cx="5400000" cy="35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E05E5E"/>
                </a:solidFill>
                <a:latin typeface="Helvetica"/>
              </a:rPr>
              <a:t>▪  </a:t>
            </a:r>
            <a:r>
              <a:rPr sz="1200">
                <a:solidFill>
                  <a:srgbClr val="1A2A44"/>
                </a:solidFill>
                <a:latin typeface="Helvetica"/>
              </a:rPr>
              <a:t>RK3576 单元 + self-hosted runner</a:t>
            </a:r>
            <a:r>
              <a:rPr sz="1100" i="1">
                <a:solidFill>
                  <a:srgbClr val="787882"/>
                </a:solidFill>
                <a:latin typeface="Helvetica"/>
              </a:rPr>
              <a:t>  — Phase 5 核心前提；解锁所有 --hardware 路径</a:t>
            </a:r>
          </a:p>
          <a:p>
            <a:pPr algn="l">
              <a:lnSpc>
                <a:spcPct val="135000"/>
              </a:lnSpc>
            </a:pPr>
            <a:r>
              <a:rPr sz="1200" b="1">
                <a:solidFill>
                  <a:srgbClr val="E05E5E"/>
                </a:solidFill>
                <a:latin typeface="Helvetica"/>
              </a:rPr>
              <a:t>▪  </a:t>
            </a:r>
            <a:r>
              <a:rPr sz="1200">
                <a:solidFill>
                  <a:srgbClr val="1A2A44"/>
                </a:solidFill>
                <a:latin typeface="Helvetica"/>
              </a:rPr>
              <a:t>quantize_validate.yml 真跑</a:t>
            </a:r>
            <a:r>
              <a:rPr sz="1100" i="1">
                <a:solidFill>
                  <a:srgbClr val="787882"/>
                </a:solidFill>
                <a:latin typeface="Helvetica"/>
              </a:rPr>
              <a:t>  — Phase 7 修了死调用；硬件到位第一步</a:t>
            </a:r>
          </a:p>
          <a:p>
            <a:pPr algn="l">
              <a:lnSpc>
                <a:spcPct val="135000"/>
              </a:lnSpc>
            </a:pPr>
            <a:r>
              <a:rPr sz="1200" b="1">
                <a:solidFill>
                  <a:srgbClr val="E05E5E"/>
                </a:solidFill>
                <a:latin typeface="Helvetica"/>
              </a:rPr>
              <a:t>▪  </a:t>
            </a:r>
            <a:r>
              <a:rPr sz="1200">
                <a:solidFill>
                  <a:srgbClr val="1A2A44"/>
                </a:solidFill>
                <a:latin typeface="Helvetica"/>
              </a:rPr>
              <a:t>canary rollout 真机测试</a:t>
            </a:r>
            <a:r>
              <a:rPr sz="1100" i="1">
                <a:solidFill>
                  <a:srgbClr val="787882"/>
                </a:solidFill>
                <a:latin typeface="Helvetica"/>
              </a:rPr>
              <a:t>  — pet-ota FSM 本地 sim 已验；真机 48h 观察窗</a:t>
            </a:r>
          </a:p>
          <a:p>
            <a:pPr algn="l">
              <a:lnSpc>
                <a:spcPct val="135000"/>
              </a:lnSpc>
            </a:pPr>
            <a:r>
              <a:rPr sz="1200" b="1">
                <a:solidFill>
                  <a:srgbClr val="E05E5E"/>
                </a:solidFill>
                <a:latin typeface="Helvetica"/>
              </a:rPr>
              <a:t>▪  </a:t>
            </a:r>
            <a:r>
              <a:rPr sz="1200">
                <a:solidFill>
                  <a:srgbClr val="1A2A44"/>
                </a:solidFill>
                <a:latin typeface="Helvetica"/>
              </a:rPr>
              <a:t>RKNN/RKLLM 实测 latency P95</a:t>
            </a:r>
            <a:r>
              <a:rPr sz="1100" i="1">
                <a:solidFill>
                  <a:srgbClr val="787882"/>
                </a:solidFill>
                <a:latin typeface="Helvetica"/>
              </a:rPr>
              <a:t>  — 当前 matrix 有 threshold 无测量值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60000" y="1800000"/>
            <a:ext cx="5800000" cy="90000"/>
          </a:xfrm>
          <a:prstGeom prst="rect">
            <a:avLst/>
          </a:prstGeom>
          <a:solidFill>
            <a:srgbClr val="EDA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60000" y="1960000"/>
            <a:ext cx="54000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EDA83E"/>
                </a:solidFill>
                <a:latin typeface="Helvetica"/>
              </a:rPr>
              <a:t>可并行推进 · 不等硬件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60000" y="2440000"/>
            <a:ext cx="5400000" cy="35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EDA83E"/>
                </a:solidFill>
                <a:latin typeface="Helvetica"/>
              </a:rPr>
              <a:t>▪  </a:t>
            </a:r>
            <a:r>
              <a:rPr sz="1200">
                <a:solidFill>
                  <a:srgbClr val="1A2A44"/>
                </a:solidFill>
                <a:latin typeface="Helvetica"/>
              </a:rPr>
              <a:t>pet-schema __version__ 属性</a:t>
            </a:r>
            <a:r>
              <a:rPr sz="1100" i="1">
                <a:solidFill>
                  <a:srgbClr val="787882"/>
                </a:solidFill>
                <a:latin typeface="Helvetica"/>
              </a:rPr>
              <a:t>  — Phase 10 修 workflow 时发现缺失；加 + 同 parity test</a:t>
            </a:r>
          </a:p>
          <a:p>
            <a:pPr algn="l">
              <a:lnSpc>
                <a:spcPct val="135000"/>
              </a:lnSpc>
            </a:pPr>
            <a:r>
              <a:rPr sz="1200" b="1">
                <a:solidFill>
                  <a:srgbClr val="EDA83E"/>
                </a:solidFill>
                <a:latin typeface="Helvetica"/>
              </a:rPr>
              <a:t>▪  </a:t>
            </a:r>
            <a:r>
              <a:rPr sz="1200">
                <a:solidFill>
                  <a:srgbClr val="1A2A44"/>
                </a:solidFill>
                <a:latin typeface="Helvetica"/>
              </a:rPr>
              <a:t>SFT→DPO composed recipe</a:t>
            </a:r>
            <a:r>
              <a:rPr sz="1100" i="1">
                <a:solidFill>
                  <a:srgbClr val="787882"/>
                </a:solidFill>
                <a:latin typeface="Helvetica"/>
              </a:rPr>
              <a:t>  — 当前只有 SFT 顶层 recipe；拼两 stage 5 分钟事</a:t>
            </a:r>
          </a:p>
          <a:p>
            <a:pPr algn="l">
              <a:lnSpc>
                <a:spcPct val="135000"/>
              </a:lnSpc>
            </a:pPr>
            <a:r>
              <a:rPr sz="1200" b="1">
                <a:solidFill>
                  <a:srgbClr val="EDA83E"/>
                </a:solidFill>
                <a:latin typeface="Helvetica"/>
              </a:rPr>
              <a:t>▪  </a:t>
            </a:r>
            <a:r>
              <a:rPr sz="1200">
                <a:solidFill>
                  <a:srgbClr val="1A2A44"/>
                </a:solidFill>
                <a:latin typeface="Helvetica"/>
              </a:rPr>
              <a:t>pet-ota signing-smoke CI</a:t>
            </a:r>
            <a:r>
              <a:rPr sz="1100" i="1">
                <a:solidFill>
                  <a:srgbClr val="787882"/>
                </a:solidFill>
                <a:latin typeface="Helvetica"/>
              </a:rPr>
              <a:t>  — 跑一次带 [signing] extras 装矩阵版 pet-quantize</a:t>
            </a:r>
          </a:p>
          <a:p>
            <a:pPr algn="l">
              <a:lnSpc>
                <a:spcPct val="135000"/>
              </a:lnSpc>
            </a:pPr>
            <a:r>
              <a:rPr sz="1200" b="1">
                <a:solidFill>
                  <a:srgbClr val="EDA83E"/>
                </a:solidFill>
                <a:latin typeface="Helvetica"/>
              </a:rPr>
              <a:t>▪  </a:t>
            </a:r>
            <a:r>
              <a:rPr sz="1200">
                <a:solidFill>
                  <a:srgbClr val="1A2A44"/>
                </a:solidFill>
                <a:latin typeface="Helvetica"/>
              </a:rPr>
              <a:t>pet-id heavy-backends CI</a:t>
            </a:r>
            <a:r>
              <a:rPr sz="1100" i="1">
                <a:solidFill>
                  <a:srgbClr val="787882"/>
                </a:solidFill>
                <a:latin typeface="Helvetica"/>
              </a:rPr>
              <a:t>  — pose + narrative + tracker extras 独立 job</a:t>
            </a:r>
          </a:p>
          <a:p>
            <a:pPr algn="l">
              <a:lnSpc>
                <a:spcPct val="135000"/>
              </a:lnSpc>
            </a:pPr>
            <a:r>
              <a:rPr sz="1200" b="1">
                <a:solidFill>
                  <a:srgbClr val="EDA83E"/>
                </a:solidFill>
                <a:latin typeface="Helvetica"/>
              </a:rPr>
              <a:t>▪  </a:t>
            </a:r>
            <a:r>
              <a:rPr sz="1200">
                <a:solidFill>
                  <a:srgbClr val="1A2A44"/>
                </a:solidFill>
                <a:latin typeface="Helvetica"/>
              </a:rPr>
              <a:t>pet-eval _FALLBACK_OUTPUT dynamic</a:t>
            </a:r>
            <a:r>
              <a:rPr sz="1100" i="1">
                <a:solidFill>
                  <a:srgbClr val="787882"/>
                </a:solidFill>
                <a:latin typeface="Helvetica"/>
              </a:rPr>
              <a:t>  — 从 pet_schema defaults 动态生成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0000" y="6418000"/>
            <a:ext cx="50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787882"/>
                </a:solidFill>
                <a:latin typeface="Helvetica"/>
              </a:rPr>
              <a:t>Train-Pet-Pipeline · Technical Overview · matrix 2026.10-ecosystem-cleanup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0000" y="2600000"/>
            <a:ext cx="11000000" cy="10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FFFFFF"/>
                </a:solidFill>
                <a:latin typeface="Helvetica"/>
              </a:rPr>
              <a:t>一切就绪。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0000" y="3700000"/>
            <a:ext cx="11000000" cy="6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0" i="1">
                <a:solidFill>
                  <a:srgbClr val="C8CCD2"/>
                </a:solidFill>
                <a:latin typeface="Helvetica"/>
              </a:rPr>
              <a:t>9 repos · tagged · main CI green · zero open PR</a:t>
            </a:r>
          </a:p>
        </p:txBody>
      </p:sp>
      <p:sp>
        <p:nvSpPr>
          <p:cNvPr id="5" name="Rectangle 4"/>
          <p:cNvSpPr/>
          <p:nvPr/>
        </p:nvSpPr>
        <p:spPr>
          <a:xfrm>
            <a:off x="5296000" y="4600000"/>
            <a:ext cx="1600000" cy="8000"/>
          </a:xfrm>
          <a:prstGeom prst="rect">
            <a:avLst/>
          </a:prstGeom>
          <a:solidFill>
            <a:srgbClr val="367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0000" y="4800000"/>
            <a:ext cx="1100000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67BD6"/>
                </a:solidFill>
                <a:latin typeface="Menlo"/>
              </a:rPr>
              <a:t>pet-infra/docs/architecture/OVERVIEW.md · compatibility_matrix.yaml: 2026.10-ecosystem-cleanup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